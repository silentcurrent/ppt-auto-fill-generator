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30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4630400" cy="8229600"/>
  <p:notesSz cx="8229600" cy="14630400"/>
  <p:embeddedFontLst>
    <p:embeddedFont>
      <p:font typeface="Urbanist Light" panose="020B0A04040200000203"/>
      <p:regular r:id="rId31"/>
      <p:italic r:id="rId32"/>
    </p:embeddedFont>
    <p:embeddedFont>
      <p:font typeface="Urbanist Medium" panose="020B0A04040200000203"/>
      <p:regular r:id="rId33"/>
    </p:embeddedFont>
    <p:embeddedFont>
      <p:font typeface="Urbanist" panose="020B0A04040200000203"/>
      <p:regular r:id="rId34"/>
      <p:bold r:id="rId35"/>
      <p:boldItalic r:id="rId36"/>
    </p:embeddedFont>
    <p:embeddedFont>
      <p:font typeface="Calibri" panose="020F0502020204030204"/>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9" d="100"/>
          <a:sy n="129" d="100"/>
        </p:scale>
        <p:origin x="510"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ableStyles" Target="tableStyles.xml"/><Relationship Id="rId31" Type="http://schemas.openxmlformats.org/officeDocument/2006/relationships/font" Target="fonts/font1.fntdata"/><Relationship Id="rId32" Type="http://schemas.openxmlformats.org/officeDocument/2006/relationships/font" Target="fonts/font2.fntdata"/><Relationship Id="rId33" Type="http://schemas.openxmlformats.org/officeDocument/2006/relationships/font" Target="fonts/font3.fntdata"/><Relationship Id="rId34" Type="http://schemas.openxmlformats.org/officeDocument/2006/relationships/font" Target="fonts/font4.fntdata"/><Relationship Id="rId35" Type="http://schemas.openxmlformats.org/officeDocument/2006/relationships/font" Target="fonts/font5.fntdata"/><Relationship Id="rId36" Type="http://schemas.openxmlformats.org/officeDocument/2006/relationships/font" Target="fonts/font6.fntdata"/><Relationship Id="rId37" Type="http://schemas.openxmlformats.org/officeDocument/2006/relationships/font" Target="fonts/font7.fntdata"/><Relationship Id="rId38" Type="http://schemas.openxmlformats.org/officeDocument/2006/relationships/font" Target="fonts/font8.fntdata"/><Relationship Id="rId39" Type="http://schemas.openxmlformats.org/officeDocument/2006/relationships/font" Target="fonts/font9.fntdata"/><Relationship Id="rId40"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
        <p:cNvGrpSpPr/>
        <p:nvPr/>
      </p:nvGrpSpPr>
      <p:grpSpPr>
        <a:xfrm>
          <a:off x="0" y="0"/>
          <a:ext cx="0" cy="0"/>
          <a:chOff x="0" y="0"/>
          <a:chExt cx="0" cy="0"/>
        </a:xfrm>
      </p:grpSpPr>
      <p:sp>
        <p:nvSpPr>
          <p:cNvPr id="26" name="Google Shape;2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 name="Google Shape;27;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 name="Google Shape;28;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0"/>
        <p:cNvGrpSpPr/>
        <p:nvPr/>
      </p:nvGrpSpPr>
      <p:grpSpPr>
        <a:xfrm>
          <a:off x="0" y="0"/>
          <a:ext cx="0" cy="0"/>
          <a:chOff x="0" y="0"/>
          <a:chExt cx="0" cy="0"/>
        </a:xfrm>
      </p:grpSpPr>
      <p:sp>
        <p:nvSpPr>
          <p:cNvPr id="41" name="Google Shape;4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 name="Google Shape;42;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43" name="Google Shape;43;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0"/>
        <p:cNvGrpSpPr/>
        <p:nvPr/>
      </p:nvGrpSpPr>
      <p:grpSpPr>
        <a:xfrm>
          <a:off x="0" y="0"/>
          <a:ext cx="0" cy="0"/>
          <a:chOff x="0" y="0"/>
          <a:chExt cx="0" cy="0"/>
        </a:xfrm>
      </p:grpSpPr>
      <p:sp>
        <p:nvSpPr>
          <p:cNvPr id="61" name="Google Shape;6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63" name="Google Shape;6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4"/>
        <p:cNvGrpSpPr/>
        <p:nvPr/>
      </p:nvGrpSpPr>
      <p:grpSpPr>
        <a:xfrm>
          <a:off x="0" y="0"/>
          <a:ext cx="0" cy="0"/>
          <a:chOff x="0" y="0"/>
          <a:chExt cx="0" cy="0"/>
        </a:xfrm>
      </p:grpSpPr>
      <p:sp>
        <p:nvSpPr>
          <p:cNvPr id="75" name="Google Shape;7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7" name="Google Shape;77;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4"/>
        <p:cNvGrpSpPr/>
        <p:nvPr/>
      </p:nvGrpSpPr>
      <p:grpSpPr>
        <a:xfrm>
          <a:off x="0" y="0"/>
          <a:ext cx="0" cy="0"/>
          <a:chOff x="0" y="0"/>
          <a:chExt cx="0" cy="0"/>
        </a:xfrm>
      </p:grpSpPr>
      <p:sp>
        <p:nvSpPr>
          <p:cNvPr id="125" name="Google Shape;12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27" name="Google Shape;127;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7"/>
        <p:cNvGrpSpPr/>
        <p:nvPr/>
      </p:nvGrpSpPr>
      <p:grpSpPr>
        <a:xfrm>
          <a:off x="0" y="0"/>
          <a:ext cx="0" cy="0"/>
          <a:chOff x="0" y="0"/>
          <a:chExt cx="0" cy="0"/>
        </a:xfrm>
      </p:grpSpPr>
      <p:sp>
        <p:nvSpPr>
          <p:cNvPr id="138" name="Google Shape;138;g3c80dd83587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c80dd83587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40" name="Google Shape;140;g3c80dd83587_0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0"/>
        <p:cNvGrpSpPr/>
        <p:nvPr/>
      </p:nvGrpSpPr>
      <p:grpSpPr>
        <a:xfrm>
          <a:off x="0" y="0"/>
          <a:ext cx="0" cy="0"/>
          <a:chOff x="0" y="0"/>
          <a:chExt cx="0" cy="0"/>
        </a:xfrm>
      </p:grpSpPr>
      <p:sp>
        <p:nvSpPr>
          <p:cNvPr id="151" name="Google Shape;15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153" name="Google Shape;153;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2"/>
        <p:cNvGrpSpPr/>
        <p:nvPr/>
      </p:nvGrpSpPr>
      <p:grpSpPr>
        <a:xfrm>
          <a:off x="0" y="0"/>
          <a:ext cx="0" cy="0"/>
          <a:chOff x="0" y="0"/>
          <a:chExt cx="0" cy="0"/>
        </a:xfrm>
      </p:grpSpPr>
      <p:sp>
        <p:nvSpPr>
          <p:cNvPr id="163" name="Google Shape;16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65" name="Google Shape;165;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9"/>
        <p:cNvGrpSpPr/>
        <p:nvPr/>
      </p:nvGrpSpPr>
      <p:grpSpPr>
        <a:xfrm>
          <a:off x="0" y="0"/>
          <a:ext cx="0" cy="0"/>
          <a:chOff x="0" y="0"/>
          <a:chExt cx="0" cy="0"/>
        </a:xfrm>
      </p:grpSpPr>
      <p:sp>
        <p:nvSpPr>
          <p:cNvPr id="180" name="Google Shape;18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82" name="Google Shape;182;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6"/>
        <p:cNvGrpSpPr/>
        <p:nvPr/>
      </p:nvGrpSpPr>
      <p:grpSpPr>
        <a:xfrm>
          <a:off x="0" y="0"/>
          <a:ext cx="0" cy="0"/>
          <a:chOff x="0" y="0"/>
          <a:chExt cx="0" cy="0"/>
        </a:xfrm>
      </p:grpSpPr>
      <p:sp>
        <p:nvSpPr>
          <p:cNvPr id="197" name="Google Shape;19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99" name="Google Shape;199;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9"/>
        <p:cNvGrpSpPr/>
        <p:nvPr/>
      </p:nvGrpSpPr>
      <p:grpSpPr>
        <a:xfrm>
          <a:off x="0" y="0"/>
          <a:ext cx="0" cy="0"/>
          <a:chOff x="0" y="0"/>
          <a:chExt cx="0" cy="0"/>
        </a:xfrm>
      </p:grpSpPr>
      <p:sp>
        <p:nvSpPr>
          <p:cNvPr id="210" name="Google Shape;21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2" name="Google Shape;212;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2"/>
        <p:cNvGrpSpPr/>
        <p:nvPr/>
      </p:nvGrpSpPr>
      <p:grpSpPr>
        <a:xfrm>
          <a:off x="0" y="0"/>
          <a:ext cx="0" cy="0"/>
          <a:chOff x="0" y="0"/>
          <a:chExt cx="0" cy="0"/>
        </a:xfrm>
      </p:grpSpPr>
      <p:sp>
        <p:nvSpPr>
          <p:cNvPr id="223" name="Google Shape;22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25" name="Google Shape;225;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3"/>
        <p:cNvGrpSpPr/>
        <p:nvPr/>
      </p:nvGrpSpPr>
      <p:grpSpPr>
        <a:xfrm>
          <a:off x="0" y="0"/>
          <a:ext cx="0" cy="0"/>
          <a:chOff x="0" y="0"/>
          <a:chExt cx="0" cy="0"/>
        </a:xfrm>
      </p:grpSpPr>
      <p:sp>
        <p:nvSpPr>
          <p:cNvPr id="234" name="Google Shape;23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36" name="Google Shape;236;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0"/>
        <p:cNvGrpSpPr/>
        <p:nvPr/>
      </p:nvGrpSpPr>
      <p:grpSpPr>
        <a:xfrm>
          <a:off x="0" y="0"/>
          <a:ext cx="0" cy="0"/>
          <a:chOff x="0" y="0"/>
          <a:chExt cx="0" cy="0"/>
        </a:xfrm>
      </p:grpSpPr>
      <p:sp>
        <p:nvSpPr>
          <p:cNvPr id="251" name="Google Shape;251;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53" name="Google Shape;253;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6"/>
        <p:cNvGrpSpPr/>
        <p:nvPr/>
      </p:nvGrpSpPr>
      <p:grpSpPr>
        <a:xfrm>
          <a:off x="0" y="0"/>
          <a:ext cx="0" cy="0"/>
          <a:chOff x="0" y="0"/>
          <a:chExt cx="0" cy="0"/>
        </a:xfrm>
      </p:grpSpPr>
      <p:sp>
        <p:nvSpPr>
          <p:cNvPr id="267" name="Google Shape;26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69" name="Google Shape;269;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7"/>
        <p:cNvGrpSpPr/>
        <p:nvPr/>
      </p:nvGrpSpPr>
      <p:grpSpPr>
        <a:xfrm>
          <a:off x="0" y="0"/>
          <a:ext cx="0" cy="0"/>
          <a:chOff x="0" y="0"/>
          <a:chExt cx="0" cy="0"/>
        </a:xfrm>
      </p:grpSpPr>
      <p:sp>
        <p:nvSpPr>
          <p:cNvPr id="278" name="Google Shape;278;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0" name="Google Shape;280;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88"/>
        <p:cNvGrpSpPr/>
        <p:nvPr/>
      </p:nvGrpSpPr>
      <p:grpSpPr>
        <a:xfrm>
          <a:off x="0" y="0"/>
          <a:ext cx="0" cy="0"/>
          <a:chOff x="0" y="0"/>
          <a:chExt cx="0" cy="0"/>
        </a:xfrm>
      </p:grpSpPr>
      <p:sp>
        <p:nvSpPr>
          <p:cNvPr id="289" name="Google Shape;28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91" name="Google Shape;291;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5"/>
        <p:cNvGrpSpPr/>
        <p:nvPr/>
      </p:nvGrpSpPr>
      <p:grpSpPr>
        <a:xfrm>
          <a:off x="0" y="0"/>
          <a:ext cx="0" cy="0"/>
          <a:chOff x="0" y="0"/>
          <a:chExt cx="0" cy="0"/>
        </a:xfrm>
      </p:grpSpPr>
      <p:sp>
        <p:nvSpPr>
          <p:cNvPr id="306" name="Google Shape;306;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08" name="Google Shape;308;p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21"/>
        <p:cNvGrpSpPr/>
        <p:nvPr/>
      </p:nvGrpSpPr>
      <p:grpSpPr>
        <a:xfrm>
          <a:off x="0" y="0"/>
          <a:ext cx="0" cy="0"/>
          <a:chOff x="0" y="0"/>
          <a:chExt cx="0" cy="0"/>
        </a:xfrm>
      </p:grpSpPr>
      <p:sp>
        <p:nvSpPr>
          <p:cNvPr id="322" name="Google Shape;322;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24" name="Google Shape;324;p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32"/>
        <p:cNvGrpSpPr/>
        <p:nvPr/>
      </p:nvGrpSpPr>
      <p:grpSpPr>
        <a:xfrm>
          <a:off x="0" y="0"/>
          <a:ext cx="0" cy="0"/>
          <a:chOff x="0" y="0"/>
          <a:chExt cx="0" cy="0"/>
        </a:xfrm>
      </p:grpSpPr>
      <p:sp>
        <p:nvSpPr>
          <p:cNvPr id="333" name="Google Shape;33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35" name="Google Shape;335;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43"/>
        <p:cNvGrpSpPr/>
        <p:nvPr/>
      </p:nvGrpSpPr>
      <p:grpSpPr>
        <a:xfrm>
          <a:off x="0" y="0"/>
          <a:ext cx="0" cy="0"/>
          <a:chOff x="0" y="0"/>
          <a:chExt cx="0" cy="0"/>
        </a:xfrm>
      </p:grpSpPr>
      <p:sp>
        <p:nvSpPr>
          <p:cNvPr id="344" name="Google Shape;344;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46" name="Google Shape;346;p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6"/>
        <p:cNvGrpSpPr/>
        <p:nvPr/>
      </p:nvGrpSpPr>
      <p:grpSpPr>
        <a:xfrm>
          <a:off x="0" y="0"/>
          <a:ext cx="0" cy="0"/>
          <a:chOff x="0" y="0"/>
          <a:chExt cx="0" cy="0"/>
        </a:xfrm>
      </p:grpSpPr>
      <p:sp>
        <p:nvSpPr>
          <p:cNvPr id="357" name="Google Shape;35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59" name="Google Shape;359;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1 master 1">
  <p:cSld name="Slide 1 master_1">
    <p:bg>
      <p:bgPr>
        <a:solidFill>
          <a:srgbClr val="000000"/>
        </a:solidFill>
        <a:effectLst/>
      </p:bgPr>
    </p:bg>
    <p:spTree>
      <p:nvGrpSpPr>
        <p:cNvPr id="1" name="Shape 12"/>
        <p:cNvGrpSpPr/>
        <p:nvPr/>
      </p:nvGrpSpPr>
      <p:grpSpPr>
        <a:xfrm>
          <a:off x="0" y="0"/>
          <a:ext cx="0" cy="0"/>
          <a:chOff x="0" y="0"/>
          <a:chExt cx="0" cy="0"/>
        </a:xfrm>
      </p:grpSpPr>
      <p:pic>
        <p:nvPicPr>
          <p:cNvPr id="13" name="Google Shape;13;p3" descr="preencoded.png"/>
          <p:cNvPicPr preferRelativeResize="0"/>
          <p:nvPr/>
        </p:nvPicPr>
        <p:blipFill rotWithShape="1">
          <a:blip r:embed="rId2"/>
          <a:srcRect/>
          <a:stretch>
            <a:fillRect/>
          </a:stretch>
        </p:blipFill>
        <p:spPr>
          <a:xfrm>
            <a:off x="0" y="0"/>
            <a:ext cx="14630397" cy="8229601"/>
          </a:xfrm>
          <a:prstGeom prst="rect">
            <a:avLst/>
          </a:prstGeom>
          <a:noFill/>
          <a:ln>
            <a:noFill/>
          </a:ln>
        </p:spPr>
      </p:pic>
      <p:sp>
        <p:nvSpPr>
          <p:cNvPr id="14" name="Google Shape;14;p3"/>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 name="Google Shape;15;p3"/>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16" name="Google Shape;16;p3"/>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1pPr>
            <a:lvl2pPr marR="0" lvl="1"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2pPr>
            <a:lvl3pPr marR="0" lvl="2"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3pPr>
            <a:lvl4pPr marR="0" lvl="3"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4pPr>
            <a:lvl5pPr marR="0" lvl="4"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5pPr>
            <a:lvl6pPr marR="0" lvl="5"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6pPr>
            <a:lvl7pPr marR="0" lvl="6"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7pPr>
            <a:lvl8pPr marR="0" lvl="7"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8pPr>
            <a:lvl9pPr marR="0" lvl="8"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9pPr>
          </a:lstStyle>
          <a:p/>
        </p:txBody>
      </p:sp>
      <p:sp>
        <p:nvSpPr>
          <p:cNvPr id="17" name="Google Shape;17;p3"/>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8" name="Google Shape;18;p3"/>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1 master">
  <p:cSld name="Slide 1 master">
    <p:bg>
      <p:bgPr>
        <a:solidFill>
          <a:srgbClr val="000000"/>
        </a:solidFill>
        <a:effectLst/>
      </p:bgPr>
    </p:bg>
    <p:spTree>
      <p:nvGrpSpPr>
        <p:cNvPr id="1" name="Shape 19"/>
        <p:cNvGrpSpPr/>
        <p:nvPr/>
      </p:nvGrpSpPr>
      <p:grpSpPr>
        <a:xfrm>
          <a:off x="0" y="0"/>
          <a:ext cx="0" cy="0"/>
          <a:chOff x="0" y="0"/>
          <a:chExt cx="0" cy="0"/>
        </a:xfrm>
      </p:grpSpPr>
      <p:pic>
        <p:nvPicPr>
          <p:cNvPr id="20" name="Google Shape;20;p4"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21" name="Google Shape;21;p4"/>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 name="Google Shape;22;p4"/>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23" name="Google Shape;23;p4"/>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24" name="Google Shape;24;p4"/>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
        <p:cNvGrpSpPr/>
        <p:nvPr/>
      </p:nvGrpSpPr>
      <p:grpSpPr>
        <a:xfrm>
          <a:off x="0" y="0"/>
          <a:ext cx="0" cy="0"/>
          <a:chOff x="0" y="0"/>
          <a:chExt cx="0" cy="0"/>
        </a:xfrm>
      </p:grpSpPr>
      <p:sp>
        <p:nvSpPr>
          <p:cNvPr id="30" name="Google Shape;30;p5"/>
          <p:cNvSpPr txBox="1"/>
          <p:nvPr/>
        </p:nvSpPr>
        <p:spPr>
          <a:xfrm>
            <a:off x="801350" y="490725"/>
            <a:ext cx="9926700" cy="1169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4400">
                <a:latin typeface="Urbanist Medium" panose="020B0A04040200000203"/>
                <a:ea typeface="Urbanist Medium" panose="020B0A04040200000203"/>
                <a:cs typeface="Urbanist Medium" panose="020B0A04040200000203"/>
                <a:sym typeface="Urbanist Medium" panose="020B0A04040200000203"/>
              </a:rPr>
              <a:t>Name</a:t>
            </a:r>
            <a:r>
              <a:rPr lang="en-US" sz="4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 </a:t>
            </a:r>
            <a:r>
              <a:rPr lang="en-US" sz="4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Deck</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 name="Google Shape;31;p5"/>
          <p:cNvSpPr txBox="1"/>
          <p:nvPr/>
        </p:nvSpPr>
        <p:spPr>
          <a:xfrm>
            <a:off x="803100" y="7514200"/>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2" name="Google Shape;32;p5"/>
          <p:cNvSpPr/>
          <p:nvPr/>
        </p:nvSpPr>
        <p:spPr>
          <a:xfrm>
            <a:off x="3344000" y="5537188"/>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 name="Google Shape;33;p5"/>
          <p:cNvSpPr txBox="1"/>
          <p:nvPr/>
        </p:nvSpPr>
        <p:spPr>
          <a:xfrm>
            <a:off x="885550" y="1601100"/>
            <a:ext cx="12943500" cy="2693558"/>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000"/>
              </a:spcBef>
              <a:spcAft>
                <a:spcPts val="0"/>
              </a:spcAft>
              <a:buClr>
                <a:srgbClr val="000000"/>
              </a:buClr>
              <a:buSzPts val="1800"/>
              <a:buFont typeface="Arial" panose="020B0604020202020204"/>
              <a:buNone/>
            </a:pPr>
            <a:r>
              <a:rPr lang="en-US" sz="1800" b="1" dirty="0">
                <a:solidFill>
                  <a:schemeClr val="dk1"/>
                </a:solidFill>
                <a:latin typeface="Urbanist" panose="020B0A04040200000203"/>
                <a:ea typeface="Urbanist" panose="020B0A04040200000203"/>
                <a:cs typeface="Urbanist" panose="020B0A04040200000203"/>
                <a:sym typeface="Urbanist" panose="020B0A04040200000203"/>
              </a:rPr>
              <a:t>Backend AI Engineer &amp; Software Engineer</a:t>
            </a:r>
            <a:endParaRPr sz="1800" b="1" dirty="0">
              <a:solidFill>
                <a:schemeClr val="dk1"/>
              </a:solidFill>
              <a:latin typeface="Urbanist" panose="020B0A04040200000203"/>
              <a:ea typeface="Urbanist" panose="020B0A04040200000203"/>
              <a:cs typeface="Urbanist" panose="020B0A04040200000203"/>
              <a:sym typeface="Urbanist" panose="020B0A04040200000203"/>
            </a:endParaRPr>
          </a:p>
          <a:p>
            <a:pPr marR="3505200" lvl="0">
              <a:lnSpc>
                <a:spcPct val="115000"/>
              </a:lnSpc>
              <a:buSzPts val="1800"/>
            </a:pP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AI-native security-focused engineer with strong experience building AI-powered agents and automating security workflows across AWS environments. Combines cybersecurity depth with hands-on software engineering and AI integrations.</a:t>
            </a:r>
            <a:r>
              <a:rPr lang="en-US" sz="18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lvl="0">
              <a:lnSpc>
                <a:spcPct val="115000"/>
              </a:lnSpc>
              <a:spcBef>
                <a:spcPts val="1200"/>
              </a:spcBef>
              <a:buClr>
                <a:schemeClr val="dk1"/>
              </a:buClr>
              <a:buSzPts val="1100"/>
            </a:pPr>
            <a:r>
              <a:rPr lang="en-US" sz="1800" dirty="0">
                <a:solidFill>
                  <a:srgbClr val="0066CC"/>
                </a:solidFill>
                <a:latin typeface="Urbanist Light" panose="020B0A04040200000203"/>
                <a:ea typeface="Urbanist Light" panose="020B0A04040200000203"/>
                <a:cs typeface="Urbanist Light" panose="020B0A04040200000203"/>
                <a:sym typeface="Urbanist Light" panose="020B0A04040200000203"/>
              </a:rPr>
              <a:t>Marcelo Pacheco Alvaro is continuing to grow across diverse industries partnered with Futureproofing.</a:t>
            </a:r>
            <a:r>
              <a:rPr lang="en-US" sz="18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100" dirty="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200"/>
              </a:spcBef>
              <a:spcAft>
                <a:spcPts val="0"/>
              </a:spcAft>
              <a:buClr>
                <a:srgbClr val="000000"/>
              </a:buClr>
              <a:buSzPts val="18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500"/>
              </a:spcBef>
              <a:spcAft>
                <a:spcPts val="0"/>
              </a:spcAft>
              <a:buClr>
                <a:srgbClr val="000000"/>
              </a:buClr>
              <a:buSzPts val="18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4" name="Google Shape;34;p5"/>
          <p:cNvGrpSpPr/>
          <p:nvPr/>
        </p:nvGrpSpPr>
        <p:grpSpPr>
          <a:xfrm>
            <a:off x="803100" y="2903449"/>
            <a:ext cx="7914730" cy="2734426"/>
            <a:chOff x="1518223" y="2327475"/>
            <a:chExt cx="7424700" cy="2565126"/>
          </a:xfrm>
        </p:grpSpPr>
        <p:sp>
          <p:nvSpPr>
            <p:cNvPr id="35" name="Google Shape;35;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Deep AI Experience</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 name="Google Shape;36;p5"/>
            <p:cNvSpPr txBox="1"/>
            <p:nvPr/>
          </p:nvSpPr>
          <p:spPr>
            <a:xfrm>
              <a:off x="1518223" y="2894094"/>
              <a:ext cx="7424700" cy="1998507"/>
            </a:xfrm>
            <a:prstGeom prst="rect">
              <a:avLst/>
            </a:prstGeom>
            <a:noFill/>
            <a:ln>
              <a:noFill/>
            </a:ln>
          </p:spPr>
          <p:txBody>
            <a:bodyPr spcFirstLastPara="1" wrap="square" lIns="97450" tIns="97450" rIns="97450" bIns="97450" anchor="t" anchorCtr="0">
              <a:spAutoFit/>
            </a:bodyPr>
            <a:lstStyle/>
            <a:p>
              <a:pPr marL="487680" lvl="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AI-powered Penetration Testing Agent</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Automation of Security Workflows with ChatGPT API</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Python-based Security Tooling &amp; Scripting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AI-assisted Vulnerability Analysis &amp; Detection</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lvl="0" indent="-351790">
                <a:lnSpc>
                  <a:spcPct val="115000"/>
                </a:lnSpc>
                <a:buClr>
                  <a:schemeClr val="dk1"/>
                </a:buClr>
                <a:buSzPts val="1706"/>
                <a:buFont typeface="Urbanist Light" panose="020B0A04040200000203"/>
                <a:buChar char="●"/>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48768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7" name="Google Shape;37;p5"/>
          <p:cNvGrpSpPr/>
          <p:nvPr/>
        </p:nvGrpSpPr>
        <p:grpSpPr>
          <a:xfrm>
            <a:off x="803100" y="4872698"/>
            <a:ext cx="9198727" cy="2308925"/>
            <a:chOff x="1518223" y="2327475"/>
            <a:chExt cx="8629200" cy="2165969"/>
          </a:xfrm>
        </p:grpSpPr>
        <p:sp>
          <p:nvSpPr>
            <p:cNvPr id="38" name="Google Shape;38;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Key Achievements</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9" name="Google Shape;39;p5"/>
            <p:cNvSpPr txBox="1"/>
            <p:nvPr/>
          </p:nvSpPr>
          <p:spPr>
            <a:xfrm>
              <a:off x="1518223" y="2894094"/>
              <a:ext cx="8629200" cy="1599350"/>
            </a:xfrm>
            <a:prstGeom prst="rect">
              <a:avLst/>
            </a:prstGeom>
            <a:noFill/>
            <a:ln>
              <a:noFill/>
            </a:ln>
          </p:spPr>
          <p:txBody>
            <a:bodyPr spcFirstLastPara="1" wrap="square" lIns="97450" tIns="97450" rIns="97450" bIns="97450" anchor="t" anchorCtr="0">
              <a:spAutoFit/>
            </a:bodyPr>
            <a:lstStyle/>
            <a:p>
              <a:pPr marL="487680" lvl="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Cloud Security Architecture (AWS, GCP, Azure)</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DevSecOps &amp; CI/CD Automation (GitHub Actions, Jenkins)</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Python &amp; JavaScript Development (Node, React, TS)</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Ethical Hacking &amp; Threat Modeling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lvl="0" indent="-351790">
                <a:lnSpc>
                  <a:spcPct val="115000"/>
                </a:lnSpc>
                <a:buClr>
                  <a:schemeClr val="dk1"/>
                </a:buClr>
                <a:buSzPts val="1706"/>
                <a:buFont typeface="Urbanist Light" panose="020B0A04040200000203"/>
                <a:buChar char="●"/>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6"/>
          <p:cNvSpPr txBox="1"/>
          <p:nvPr/>
        </p:nvSpPr>
        <p:spPr>
          <a:xfrm>
            <a:off x="984825" y="2252075"/>
            <a:ext cx="10682400" cy="1735860"/>
          </a:xfrm>
          <a:prstGeom prst="rect">
            <a:avLst/>
          </a:prstGeom>
          <a:noFill/>
          <a:ln>
            <a:noFill/>
          </a:ln>
        </p:spPr>
        <p:txBody>
          <a:bodyPr spcFirstLastPara="1" wrap="square" lIns="0" tIns="0" rIns="0" bIns="0" anchor="t" anchorCtr="0">
            <a:spAutoFit/>
          </a:bodyPr>
          <a:lstStyle/>
          <a:p>
            <a:pPr lvl="0">
              <a:lnSpc>
                <a:spcPct val="115000"/>
              </a:lnSpc>
              <a:spcBef>
                <a:spcPts val="1200"/>
              </a:spcBef>
              <a:buSzPts val="2400"/>
            </a:pPr>
            <a:r>
              <a:rPr lang="en-US" sz="2400" dirty="0">
                <a:solidFill>
                  <a:srgbClr val="0066CC"/>
                </a:solidFill>
                <a:latin typeface="Urbanist Light" panose="020B0A04040200000203"/>
                <a:ea typeface="Urbanist Light" panose="020B0A04040200000203"/>
                <a:cs typeface="Urbanist Light" panose="020B0A04040200000203"/>
                <a:sym typeface="Urbanist Light" panose="020B0A04040200000203"/>
              </a:rPr>
              <a:t>Marcelo Pacheco Alvaro represents the convergence of versatility, strong communication, real 0→1 execution, and AI-native development practices.</a:t>
            </a:r>
            <a:r>
              <a:rPr lang="en-US" sz="24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2400"/>
              <a:buFont typeface="Arial" panose="020B0604020202020204"/>
              <a:buNone/>
            </a:pP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46" name="Google Shape;46;p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47" name="Google Shape;47;p6"/>
          <p:cNvSpPr txBox="1">
            <a:spLocks noGrp="1"/>
          </p:cNvSpPr>
          <p:nvPr>
            <p:ph type="title"/>
          </p:nvPr>
        </p:nvSpPr>
        <p:spPr>
          <a:xfrm>
            <a:off x="854550" y="875000"/>
            <a:ext cx="12921300" cy="1208700"/>
          </a:xfrm>
          <a:prstGeom prst="rect">
            <a:avLst/>
          </a:prstGeom>
          <a:noFill/>
          <a:ln>
            <a:noFill/>
          </a:ln>
        </p:spPr>
        <p:txBody>
          <a:bodyPr spcFirstLastPara="1" wrap="square" lIns="91425" tIns="91425" rIns="91425" bIns="91425" anchor="t" anchorCtr="0">
            <a:noAutofit/>
          </a:bodyPr>
          <a:lstStyle/>
          <a:p>
            <a:pPr lvl="0"/>
            <a:r>
              <a:rPr lang="en-US" sz="3600" dirty="0">
                <a:solidFill>
                  <a:srgbClr val="0066CC"/>
                </a:solidFill>
              </a:rPr>
              <a:t>We Review Hundreds of Engineers - Only ~1% Make It This Far. Marcelo Pacheco Alvaro Is One of Them.</a:t>
            </a:r>
            <a:r>
              <a:rPr lang="en-US" sz="3600" dirty="0" err="1"/>
              <a:t/>
            </a:r>
            <a:r>
              <a:rPr lang="en-US" sz="3600" dirty="0"/>
              <a:t/>
            </a:r>
            <a:endParaRPr sz="3600" dirty="0"/>
          </a:p>
        </p:txBody>
      </p:sp>
      <p:grpSp>
        <p:nvGrpSpPr>
          <p:cNvPr id="48" name="Google Shape;48;p6"/>
          <p:cNvGrpSpPr/>
          <p:nvPr/>
        </p:nvGrpSpPr>
        <p:grpSpPr>
          <a:xfrm>
            <a:off x="984825" y="3381850"/>
            <a:ext cx="3981600" cy="3190359"/>
            <a:chOff x="1518225" y="2592750"/>
            <a:chExt cx="3981600" cy="3190359"/>
          </a:xfrm>
        </p:grpSpPr>
        <p:sp>
          <p:nvSpPr>
            <p:cNvPr id="49" name="Google Shape;49;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0" name="Google Shape;50;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AI-Driven Builder</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1" name="Google Shape;51;p6"/>
            <p:cNvSpPr txBox="1"/>
            <p:nvPr/>
          </p:nvSpPr>
          <p:spPr>
            <a:xfrm>
              <a:off x="1518225" y="4570500"/>
              <a:ext cx="3981600" cy="1212609"/>
            </a:xfrm>
            <a:prstGeom prst="rect">
              <a:avLst/>
            </a:prstGeom>
            <a:noFill/>
            <a:ln>
              <a:noFill/>
            </a:ln>
          </p:spPr>
          <p:txBody>
            <a:bodyPr spcFirstLastPara="1" wrap="square" lIns="91425" tIns="91425" rIns="91425" bIns="91425" anchor="t" anchorCtr="0">
              <a:spAutoFit/>
            </a:bodyPr>
            <a:lstStyle/>
            <a:p>
              <a:pPr lvl="0">
                <a:lnSpc>
                  <a:spcPct val="115000"/>
                </a:lnSpc>
                <a:spcBef>
                  <a:spcPts val="1200"/>
                </a:spcBef>
                <a:buSzPts val="16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Built and deployed an AI-powered penetration testing agent and automated multiple security tasks using AI APIs, demonstrating real-world AI integration beyond experimentation.</a:t>
              </a:r>
              <a:endParaRPr sz="1150" b="0" i="0" u="none" strike="noStrike" cap="none" dirty="0">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52" name="Google Shape;52;p6"/>
          <p:cNvGrpSpPr/>
          <p:nvPr/>
        </p:nvGrpSpPr>
        <p:grpSpPr>
          <a:xfrm>
            <a:off x="5586263" y="3381850"/>
            <a:ext cx="3981600" cy="2728695"/>
            <a:chOff x="1518225" y="2592750"/>
            <a:chExt cx="3981600" cy="2728695"/>
          </a:xfrm>
        </p:grpSpPr>
        <p:sp>
          <p:nvSpPr>
            <p:cNvPr id="53" name="Google Shape;53;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4" name="Google Shape;54;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Strong Business Perspective</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5" name="Google Shape;55;p6"/>
            <p:cNvSpPr txBox="1"/>
            <p:nvPr/>
          </p:nvSpPr>
          <p:spPr>
            <a:xfrm>
              <a:off x="1518225" y="4570500"/>
              <a:ext cx="3981600" cy="750945"/>
            </a:xfrm>
            <a:prstGeom prst="rect">
              <a:avLst/>
            </a:prstGeom>
            <a:noFill/>
            <a:ln>
              <a:noFill/>
            </a:ln>
          </p:spPr>
          <p:txBody>
            <a:bodyPr spcFirstLastPara="1" wrap="square" lIns="91425" tIns="91425" rIns="91425" bIns="91425" anchor="t" anchorCtr="0">
              <a:spAutoFit/>
            </a:bodyPr>
            <a:lstStyle/>
            <a:p>
              <a:pPr lvl="0">
                <a:lnSpc>
                  <a:spcPct val="115000"/>
                </a:lnSpc>
                <a:buSzPts val="16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Understands how to design AI agents aligned with business impact, not just technical experimentation. Structured thinking around ROI and automation efficiency.</a:t>
              </a:r>
              <a:endParaRPr sz="1150" b="0" i="0" u="none" strike="noStrike" cap="none" dirty="0">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56" name="Google Shape;56;p6"/>
          <p:cNvGrpSpPr/>
          <p:nvPr/>
        </p:nvGrpSpPr>
        <p:grpSpPr>
          <a:xfrm>
            <a:off x="10187700" y="3381850"/>
            <a:ext cx="3981600" cy="2445540"/>
            <a:chOff x="1518225" y="2592750"/>
            <a:chExt cx="3981600" cy="2445540"/>
          </a:xfrm>
        </p:grpSpPr>
        <p:sp>
          <p:nvSpPr>
            <p:cNvPr id="57" name="Google Shape;57;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8" name="Google Shape;58;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Clr>
                  <a:schemeClr val="dk1"/>
                </a:buClr>
                <a:buSzPts val="11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Structured Communicator</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9" name="Google Shape;59;p6"/>
            <p:cNvSpPr txBox="1"/>
            <p:nvPr/>
          </p:nvSpPr>
          <p:spPr>
            <a:xfrm>
              <a:off x="1518225" y="4570500"/>
              <a:ext cx="3981600" cy="467790"/>
            </a:xfrm>
            <a:prstGeom prst="rect">
              <a:avLst/>
            </a:prstGeom>
            <a:noFill/>
            <a:ln>
              <a:noFill/>
            </a:ln>
          </p:spPr>
          <p:txBody>
            <a:bodyPr spcFirstLastPara="1" wrap="square" lIns="91425" tIns="91425" rIns="91425" bIns="91425" anchor="t" anchorCtr="0">
              <a:spAutoFit/>
            </a:bodyPr>
            <a:lstStyle/>
            <a:p>
              <a:pPr lvl="0">
                <a:lnSpc>
                  <a:spcPct val="115000"/>
                </a:lnSpc>
                <a:buClr>
                  <a:schemeClr val="dk1"/>
                </a:buClr>
                <a:buSzPts val="11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Clear, organized, and concise in explanations. Demonstrates strong communication even when discussing complex security and AI topics.</a:t>
              </a: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7"/>
          <p:cNvSpPr/>
          <p:nvPr/>
        </p:nvSpPr>
        <p:spPr>
          <a:xfrm>
            <a:off x="804025" y="2584350"/>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 name="Google Shape;66;p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67" name="Google Shape;67;p7"/>
          <p:cNvSpPr txBox="1">
            <a:spLocks noGrp="1"/>
          </p:cNvSpPr>
          <p:nvPr>
            <p:ph type="title"/>
          </p:nvPr>
        </p:nvSpPr>
        <p:spPr>
          <a:xfrm>
            <a:off x="854550" y="715353"/>
            <a:ext cx="12921300" cy="1208700"/>
          </a:xfrm>
          <a:prstGeom prst="rect">
            <a:avLst/>
          </a:prstGeom>
          <a:noFill/>
          <a:ln>
            <a:noFill/>
          </a:ln>
        </p:spPr>
        <p:txBody>
          <a:bodyPr spcFirstLastPara="1" wrap="square" lIns="91425" tIns="91425" rIns="91425" bIns="91425" anchor="t" anchorCtr="0">
            <a:noAutofit/>
          </a:bodyPr>
          <a:lstStyle/>
          <a:p>
            <a:pPr lvl="0"/>
            <a:r>
              <a:rPr lang="en-US" dirty="0">
                <a:solidFill>
                  <a:srgbClr val="0066CC"/>
                </a:solidFill>
              </a:rPr>
              <a:t>Why Marcelo Pacheco Alvaro Beats 99.99% of Applicants</a:t>
            </a:r>
            <a:r>
              <a:rPr lang="en-US" dirty="0" err="1"/>
              <a:t/>
            </a:r>
            <a:r>
              <a:rPr lang="en-US" dirty="0"/>
              <a:t/>
            </a:r>
            <a:endParaRPr dirty="0"/>
          </a:p>
        </p:txBody>
      </p:sp>
      <p:sp>
        <p:nvSpPr>
          <p:cNvPr id="68" name="Google Shape;68;p7"/>
          <p:cNvSpPr txBox="1"/>
          <p:nvPr/>
        </p:nvSpPr>
        <p:spPr>
          <a:xfrm>
            <a:off x="1314250" y="2847250"/>
            <a:ext cx="45414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Clear Communicator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Extremely organized thinking — often answers follow-ups before being asked. Communicates technical tradeoffs with clarity.</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69" name="Google Shape;69;p7"/>
          <p:cNvSpPr txBox="1"/>
          <p:nvPr/>
        </p:nvSpPr>
        <p:spPr>
          <a:xfrm>
            <a:off x="1314175" y="5169500"/>
            <a:ext cx="4541400" cy="2047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300"/>
              <a:buFont typeface="Arial" panose="020B0604020202020204"/>
              <a:buNone/>
            </a:pPr>
            <a:r>
              <a:rPr lang="en-US"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Problem-Solver First</a:t>
            </a:r>
            <a:endParaRPr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Approaches ambiguity with structured reasoning, methodical debugging, and strong ownership over outcomes.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0" name="Google Shape;70;p7"/>
          <p:cNvSpPr txBox="1"/>
          <p:nvPr/>
        </p:nvSpPr>
        <p:spPr>
          <a:xfrm>
            <a:off x="5757925" y="2847250"/>
            <a:ext cx="4647600" cy="2062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Fast Moving Ownership</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Thrives in environments where he can ship quickly, validate with users, iterate, and scale systems based on real data.</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1" name="Google Shape;71;p7"/>
          <p:cNvSpPr txBox="1"/>
          <p:nvPr/>
        </p:nvSpPr>
        <p:spPr>
          <a:xfrm>
            <a:off x="5855575" y="5161850"/>
            <a:ext cx="42609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AI-Native Developer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Uses Cursor, GPT, and generative AI to automate documentation, boilerplate, prompts, and analysis. Demonstrates real applied AI usage</a:t>
            </a: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2" name="Google Shape;72;p7"/>
          <p:cNvSpPr/>
          <p:nvPr/>
        </p:nvSpPr>
        <p:spPr>
          <a:xfrm>
            <a:off x="11331850" y="3698550"/>
            <a:ext cx="2633700" cy="23550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 name="Google Shape;73;p7"/>
          <p:cNvSpPr txBox="1"/>
          <p:nvPr/>
        </p:nvSpPr>
        <p:spPr>
          <a:xfrm>
            <a:off x="11682700" y="3952500"/>
            <a:ext cx="1932000" cy="184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We review hundreds of developers for every </a:t>
            </a: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 that makes it to our team</a:t>
            </a: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8"/>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80" name="Google Shape;80;p8"/>
          <p:cNvSpPr txBox="1">
            <a:spLocks noGrp="1"/>
          </p:cNvSpPr>
          <p:nvPr>
            <p:ph type="title"/>
          </p:nvPr>
        </p:nvSpPr>
        <p:spPr>
          <a:xfrm>
            <a:off x="854550" y="667575"/>
            <a:ext cx="12921300" cy="1208700"/>
          </a:xfrm>
          <a:prstGeom prst="rect">
            <a:avLst/>
          </a:prstGeom>
          <a:noFill/>
          <a:ln>
            <a:noFill/>
          </a:ln>
        </p:spPr>
        <p:txBody>
          <a:bodyPr spcFirstLastPara="1" wrap="square" lIns="91425" tIns="91425" rIns="91425" bIns="91425" anchor="t" anchorCtr="0">
            <a:noAutofit/>
          </a:bodyPr>
          <a:lstStyle/>
          <a:p>
            <a:pPr lvl="0"/>
            <a:r>
              <a:rPr lang="en-US" sz="4000" dirty="0">
                <a:solidFill>
                  <a:srgbClr val="0066CC"/>
                </a:solidFill>
              </a:rPr>
              <a:t>Marcelo Pacheco Alvaro Is a Back-End AI-Native Engineer With Production-Level Experience Across Modern Systems</a:t>
            </a:r>
            <a:r>
              <a:rPr lang="en-US" sz="4000" dirty="0" err="1"/>
              <a:t/>
            </a:r>
            <a:r>
              <a:rPr lang="en-US" sz="4000" dirty="0"/>
              <a:t/>
            </a:r>
            <a:endParaRPr sz="4000" dirty="0"/>
          </a:p>
        </p:txBody>
      </p:sp>
      <p:grpSp>
        <p:nvGrpSpPr>
          <p:cNvPr id="81" name="Google Shape;81;p8"/>
          <p:cNvGrpSpPr/>
          <p:nvPr/>
        </p:nvGrpSpPr>
        <p:grpSpPr>
          <a:xfrm>
            <a:off x="956125" y="2573600"/>
            <a:ext cx="3981600" cy="4908182"/>
            <a:chOff x="1518225" y="2592750"/>
            <a:chExt cx="3981600" cy="4908182"/>
          </a:xfrm>
        </p:grpSpPr>
        <p:sp>
          <p:nvSpPr>
            <p:cNvPr id="82" name="Google Shape;82;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3" name="Google Shape;83;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Backend &amp; Infrastructure</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4" name="Google Shape;84;p8"/>
            <p:cNvSpPr txBox="1"/>
            <p:nvPr/>
          </p:nvSpPr>
          <p:spPr>
            <a:xfrm>
              <a:off x="1518225" y="4176975"/>
              <a:ext cx="3981600" cy="3323957"/>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backend_6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42900" algn="l" rtl="0">
                <a:lnSpc>
                  <a:spcPct val="115000"/>
                </a:lnSpc>
                <a:spcBef>
                  <a:spcPts val="0"/>
                </a:spcBef>
                <a:spcAft>
                  <a:spcPts val="0"/>
                </a:spcAft>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85" name="Google Shape;85;p8"/>
          <p:cNvGrpSpPr/>
          <p:nvPr/>
        </p:nvGrpSpPr>
        <p:grpSpPr>
          <a:xfrm>
            <a:off x="5565213" y="2573600"/>
            <a:ext cx="3981600" cy="4623360"/>
            <a:chOff x="1518225" y="2592750"/>
            <a:chExt cx="3981600" cy="4623360"/>
          </a:xfrm>
        </p:grpSpPr>
        <p:sp>
          <p:nvSpPr>
            <p:cNvPr id="86" name="Google Shape;86;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7" name="Google Shape;87;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Full-Stack</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8" name="Google Shape;88;p8"/>
            <p:cNvSpPr txBox="1"/>
            <p:nvPr/>
          </p:nvSpPr>
          <p:spPr>
            <a:xfrm>
              <a:off x="1518225" y="4176975"/>
              <a:ext cx="3981600" cy="3039135"/>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full-stack_6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0"/>
                </a:spcBef>
                <a:spcAft>
                  <a:spcPts val="0"/>
                </a:spcAft>
                <a:buClr>
                  <a:srgbClr val="000000"/>
                </a:buClr>
                <a:buSzPts val="1350"/>
                <a:buFont typeface="Arial" panose="020B0604020202020204"/>
                <a:buNone/>
              </a:pPr>
              <a:endParaRPr sz="1350" b="0" i="0" u="none" strike="noStrike" cap="none" dirty="0">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89" name="Google Shape;89;p8"/>
          <p:cNvGrpSpPr/>
          <p:nvPr/>
        </p:nvGrpSpPr>
        <p:grpSpPr>
          <a:xfrm>
            <a:off x="9386700" y="2573600"/>
            <a:ext cx="3981600" cy="4384448"/>
            <a:chOff x="1518225" y="2592750"/>
            <a:chExt cx="3981600" cy="4384448"/>
          </a:xfrm>
        </p:grpSpPr>
        <p:sp>
          <p:nvSpPr>
            <p:cNvPr id="90" name="Google Shape;90;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91" name="Google Shape;91;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&amp; Development Tools</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92" name="Google Shape;92;p8"/>
            <p:cNvSpPr txBox="1"/>
            <p:nvPr/>
          </p:nvSpPr>
          <p:spPr>
            <a:xfrm>
              <a:off x="1518225" y="4176975"/>
              <a:ext cx="3981600" cy="2800223"/>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ai_6 field in excel</a:t>
              </a: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pic>
        <p:nvPicPr>
          <p:cNvPr id="93" name="Google Shape;93;p8"/>
          <p:cNvPicPr preferRelativeResize="0"/>
          <p:nvPr/>
        </p:nvPicPr>
        <p:blipFill rotWithShape="1">
          <a:blip r:embed="rId1"/>
          <a:srcRect/>
          <a:stretch>
            <a:fillRect/>
          </a:stretch>
        </p:blipFill>
        <p:spPr>
          <a:xfrm>
            <a:off x="10174313" y="2573600"/>
            <a:ext cx="797650" cy="797650"/>
          </a:xfrm>
          <a:prstGeom prst="rect">
            <a:avLst/>
          </a:prstGeom>
          <a:noFill/>
          <a:ln>
            <a:noFill/>
          </a:ln>
        </p:spPr>
      </p:pic>
      <p:pic>
        <p:nvPicPr>
          <p:cNvPr id="94" name="Google Shape;94;p8"/>
          <p:cNvPicPr preferRelativeResize="0"/>
          <p:nvPr/>
        </p:nvPicPr>
        <p:blipFill rotWithShape="1">
          <a:blip r:embed="rId2"/>
          <a:srcRect/>
          <a:stretch>
            <a:fillRect/>
          </a:stretch>
        </p:blipFill>
        <p:spPr>
          <a:xfrm>
            <a:off x="11150050" y="2533526"/>
            <a:ext cx="877801" cy="877801"/>
          </a:xfrm>
          <a:prstGeom prst="rect">
            <a:avLst/>
          </a:prstGeom>
          <a:noFill/>
          <a:ln>
            <a:noFill/>
          </a:ln>
        </p:spPr>
      </p:pic>
      <p:pic>
        <p:nvPicPr>
          <p:cNvPr id="95" name="Google Shape;95;p8"/>
          <p:cNvPicPr preferRelativeResize="0"/>
          <p:nvPr/>
        </p:nvPicPr>
        <p:blipFill rotWithShape="1">
          <a:blip r:embed="rId3"/>
          <a:srcRect/>
          <a:stretch>
            <a:fillRect/>
          </a:stretch>
        </p:blipFill>
        <p:spPr>
          <a:xfrm>
            <a:off x="12125505" y="2573600"/>
            <a:ext cx="797625" cy="797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02" name="Google Shape;102;p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sp>
        <p:nvSpPr>
          <p:cNvPr id="104" name="Google Shape;104;p9"/>
          <p:cNvSpPr txBox="1"/>
          <p:nvPr/>
        </p:nvSpPr>
        <p:spPr>
          <a:xfrm>
            <a:off x="854710" y="2708910"/>
            <a:ext cx="12531725" cy="217424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grpSp>
        <p:nvGrpSpPr>
          <p:cNvPr id="106" name="Google Shape;106;p9"/>
          <p:cNvGrpSpPr/>
          <p:nvPr/>
        </p:nvGrpSpPr>
        <p:grpSpPr>
          <a:xfrm>
            <a:off x="874233" y="4062730"/>
            <a:ext cx="11814666" cy="2782820"/>
            <a:chOff x="-3583232" y="2407754"/>
            <a:chExt cx="11083176" cy="2610526"/>
          </a:xfrm>
        </p:grpSpPr>
        <p:sp>
          <p:nvSpPr>
            <p:cNvPr id="107" name="Google Shape;107;p9"/>
            <p:cNvSpPr txBox="1"/>
            <p:nvPr/>
          </p:nvSpPr>
          <p:spPr>
            <a:xfrm>
              <a:off x="-3583232" y="2407754"/>
              <a:ext cx="6654600" cy="203940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project_2_name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8" name="Google Shape;108;p9"/>
            <p:cNvSpPr txBox="1"/>
            <p:nvPr/>
          </p:nvSpPr>
          <p:spPr>
            <a:xfrm>
              <a:off x="-3497456" y="2949757"/>
              <a:ext cx="10997400" cy="2068523"/>
            </a:xfrm>
            <a:prstGeom prst="rect">
              <a:avLst/>
            </a:prstGeom>
            <a:noFill/>
            <a:ln>
              <a:noFill/>
            </a:ln>
          </p:spPr>
          <p:txBody>
            <a:bodyPr spcFirstLastPara="1" wrap="square" lIns="97450" tIns="97450" rIns="97450" bIns="97450" anchor="t" anchorCtr="0">
              <a:spAutoFit/>
            </a:bodyPr>
            <a:lstStyle/>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project_2_context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2" name="Google Shape;108;p9"/>
          <p:cNvSpPr txBox="1"/>
          <p:nvPr/>
        </p:nvSpPr>
        <p:spPr>
          <a:xfrm>
            <a:off x="942975" y="3297555"/>
            <a:ext cx="6560820" cy="2077085"/>
          </a:xfrm>
          <a:prstGeom prst="rect">
            <a:avLst/>
          </a:prstGeom>
          <a:noFill/>
          <a:ln>
            <a:noFill/>
          </a:ln>
        </p:spPr>
        <p:txBody>
          <a:bodyPr spcFirstLastPara="1" wrap="square" lIns="97450" tIns="97450" rIns="97450" bIns="97450" anchor="t" anchorCtr="0">
            <a:spAutoFit/>
          </a:bodyPr>
          <a:p>
            <a:pPr marL="457200" lvl="0" indent="-298450">
              <a:lnSpc>
                <a:spcPct val="115000"/>
              </a:lnSpc>
              <a:buClr>
                <a:schemeClr val="dk1"/>
              </a:buClr>
              <a:buSzPts val="1100"/>
              <a:buFont typeface="Arial" panose="020B0604020202020204"/>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Designed and implemented an AI-driven penetration testing agent to automate vulnerability identification and reporting.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02" name="Google Shape;102;p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sp>
        <p:nvSpPr>
          <p:cNvPr id="104" name="Google Shape;104;p9"/>
          <p:cNvSpPr txBox="1"/>
          <p:nvPr/>
        </p:nvSpPr>
        <p:spPr>
          <a:xfrm>
            <a:off x="854710" y="2708910"/>
            <a:ext cx="12531725" cy="2169795"/>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project_3_name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grpSp>
        <p:nvGrpSpPr>
          <p:cNvPr id="106" name="Google Shape;106;p9"/>
          <p:cNvGrpSpPr/>
          <p:nvPr/>
        </p:nvGrpSpPr>
        <p:grpSpPr>
          <a:xfrm>
            <a:off x="874233" y="4062730"/>
            <a:ext cx="11826096" cy="2654860"/>
            <a:chOff x="-3583232" y="2407754"/>
            <a:chExt cx="11093898" cy="2490488"/>
          </a:xfrm>
        </p:grpSpPr>
        <p:sp>
          <p:nvSpPr>
            <p:cNvPr id="107" name="Google Shape;107;p9"/>
            <p:cNvSpPr txBox="1"/>
            <p:nvPr/>
          </p:nvSpPr>
          <p:spPr>
            <a:xfrm>
              <a:off x="-3583232" y="2407754"/>
              <a:ext cx="6654600" cy="2035455"/>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project_4_name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8" name="Google Shape;108;p9"/>
            <p:cNvSpPr txBox="1"/>
            <p:nvPr/>
          </p:nvSpPr>
          <p:spPr>
            <a:xfrm>
              <a:off x="-3486734" y="2949757"/>
              <a:ext cx="10997400" cy="1948485"/>
            </a:xfrm>
            <a:prstGeom prst="rect">
              <a:avLst/>
            </a:prstGeom>
            <a:noFill/>
            <a:ln>
              <a:noFill/>
            </a:ln>
          </p:spPr>
          <p:txBody>
            <a:bodyPr spcFirstLastPara="1" wrap="square" lIns="97450" tIns="97450" rIns="97450" bIns="97450" anchor="t" anchorCtr="0">
              <a:spAutoFit/>
            </a:bodyPr>
            <a:lstStyle/>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project_4_context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2" name="Google Shape;108;p9"/>
          <p:cNvSpPr txBox="1"/>
          <p:nvPr/>
        </p:nvSpPr>
        <p:spPr>
          <a:xfrm>
            <a:off x="942975" y="3297555"/>
            <a:ext cx="6560820" cy="2077085"/>
          </a:xfrm>
          <a:prstGeom prst="rect">
            <a:avLst/>
          </a:prstGeom>
          <a:noFill/>
          <a:ln>
            <a:noFill/>
          </a:ln>
        </p:spPr>
        <p:txBody>
          <a:bodyPr spcFirstLastPara="1" wrap="square" lIns="97450" tIns="97450" rIns="97450" bIns="97450" anchor="t" anchorCtr="0">
            <a:spAutoFit/>
          </a:bodyPr>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project_3_context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1"/>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30" name="Google Shape;130;p11"/>
          <p:cNvSpPr txBox="1">
            <a:spLocks noGrp="1"/>
          </p:cNvSpPr>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lvl="0"/>
            <a:r>
              <a:rPr lang="en-US" sz="3900" dirty="0">
                <a:solidFill>
                  <a:srgbClr val="0066CC"/>
                </a:solidFill>
              </a:rPr>
              <a:t>Marcelo Pacheco Alvaro’s Track Record of High-Impact Engineering Work</a:t>
            </a:r>
            <a:r>
              <a:rPr lang="en-US" sz="3900" dirty="0" err="1"/>
              <a:t/>
            </a:r>
            <a:r>
              <a:rPr lang="en-US" sz="3900" dirty="0"/>
              <a:t/>
            </a:r>
            <a:r>
              <a:rPr lang="en-US" sz="3900" dirty="0">
                <a:solidFill>
                  <a:srgbClr val="7068F4"/>
                </a:solidFill>
              </a:rPr>
              <a:t/>
            </a:r>
            <a:endParaRPr sz="3900" dirty="0"/>
          </a:p>
        </p:txBody>
      </p:sp>
      <p:grpSp>
        <p:nvGrpSpPr>
          <p:cNvPr id="131" name="Google Shape;131;p11"/>
          <p:cNvGrpSpPr/>
          <p:nvPr/>
        </p:nvGrpSpPr>
        <p:grpSpPr>
          <a:xfrm>
            <a:off x="886690" y="2435832"/>
            <a:ext cx="12531943" cy="1073475"/>
            <a:chOff x="1518225" y="2456626"/>
            <a:chExt cx="6654600" cy="1007012"/>
          </a:xfrm>
        </p:grpSpPr>
        <p:sp>
          <p:nvSpPr>
            <p:cNvPr id="132" name="Google Shape;132;p11"/>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project_impact_1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3" name="Google Shape;133;p11"/>
            <p:cNvSpPr txBox="1"/>
            <p:nvPr/>
          </p:nvSpPr>
          <p:spPr>
            <a:xfrm>
              <a:off x="1518225" y="2980193"/>
              <a:ext cx="6654600" cy="483445"/>
            </a:xfrm>
            <a:prstGeom prst="rect">
              <a:avLst/>
            </a:prstGeom>
            <a:noFill/>
            <a:ln>
              <a:noFill/>
            </a:ln>
          </p:spPr>
          <p:txBody>
            <a:bodyPr spcFirstLastPara="1" wrap="square" lIns="97450" tIns="97450" rIns="97450" bIns="97450" anchor="t" anchorCtr="0">
              <a:spAutoFit/>
            </a:bodyPr>
            <a:lstStyle/>
            <a:p>
              <a:pPr marL="457200" lvl="0" indent="-342900">
                <a:lnSpc>
                  <a:spcPct val="115000"/>
                </a:lnSpc>
                <a:buClr>
                  <a:schemeClr val="dk1"/>
                </a:buClr>
                <a:buSzPts val="1800"/>
                <a:buFont typeface="Urbanist" panose="020B0A04040200000203"/>
                <a:buChar char="●"/>
              </a:pPr>
              <a:r>
                <a:rPr lang="en-US" sz="1800" dirty="0">
                  <a:solidFill>
                    <a:srgbClr val="DC3545"/>
                  </a:solidFill>
                  <a:latin typeface="Urbanist" panose="020B0A04040200000203"/>
                  <a:ea typeface="Urbanist" panose="020B0A04040200000203"/>
                  <a:cs typeface="Urbanist" panose="020B0A04040200000203"/>
                  <a:sym typeface="Urbanist" panose="020B0A04040200000203"/>
                </a:rPr>
                <a:t>No project_1_business_impact field in excel</a:t>
              </a: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34" name="Google Shape;134;p11"/>
          <p:cNvGrpSpPr/>
          <p:nvPr/>
        </p:nvGrpSpPr>
        <p:grpSpPr>
          <a:xfrm>
            <a:off x="886688" y="4626070"/>
            <a:ext cx="12531943" cy="3156106"/>
            <a:chOff x="1518225" y="2413591"/>
            <a:chExt cx="6654600" cy="2960700"/>
          </a:xfrm>
        </p:grpSpPr>
        <p:sp>
          <p:nvSpPr>
            <p:cNvPr id="135" name="Google Shape;135;p11"/>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project_impact_2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6" name="Google Shape;136;p11"/>
            <p:cNvSpPr txBox="1"/>
            <p:nvPr/>
          </p:nvSpPr>
          <p:spPr>
            <a:xfrm>
              <a:off x="1518225" y="2894100"/>
              <a:ext cx="6654600" cy="1266600"/>
            </a:xfrm>
            <a:prstGeom prst="rect">
              <a:avLst/>
            </a:prstGeom>
            <a:noFill/>
            <a:ln>
              <a:noFill/>
            </a:ln>
          </p:spPr>
          <p:txBody>
            <a:bodyPr spcFirstLastPara="1" wrap="square" lIns="97450" tIns="97450" rIns="97450" bIns="97450" anchor="t" anchorCtr="0">
              <a:spAutoFit/>
            </a:bodyPr>
            <a:lstStyle/>
            <a:p>
              <a:pPr marL="457200" marR="241300" lvl="0" indent="-342900">
                <a:lnSpc>
                  <a:spcPct val="115000"/>
                </a:lnSpc>
                <a:buClr>
                  <a:schemeClr val="dk1"/>
                </a:buClr>
                <a:buSzPts val="1804"/>
                <a:buFont typeface="Urbanist Light" panose="020B0A04040200000203"/>
                <a:buChar char="●"/>
              </a:pPr>
              <a:r>
                <a:rPr lang="en-US" sz="18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project_2_business_impact field in excel</a:t>
              </a:r>
              <a:endParaRPr sz="18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2"/>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43" name="Google Shape;143;p12"/>
          <p:cNvSpPr txBox="1">
            <a:spLocks noGrp="1"/>
          </p:cNvSpPr>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lvl="0"/>
            <a:r>
              <a:rPr lang="en-US" sz="3900" dirty="0">
                <a:solidFill>
                  <a:srgbClr val="0066CC"/>
                </a:solidFill>
              </a:rPr>
              <a:t>Marcelo Pacheco Alvaro’s Track Record of High-Impact Engineering Work</a:t>
            </a:r>
            <a:r>
              <a:rPr lang="en-US" sz="3900" dirty="0" err="1"/>
              <a:t/>
            </a:r>
            <a:r>
              <a:rPr lang="en-US" sz="3900" dirty="0"/>
              <a:t/>
            </a:r>
            <a:r>
              <a:rPr lang="en-US" sz="3900" dirty="0">
                <a:solidFill>
                  <a:srgbClr val="7068F4"/>
                </a:solidFill>
              </a:rPr>
              <a:t/>
            </a:r>
            <a:endParaRPr sz="3900" dirty="0"/>
          </a:p>
        </p:txBody>
      </p:sp>
      <p:grpSp>
        <p:nvGrpSpPr>
          <p:cNvPr id="144" name="Google Shape;144;p12"/>
          <p:cNvGrpSpPr/>
          <p:nvPr/>
        </p:nvGrpSpPr>
        <p:grpSpPr>
          <a:xfrm>
            <a:off x="886690" y="2435831"/>
            <a:ext cx="12531943" cy="1032066"/>
            <a:chOff x="1518225" y="2456626"/>
            <a:chExt cx="6654600" cy="968167"/>
          </a:xfrm>
        </p:grpSpPr>
        <p:sp>
          <p:nvSpPr>
            <p:cNvPr id="145" name="Google Shape;145;p12"/>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6" name="Google Shape;146;p12"/>
            <p:cNvSpPr txBox="1"/>
            <p:nvPr/>
          </p:nvSpPr>
          <p:spPr>
            <a:xfrm>
              <a:off x="1518225" y="2980193"/>
              <a:ext cx="6654600" cy="444600"/>
            </a:xfrm>
            <a:prstGeom prst="rect">
              <a:avLst/>
            </a:prstGeom>
            <a:noFill/>
            <a:ln>
              <a:noFill/>
            </a:ln>
          </p:spPr>
          <p:txBody>
            <a:bodyPr spcFirstLastPara="1" wrap="square" lIns="97450" tIns="97450" rIns="97450" bIns="97450" anchor="t" anchorCtr="0">
              <a:spAutoFit/>
            </a:bodyPr>
            <a:lstStyle/>
            <a:p>
              <a:pPr marL="457200" marR="0" lvl="0" indent="-342900" algn="l" rtl="0">
                <a:lnSpc>
                  <a:spcPct val="115000"/>
                </a:lnSpc>
                <a:spcBef>
                  <a:spcPts val="0"/>
                </a:spcBef>
                <a:spcAft>
                  <a:spcPts val="0"/>
                </a:spcAft>
                <a:buClr>
                  <a:schemeClr val="dk1"/>
                </a:buClr>
                <a:buSzPts val="1800"/>
                <a:buFont typeface="Urbanist" panose="020B0A04040200000203"/>
                <a:buChar char="●"/>
              </a:pPr>
              <a:r>
                <a:rPr lang="en-US" sz="1800">
                  <a:solidFill>
                    <a:schemeClr val="dk1"/>
                  </a:solidFill>
                  <a:latin typeface="Urbanist" panose="020B0A04040200000203"/>
                  <a:ea typeface="Urbanist" panose="020B0A04040200000203"/>
                  <a:cs typeface="Urbanist" panose="020B0A04040200000203"/>
                  <a:sym typeface="Urbanis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47" name="Google Shape;147;p12"/>
          <p:cNvGrpSpPr/>
          <p:nvPr/>
        </p:nvGrpSpPr>
        <p:grpSpPr>
          <a:xfrm>
            <a:off x="886688" y="4626070"/>
            <a:ext cx="12531943" cy="3156106"/>
            <a:chOff x="1518225" y="2413591"/>
            <a:chExt cx="6654600" cy="2960700"/>
          </a:xfrm>
        </p:grpSpPr>
        <p:sp>
          <p:nvSpPr>
            <p:cNvPr id="148" name="Google Shape;148;p12"/>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 2 field in excel</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9" name="Google Shape;149;p12"/>
            <p:cNvSpPr txBox="1"/>
            <p:nvPr/>
          </p:nvSpPr>
          <p:spPr>
            <a:xfrm>
              <a:off x="1518225" y="2894100"/>
              <a:ext cx="6654600" cy="1116000"/>
            </a:xfrm>
            <a:prstGeom prst="rect">
              <a:avLst/>
            </a:prstGeom>
            <a:noFill/>
            <a:ln>
              <a:noFill/>
            </a:ln>
          </p:spPr>
          <p:txBody>
            <a:bodyPr spcFirstLastPara="1" wrap="square" lIns="97450" tIns="97450" rIns="97450" bIns="97450" anchor="t" anchorCtr="0">
              <a:spAutoFit/>
            </a:bodyPr>
            <a:lstStyle/>
            <a:p>
              <a:pPr marL="457200" marR="241300" lvl="0" indent="-342900" algn="l" rtl="0">
                <a:lnSpc>
                  <a:spcPct val="115000"/>
                </a:lnSpc>
                <a:spcBef>
                  <a:spcPts val="0"/>
                </a:spcBef>
                <a:spcAft>
                  <a:spcPts val="0"/>
                </a:spcAft>
                <a:buClr>
                  <a:schemeClr val="dk1"/>
                </a:buClr>
                <a:buSzPts val="1804"/>
                <a:buFont typeface="Urbanist Light" panose="020B0A04040200000203"/>
                <a:buChar char="●"/>
              </a:pPr>
              <a:r>
                <a:rPr lang="en-US" sz="18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3"/>
          <p:cNvSpPr/>
          <p:nvPr/>
        </p:nvSpPr>
        <p:spPr>
          <a:xfrm>
            <a:off x="2489250" y="2584361"/>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 name="Google Shape;156;p13"/>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57" name="Google Shape;157;p13"/>
          <p:cNvSpPr txBox="1">
            <a:spLocks noGrp="1"/>
          </p:cNvSpPr>
          <p:nvPr>
            <p:ph type="title"/>
          </p:nvPr>
        </p:nvSpPr>
        <p:spPr>
          <a:xfrm>
            <a:off x="1044250" y="858225"/>
            <a:ext cx="12921300" cy="1208700"/>
          </a:xfrm>
          <a:prstGeom prst="rect">
            <a:avLst/>
          </a:prstGeom>
          <a:noFill/>
          <a:ln>
            <a:noFill/>
          </a:ln>
        </p:spPr>
        <p:txBody>
          <a:bodyPr spcFirstLastPara="1" wrap="square" lIns="91425" tIns="91425" rIns="91425" bIns="91425" anchor="t" anchorCtr="0">
            <a:noAutofit/>
          </a:bodyPr>
          <a:lstStyle/>
          <a:p>
            <a:pPr lvl="0"/>
            <a:r>
              <a:rPr lang="en-US" dirty="0">
                <a:solidFill>
                  <a:srgbClr val="0066CC"/>
                </a:solidFill>
              </a:rPr>
              <a:t>Where Marcelo Pacheco Alvaro Has Delivered Impact</a:t>
            </a:r>
            <a:r>
              <a:rPr lang="en-US" dirty="0" err="1"/>
              <a:t/>
            </a:r>
            <a:r>
              <a:rPr lang="en-US" dirty="0"/>
              <a:t/>
            </a:r>
            <a:endParaRPr dirty="0"/>
          </a:p>
        </p:txBody>
      </p:sp>
      <p:sp>
        <p:nvSpPr>
          <p:cNvPr id="158" name="Google Shape;158;p13"/>
          <p:cNvSpPr txBox="1"/>
          <p:nvPr/>
        </p:nvSpPr>
        <p:spPr>
          <a:xfrm>
            <a:off x="2999475" y="2863454"/>
            <a:ext cx="4647600" cy="17547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industry_1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industry_1_impact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3"/>
          <p:cNvSpPr txBox="1"/>
          <p:nvPr/>
        </p:nvSpPr>
        <p:spPr>
          <a:xfrm>
            <a:off x="2999400" y="5185704"/>
            <a:ext cx="4541400" cy="1739400"/>
          </a:xfrm>
          <a:prstGeom prst="rect">
            <a:avLst/>
          </a:prstGeom>
          <a:noFill/>
          <a:ln>
            <a:noFill/>
          </a:ln>
        </p:spPr>
        <p:txBody>
          <a:bodyPr spcFirstLastPara="1" wrap="square" lIns="91425" tIns="91425" rIns="91425" bIns="91425" anchor="t" anchorCtr="0">
            <a:spAutoFit/>
          </a:bodyPr>
          <a:lstStyle/>
          <a:p>
            <a:pPr lvl="0">
              <a:buSzPts val="2300"/>
            </a:pPr>
            <a:r>
              <a:rPr lang="en-US" sz="23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industry_3 field in excel</a:t>
            </a:r>
            <a:endParaRPr sz="23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industry_3_impact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0" name="Google Shape;160;p13"/>
          <p:cNvSpPr txBox="1"/>
          <p:nvPr/>
        </p:nvSpPr>
        <p:spPr>
          <a:xfrm>
            <a:off x="7443150" y="2863454"/>
            <a:ext cx="4647600" cy="17547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industry_2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industry_2_impact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1" name="Google Shape;161;p13"/>
          <p:cNvSpPr txBox="1"/>
          <p:nvPr/>
        </p:nvSpPr>
        <p:spPr>
          <a:xfrm>
            <a:off x="7540800" y="5185704"/>
            <a:ext cx="4260900" cy="14469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industry_4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industry_4_impact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4"/>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68" name="Google Shape;168;p14"/>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69" name="Google Shape;169;p14"/>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70" name="Google Shape;170;p14"/>
          <p:cNvGrpSpPr/>
          <p:nvPr/>
        </p:nvGrpSpPr>
        <p:grpSpPr>
          <a:xfrm>
            <a:off x="984850" y="2550736"/>
            <a:ext cx="12279361" cy="2161440"/>
            <a:chOff x="1518223" y="2327475"/>
            <a:chExt cx="11519100" cy="2027617"/>
          </a:xfrm>
        </p:grpSpPr>
        <p:sp>
          <p:nvSpPr>
            <p:cNvPr id="171" name="Google Shape;171;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Communication &amp; Collaboration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2" name="Google Shape;172;p14"/>
            <p:cNvSpPr txBox="1"/>
            <p:nvPr/>
          </p:nvSpPr>
          <p:spPr>
            <a:xfrm>
              <a:off x="1518223" y="2894092"/>
              <a:ext cx="11519100" cy="14610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clarity in conveying complex ideas, quality of documentation, comfort with cross-functional dialogue, ability to navigate interpersonal dynamics, and how the candidate builds shared understanding in teams. Looks for active listening, structured updates, and a collaborative tone even in disagreement.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3" name="Google Shape;173;p14"/>
          <p:cNvGrpSpPr/>
          <p:nvPr/>
        </p:nvGrpSpPr>
        <p:grpSpPr>
          <a:xfrm>
            <a:off x="984850" y="4260661"/>
            <a:ext cx="12279361" cy="2655851"/>
            <a:chOff x="1518223" y="2327475"/>
            <a:chExt cx="11519100" cy="2491417"/>
          </a:xfrm>
        </p:grpSpPr>
        <p:sp>
          <p:nvSpPr>
            <p:cNvPr id="174" name="Google Shape;174;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Problem-Solving &amp; Critical Thinking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5" name="Google Shape;175;p14"/>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depth and structure of analytical approaches, debugging rigor, comfort with trade-offs, and how reasoning is articulated under constraints. Prioritizes individuals who approach ambiguity methodically, break down complex issues, and learn from iterative refinement.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6" name="Google Shape;176;p14"/>
          <p:cNvGrpSpPr/>
          <p:nvPr/>
        </p:nvGrpSpPr>
        <p:grpSpPr>
          <a:xfrm>
            <a:off x="984850" y="5994861"/>
            <a:ext cx="12279361" cy="3150262"/>
            <a:chOff x="1518223" y="2327475"/>
            <a:chExt cx="11519100" cy="2955217"/>
          </a:xfrm>
        </p:grpSpPr>
        <p:sp>
          <p:nvSpPr>
            <p:cNvPr id="177" name="Google Shape;177;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Ownership &amp; Accountability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8" name="Google Shape;178;p14"/>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Focuses on personal responsibility for outcomes, proactive flagging of risks, ability to deliver autonomously, and evidence of pride in work quality. Looks for signs of initiative, task follow-through, and a reputation for dependability without over-indexing on control.</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5"/>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85" name="Google Shape;185;p15"/>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86" name="Google Shape;186;p15"/>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87" name="Google Shape;187;p15"/>
          <p:cNvGrpSpPr/>
          <p:nvPr/>
        </p:nvGrpSpPr>
        <p:grpSpPr>
          <a:xfrm>
            <a:off x="984850" y="2550736"/>
            <a:ext cx="12279361" cy="2655851"/>
            <a:chOff x="1518223" y="2327475"/>
            <a:chExt cx="11519100" cy="2491417"/>
          </a:xfrm>
        </p:grpSpPr>
        <p:sp>
          <p:nvSpPr>
            <p:cNvPr id="188" name="Google Shape;188;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Learning Agility &amp; Adaptability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89" name="Google Shape;189;p15"/>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how quickly someone absorbs new tools or domains, how they incorporate feedback, and how effectively they operate in changing contexts. Assesses comfort with experimentation, ability to reframe problems, and intellectual curiosity under shifting priorities.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0" name="Google Shape;190;p15"/>
          <p:cNvGrpSpPr/>
          <p:nvPr/>
        </p:nvGrpSpPr>
        <p:grpSpPr>
          <a:xfrm>
            <a:off x="984850" y="4260661"/>
            <a:ext cx="12279361" cy="3150262"/>
            <a:chOff x="1518223" y="2327475"/>
            <a:chExt cx="11519100" cy="2955217"/>
          </a:xfrm>
        </p:grpSpPr>
        <p:sp>
          <p:nvSpPr>
            <p:cNvPr id="191" name="Google Shape;191;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Resilience &amp; Growth Mindset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2" name="Google Shape;192;p15"/>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response to setbacks, emotional recovery time, and whether the candidate seeks learning in failure. Looks for persistence under pressure, ability to maintain output when challenged, and language that reflects a constructive view of adversity.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3" name="Google Shape;193;p15"/>
          <p:cNvGrpSpPr/>
          <p:nvPr/>
        </p:nvGrpSpPr>
        <p:grpSpPr>
          <a:xfrm>
            <a:off x="984850" y="5994861"/>
            <a:ext cx="12279361" cy="3342461"/>
            <a:chOff x="1518223" y="2327475"/>
            <a:chExt cx="11519100" cy="3135517"/>
          </a:xfrm>
        </p:grpSpPr>
        <p:sp>
          <p:nvSpPr>
            <p:cNvPr id="194" name="Google Shape;194;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Cultural Fit &amp; Values Alignment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5" name="Google Shape;195;p15"/>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02" name="Google Shape;202;p16"/>
          <p:cNvSpPr txBox="1">
            <a:spLocks noGrp="1"/>
          </p:cNvSpPr>
          <p:nvPr>
            <p:ph type="title"/>
          </p:nvPr>
        </p:nvSpPr>
        <p:spPr>
          <a:xfrm>
            <a:off x="854550" y="672678"/>
            <a:ext cx="12921300" cy="1208700"/>
          </a:xfrm>
          <a:prstGeom prst="rect">
            <a:avLst/>
          </a:prstGeom>
          <a:noFill/>
          <a:ln>
            <a:noFill/>
          </a:ln>
        </p:spPr>
        <p:txBody>
          <a:bodyPr spcFirstLastPara="1" wrap="square" lIns="91425" tIns="91425" rIns="91425" bIns="91425" anchor="t" anchorCtr="0">
            <a:noAutofit/>
          </a:bodyPr>
          <a:lstStyle/>
          <a:p>
            <a:pPr lvl="0"/>
            <a:r>
              <a:rPr lang="en-US" sz="3500" dirty="0">
                <a:solidFill>
                  <a:srgbClr val="0066CC"/>
                </a:solidFill>
              </a:rPr>
              <a:t>Why Marcelo Pacheco Alvaro Scores Exceptionally Across Behavioral Dimensions</a:t>
            </a:r>
            <a:r>
              <a:rPr lang="en-US" sz="3500" dirty="0" err="1"/>
              <a:t/>
            </a:r>
            <a:r>
              <a:rPr lang="en-US" sz="3500" dirty="0"/>
              <a:t/>
            </a:r>
            <a:endParaRPr sz="3500" dirty="0"/>
          </a:p>
        </p:txBody>
      </p:sp>
      <p:sp>
        <p:nvSpPr>
          <p:cNvPr id="203" name="Google Shape;203;p16"/>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204" name="Google Shape;204;p16"/>
          <p:cNvGrpSpPr/>
          <p:nvPr/>
        </p:nvGrpSpPr>
        <p:grpSpPr>
          <a:xfrm>
            <a:off x="984850" y="5994861"/>
            <a:ext cx="12279361" cy="3342461"/>
            <a:chOff x="1518223" y="2327475"/>
            <a:chExt cx="11519100" cy="3135517"/>
          </a:xfrm>
        </p:grpSpPr>
        <p:sp>
          <p:nvSpPr>
            <p:cNvPr id="205" name="Google Shape;205;p16"/>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06" name="Google Shape;206;p16"/>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07" name="Google Shape;207;p16"/>
          <p:cNvSpPr/>
          <p:nvPr/>
        </p:nvSpPr>
        <p:spPr>
          <a:xfrm>
            <a:off x="1077800" y="2500150"/>
            <a:ext cx="12502200" cy="49803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08" name="Google Shape;208;p16"/>
          <p:cNvPicPr preferRelativeResize="0"/>
          <p:nvPr/>
        </p:nvPicPr>
        <p:blipFill rotWithShape="1">
          <a:blip r:embed="rId1"/>
          <a:srcRect/>
          <a:stretch>
            <a:fillRect/>
          </a:stretch>
        </p:blipFill>
        <p:spPr>
          <a:xfrm>
            <a:off x="1398060" y="2665712"/>
            <a:ext cx="11834279" cy="4649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15" name="Google Shape;215;p17"/>
          <p:cNvGrpSpPr/>
          <p:nvPr/>
        </p:nvGrpSpPr>
        <p:grpSpPr>
          <a:xfrm>
            <a:off x="984850" y="5926036"/>
            <a:ext cx="12279361" cy="1869626"/>
            <a:chOff x="1518223" y="2262911"/>
            <a:chExt cx="11519100" cy="1753870"/>
          </a:xfrm>
        </p:grpSpPr>
        <p:sp>
          <p:nvSpPr>
            <p:cNvPr id="216" name="Google Shape;216;p17"/>
            <p:cNvSpPr txBox="1"/>
            <p:nvPr/>
          </p:nvSpPr>
          <p:spPr>
            <a:xfrm>
              <a:off x="1518225" y="2262911"/>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 Exceptional Candidate</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17" name="Google Shape;217;p17"/>
            <p:cNvSpPr txBox="1"/>
            <p:nvPr/>
          </p:nvSpPr>
          <p:spPr>
            <a:xfrm>
              <a:off x="1518223" y="2700377"/>
              <a:ext cx="11519100" cy="1316404"/>
            </a:xfrm>
            <a:prstGeom prst="rect">
              <a:avLst/>
            </a:prstGeom>
            <a:noFill/>
            <a:ln>
              <a:noFill/>
            </a:ln>
          </p:spPr>
          <p:txBody>
            <a:bodyPr spcFirstLastPara="1" wrap="square" lIns="97450" tIns="97450" rIns="97450" bIns="97450" anchor="t" anchorCtr="0">
              <a:spAutoFit/>
            </a:bodyPr>
            <a:lstStyle/>
            <a:p>
              <a:pPr marR="241300" lvl="0">
                <a:lnSpc>
                  <a:spcPct val="115000"/>
                </a:lnSpc>
                <a:buSzPts val="1704"/>
              </a:pPr>
              <a:r>
                <a:rPr lang="en-US" sz="1705" dirty="0">
                  <a:solidFill>
                    <a:srgbClr val="0066CC"/>
                  </a:solidFill>
                  <a:latin typeface="Urbanist Light" panose="020B0A04040200000203"/>
                  <a:ea typeface="Urbanist Light" panose="020B0A04040200000203"/>
                  <a:cs typeface="Urbanist Light" panose="020B0A04040200000203"/>
                  <a:sym typeface="Urbanist Light" panose="020B0A04040200000203"/>
                </a:rPr>
                <a:t>Marcelo Pacheco Alvaro shows outstanding learning agility, strong structured communication, and a high-ownership mindset uncommon for his experience level. His versatility across backend, DevOps, AI workflows, and ML fundamentals demonstrates rapid skill growth and real adaptability. He operates with clarity, emotional intelligence, and strong execution in fast-moving environments — making him a high-potential AI-native engineer ready to contribute immediately.</a:t>
              </a:r>
              <a:r>
                <a:rPr lang="en-US" sz="1705"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18" name="Google Shape;218;p17"/>
          <p:cNvSpPr/>
          <p:nvPr/>
        </p:nvSpPr>
        <p:spPr>
          <a:xfrm>
            <a:off x="1077800" y="2500150"/>
            <a:ext cx="12502200" cy="33426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19" name="Google Shape;219;p17"/>
          <p:cNvPicPr preferRelativeResize="0"/>
          <p:nvPr/>
        </p:nvPicPr>
        <p:blipFill rotWithShape="1">
          <a:blip r:embed="rId1"/>
          <a:srcRect/>
          <a:stretch>
            <a:fillRect/>
          </a:stretch>
        </p:blipFill>
        <p:spPr>
          <a:xfrm>
            <a:off x="1064100" y="2839900"/>
            <a:ext cx="12502200" cy="2549791"/>
          </a:xfrm>
          <a:prstGeom prst="rect">
            <a:avLst/>
          </a:prstGeom>
          <a:noFill/>
          <a:ln>
            <a:noFill/>
          </a:ln>
        </p:spPr>
      </p:pic>
      <p:sp>
        <p:nvSpPr>
          <p:cNvPr id="220" name="Google Shape;220;p17"/>
          <p:cNvSpPr txBox="1">
            <a:spLocks noGrp="1"/>
          </p:cNvSpPr>
          <p:nvPr>
            <p:ph type="title"/>
          </p:nvPr>
        </p:nvSpPr>
        <p:spPr>
          <a:xfrm>
            <a:off x="854550" y="631210"/>
            <a:ext cx="12921300" cy="1208700"/>
          </a:xfrm>
          <a:prstGeom prst="rect">
            <a:avLst/>
          </a:prstGeom>
          <a:noFill/>
          <a:ln>
            <a:noFill/>
          </a:ln>
        </p:spPr>
        <p:txBody>
          <a:bodyPr spcFirstLastPara="1" wrap="square" lIns="91425" tIns="91425" rIns="91425" bIns="91425" anchor="t" anchorCtr="0">
            <a:noAutofit/>
          </a:bodyPr>
          <a:lstStyle/>
          <a:p>
            <a:pPr lvl="0"/>
            <a:r>
              <a:rPr lang="en-US" sz="3500" dirty="0">
                <a:solidFill>
                  <a:srgbClr val="0066CC"/>
                </a:solidFill>
              </a:rPr>
              <a:t>Why Marcelo Pacheco Alvaro Scores Exceptionally Across Behavioral Dimensions</a:t>
            </a:r>
            <a:r>
              <a:rPr lang="en-US" sz="3500" dirty="0" err="1"/>
              <a:t/>
            </a:r>
            <a:r>
              <a:rPr lang="en-US" sz="3500" dirty="0"/>
              <a:t/>
            </a:r>
            <a:endParaRPr sz="3500" dirty="0"/>
          </a:p>
        </p:txBody>
      </p:sp>
      <p:sp>
        <p:nvSpPr>
          <p:cNvPr id="221" name="Google Shape;221;p17"/>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8"/>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28" name="Google Shape;228;p18"/>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grpSp>
        <p:nvGrpSpPr>
          <p:cNvPr id="229" name="Google Shape;229;p18"/>
          <p:cNvGrpSpPr/>
          <p:nvPr/>
        </p:nvGrpSpPr>
        <p:grpSpPr>
          <a:xfrm>
            <a:off x="1049227" y="2775084"/>
            <a:ext cx="12531943" cy="3246210"/>
            <a:chOff x="1518225" y="2327475"/>
            <a:chExt cx="6654600" cy="3045225"/>
          </a:xfrm>
        </p:grpSpPr>
        <p:sp>
          <p:nvSpPr>
            <p:cNvPr id="230" name="Google Shape;230;p18"/>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HackerRank</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31" name="Google Shape;231;p18"/>
            <p:cNvSpPr txBox="1"/>
            <p:nvPr/>
          </p:nvSpPr>
          <p:spPr>
            <a:xfrm>
              <a:off x="1518225" y="2894100"/>
              <a:ext cx="6654600" cy="2478600"/>
            </a:xfrm>
            <a:prstGeom prst="rect">
              <a:avLst/>
            </a:prstGeom>
            <a:noFill/>
            <a:ln>
              <a:noFill/>
            </a:ln>
          </p:spPr>
          <p:txBody>
            <a:bodyPr spcFirstLastPara="1" wrap="square" lIns="97450" tIns="97450" rIns="97450" bIns="97450" anchor="t" anchorCtr="0">
              <a:spAutoFit/>
            </a:bodyPr>
            <a:lstStyle/>
            <a:p>
              <a:pPr marL="457200" marR="0" lvl="0" indent="-298450" algn="l" rtl="0">
                <a:lnSpc>
                  <a:spcPct val="115000"/>
                </a:lnSpc>
                <a:spcBef>
                  <a:spcPts val="120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Validates candidates’ ability to solve real engineering problems under real constraints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practical coding ability across backend, frontend, full-stack, and algorithmic challenges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Provides global benchmarking to compare candidates fairly and consistently</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engineering hires meet a high technical bar before interviewing with clients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DataCamp by evaluating the software engineering side of AI-native development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32" name="Google Shape;232;p18"/>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39" name="Google Shape;239;p1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grpSp>
        <p:nvGrpSpPr>
          <p:cNvPr id="240" name="Google Shape;240;p19"/>
          <p:cNvGrpSpPr/>
          <p:nvPr/>
        </p:nvGrpSpPr>
        <p:grpSpPr>
          <a:xfrm>
            <a:off x="854550" y="2791681"/>
            <a:ext cx="12531943" cy="2174320"/>
            <a:chOff x="1518225" y="2327475"/>
            <a:chExt cx="6654600" cy="2039700"/>
          </a:xfrm>
        </p:grpSpPr>
        <p:sp>
          <p:nvSpPr>
            <p:cNvPr id="241" name="Google Shape;241;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2" name="Google Shape;242;p19"/>
            <p:cNvSpPr txBox="1"/>
            <p:nvPr/>
          </p:nvSpPr>
          <p:spPr>
            <a:xfrm>
              <a:off x="1518225" y="2894100"/>
              <a:ext cx="6654600" cy="1383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The HackerRank Full-Stack Developer Test measures an engineer's ability to build an end-to-end application including front-end, back-end, and database layers. It simulates real production constraints and evaluates both technical execution and engineering judgment.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3" name="Google Shape;243;p19"/>
          <p:cNvGrpSpPr/>
          <p:nvPr/>
        </p:nvGrpSpPr>
        <p:grpSpPr>
          <a:xfrm>
            <a:off x="854550" y="4564822"/>
            <a:ext cx="7093804" cy="3047778"/>
            <a:chOff x="-3583229" y="2426185"/>
            <a:chExt cx="6654600" cy="2859079"/>
          </a:xfrm>
        </p:grpSpPr>
        <p:sp>
          <p:nvSpPr>
            <p:cNvPr id="244" name="Google Shape;244;p19"/>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5" name="Google Shape;245;p19"/>
            <p:cNvSpPr txBox="1"/>
            <p:nvPr/>
          </p:nvSpPr>
          <p:spPr>
            <a:xfrm>
              <a:off x="-3583229" y="2949764"/>
              <a:ext cx="6654600" cy="23355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REST API design and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CRUD functionality and routing logic</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Input validation and error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Service and controller architecture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Security and defensive programming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6" name="Google Shape;246;p19"/>
          <p:cNvGrpSpPr/>
          <p:nvPr/>
        </p:nvGrpSpPr>
        <p:grpSpPr>
          <a:xfrm>
            <a:off x="7159520" y="4451222"/>
            <a:ext cx="7093804" cy="3504928"/>
            <a:chOff x="1518225" y="2327475"/>
            <a:chExt cx="6654600" cy="3287925"/>
          </a:xfrm>
        </p:grpSpPr>
        <p:sp>
          <p:nvSpPr>
            <p:cNvPr id="247" name="Google Shape;247;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Front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8" name="Google Shape;248;p19"/>
            <p:cNvSpPr txBox="1"/>
            <p:nvPr/>
          </p:nvSpPr>
          <p:spPr>
            <a:xfrm>
              <a:off x="1518225" y="2894100"/>
              <a:ext cx="6654600" cy="2721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Dynamic component rendering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API consumption and state management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Loading and error state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Responsive layouts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Clean, modular UI code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49" name="Google Shape;249;p19"/>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0"/>
          <p:cNvSpPr txBox="1">
            <a:spLocks noGrp="1"/>
          </p:cNvSpPr>
          <p:nvPr>
            <p:ph type="sldNum" idx="12"/>
          </p:nvPr>
        </p:nvSpPr>
        <p:spPr>
          <a:xfrm>
            <a:off x="8611604" y="6694723"/>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56" name="Google Shape;256;p20"/>
          <p:cNvGrpSpPr/>
          <p:nvPr/>
        </p:nvGrpSpPr>
        <p:grpSpPr>
          <a:xfrm>
            <a:off x="854552" y="4834831"/>
            <a:ext cx="12531943" cy="2489883"/>
            <a:chOff x="1518225" y="2327475"/>
            <a:chExt cx="6654600" cy="2335725"/>
          </a:xfrm>
        </p:grpSpPr>
        <p:sp>
          <p:nvSpPr>
            <p:cNvPr id="257" name="Google Shape;257;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What Strong Performance Indicates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58" name="Google Shape;258;p20"/>
            <p:cNvSpPr txBox="1"/>
            <p:nvPr/>
          </p:nvSpPr>
          <p:spPr>
            <a:xfrm>
              <a:off x="1518225" y="2894100"/>
              <a:ext cx="6654600" cy="17691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Demonstrates ability to deliver independently in real environments without needing senior oversight. Shows confidence creating reliable backend logic, functional UI, and proper data architecture. Proves capability to ship complete features from database to user interface.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59" name="Google Shape;259;p20"/>
          <p:cNvGrpSpPr/>
          <p:nvPr/>
        </p:nvGrpSpPr>
        <p:grpSpPr>
          <a:xfrm>
            <a:off x="938752" y="2196797"/>
            <a:ext cx="7093804" cy="2745887"/>
            <a:chOff x="-3583229" y="2426185"/>
            <a:chExt cx="6654600" cy="2575879"/>
          </a:xfrm>
        </p:grpSpPr>
        <p:sp>
          <p:nvSpPr>
            <p:cNvPr id="260" name="Google Shape;260;p20"/>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Database &amp; Data Modeling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1" name="Google Shape;261;p20"/>
            <p:cNvSpPr txBox="1"/>
            <p:nvPr/>
          </p:nvSpPr>
          <p:spPr>
            <a:xfrm>
              <a:off x="-3583229" y="2949764"/>
              <a:ext cx="6654600" cy="2052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Schema design and relationships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integrity and constraints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Efficient query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Migrations and indexes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62" name="Google Shape;262;p20"/>
          <p:cNvGrpSpPr/>
          <p:nvPr/>
        </p:nvGrpSpPr>
        <p:grpSpPr>
          <a:xfrm>
            <a:off x="7134370" y="2196797"/>
            <a:ext cx="7093804" cy="3614300"/>
            <a:chOff x="1518225" y="2327475"/>
            <a:chExt cx="6654600" cy="3390525"/>
          </a:xfrm>
        </p:grpSpPr>
        <p:sp>
          <p:nvSpPr>
            <p:cNvPr id="263" name="Google Shape;263;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Code Quality &amp; System Integration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4" name="Google Shape;264;p20"/>
            <p:cNvSpPr txBox="1"/>
            <p:nvPr/>
          </p:nvSpPr>
          <p:spPr>
            <a:xfrm>
              <a:off x="1518225" y="2894100"/>
              <a:ext cx="6654600" cy="28239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Modularity and maintainability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Clear naming and documentation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End-to-end system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Production-ready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65" name="Google Shape;265;p20"/>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1"/>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72" name="Google Shape;272;p21"/>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sp>
        <p:nvSpPr>
          <p:cNvPr id="273" name="Google Shape;273;p21"/>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grpSp>
        <p:nvGrpSpPr>
          <p:cNvPr id="274" name="Google Shape;274;p21"/>
          <p:cNvGrpSpPr/>
          <p:nvPr/>
        </p:nvGrpSpPr>
        <p:grpSpPr>
          <a:xfrm>
            <a:off x="980827" y="3104659"/>
            <a:ext cx="12531943" cy="3547461"/>
            <a:chOff x="1518225" y="2327475"/>
            <a:chExt cx="6654600" cy="3327825"/>
          </a:xfrm>
        </p:grpSpPr>
        <p:sp>
          <p:nvSpPr>
            <p:cNvPr id="275" name="Google Shape;275;p21"/>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lvl="0">
                <a:buSzPts val="2858"/>
              </a:pPr>
              <a:r>
                <a:rPr lang="en-US" sz="2860" b="0" i="0" u="none" strike="noStrike" cap="none" dirty="0">
                  <a:solidFill>
                    <a:srgbClr val="0066CC"/>
                  </a:solidFill>
                  <a:latin typeface="Urbanist Medium" panose="020B0A04040200000203"/>
                  <a:ea typeface="Urbanist Medium" panose="020B0A04040200000203"/>
                  <a:cs typeface="Urbanist Medium" panose="020B0A04040200000203"/>
                  <a:sym typeface="Urbanist Medium" panose="020B0A04040200000203"/>
                </a:rPr>
                <a:t>⭐ Marcelo Pacheco Alvaro scored in the top decile</a:t>
              </a:r>
              <a:r>
                <a:rPr lang="en-US" sz="28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dirty="0" err="1">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endParaRPr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76" name="Google Shape;276;p21"/>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data structures and algorithms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Optimizing code for performance and scalability</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Building real-world backend and full-stack solutions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Problem-solving under time and constraint conditions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Writing clean, maintainable, production-ready code</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2"/>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83" name="Google Shape;283;p22"/>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84" name="Google Shape;284;p22"/>
          <p:cNvGrpSpPr/>
          <p:nvPr/>
        </p:nvGrpSpPr>
        <p:grpSpPr>
          <a:xfrm>
            <a:off x="1049227" y="2775084"/>
            <a:ext cx="12531943" cy="2856054"/>
            <a:chOff x="1518225" y="2327475"/>
            <a:chExt cx="6654600" cy="2679225"/>
          </a:xfrm>
        </p:grpSpPr>
        <p:sp>
          <p:nvSpPr>
            <p:cNvPr id="285" name="Google Shape;285;p22"/>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DataCamp</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86" name="Google Shape;286;p22"/>
            <p:cNvSpPr txBox="1"/>
            <p:nvPr/>
          </p:nvSpPr>
          <p:spPr>
            <a:xfrm>
              <a:off x="1518225" y="2894100"/>
              <a:ext cx="6654600" cy="2112600"/>
            </a:xfrm>
            <a:prstGeom prst="rect">
              <a:avLst/>
            </a:prstGeom>
            <a:noFill/>
            <a:ln>
              <a:noFill/>
            </a:ln>
          </p:spPr>
          <p:txBody>
            <a:bodyPr spcFirstLastPara="1" wrap="square" lIns="97450" tIns="97450" rIns="97450" bIns="97450" anchor="t" anchorCtr="0">
              <a:spAutoFit/>
            </a:bodyPr>
            <a:lstStyle/>
            <a:p>
              <a:pPr marL="457200" marR="0" lvl="0" indent="-330200" algn="l" rtl="0">
                <a:lnSpc>
                  <a:spcPct val="115000"/>
                </a:lnSpc>
                <a:spcBef>
                  <a:spcPts val="120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candidates have real foundations in AI, ML, and data workflows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Widely recognized and trusted by engineering teams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Allows apples-to-apples comparison between global talent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HackerRank by evaluating the AI side of engineering</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87" name="Google Shape;287;p22"/>
          <p:cNvSpPr txBox="1"/>
          <p:nvPr/>
        </p:nvSpPr>
        <p:spPr>
          <a:xfrm>
            <a:off x="980825" y="1838350"/>
            <a:ext cx="12795000" cy="911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258"/>
              <a:buFont typeface="Arial" panose="020B0604020202020204"/>
              <a:buNone/>
            </a:pP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23"/>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94" name="Google Shape;294;p23"/>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95" name="Google Shape;295;p23"/>
          <p:cNvGrpSpPr/>
          <p:nvPr/>
        </p:nvGrpSpPr>
        <p:grpSpPr>
          <a:xfrm>
            <a:off x="980827" y="2438631"/>
            <a:ext cx="12531943" cy="1365466"/>
            <a:chOff x="1518225" y="2327475"/>
            <a:chExt cx="6654600" cy="1280925"/>
          </a:xfrm>
        </p:grpSpPr>
        <p:sp>
          <p:nvSpPr>
            <p:cNvPr id="296" name="Google Shape;296;p23"/>
            <p:cNvSpPr txBox="1"/>
            <p:nvPr/>
          </p:nvSpPr>
          <p:spPr>
            <a:xfrm>
              <a:off x="1518225" y="2327475"/>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97" name="Google Shape;297;p23"/>
            <p:cNvSpPr txBox="1"/>
            <p:nvPr/>
          </p:nvSpPr>
          <p:spPr>
            <a:xfrm>
              <a:off x="1518225" y="2894100"/>
              <a:ext cx="6654600" cy="714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855"/>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assessments validate foundational and applied skills in statistics, data manipulation, AI concepts, and machine learning using Python. Each assessment measures practical abilities required in modern AI engineering workflows.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98" name="Google Shape;298;p23"/>
          <p:cNvGrpSpPr/>
          <p:nvPr/>
        </p:nvGrpSpPr>
        <p:grpSpPr>
          <a:xfrm>
            <a:off x="980815" y="4056672"/>
            <a:ext cx="7093804" cy="3156190"/>
            <a:chOff x="-3583229" y="2426185"/>
            <a:chExt cx="6654600" cy="2960779"/>
          </a:xfrm>
        </p:grpSpPr>
        <p:sp>
          <p:nvSpPr>
            <p:cNvPr id="299" name="Google Shape;299;p23"/>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Statistic Fundamentals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0" name="Google Shape;300;p23"/>
            <p:cNvSpPr txBox="1"/>
            <p:nvPr/>
          </p:nvSpPr>
          <p:spPr>
            <a:xfrm>
              <a:off x="-3583229" y="2949764"/>
              <a:ext cx="6654600" cy="24372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Descriptive statistics and distributions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Probability concepts and events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Hypothesis testing foundations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Statistical interpretation</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01" name="Google Shape;301;p23"/>
          <p:cNvGrpSpPr/>
          <p:nvPr/>
        </p:nvGrpSpPr>
        <p:grpSpPr>
          <a:xfrm>
            <a:off x="7176432" y="4056672"/>
            <a:ext cx="7093804" cy="4024603"/>
            <a:chOff x="1518225" y="2327475"/>
            <a:chExt cx="6654600" cy="3775425"/>
          </a:xfrm>
        </p:grpSpPr>
        <p:sp>
          <p:nvSpPr>
            <p:cNvPr id="302" name="Google Shape;302;p23"/>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 Manipulation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3" name="Google Shape;303;p23"/>
            <p:cNvSpPr txBox="1"/>
            <p:nvPr/>
          </p:nvSpPr>
          <p:spPr>
            <a:xfrm>
              <a:off x="1518225" y="2894100"/>
              <a:ext cx="6654600" cy="32088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Pandas for data operations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cleaning and transformations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Grouping and aggregating data</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Preparing data for ML workflows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304" name="Google Shape;304;p23"/>
          <p:cNvSpPr txBox="1"/>
          <p:nvPr/>
        </p:nvSpPr>
        <p:spPr>
          <a:xfrm>
            <a:off x="980825" y="1838350"/>
            <a:ext cx="12795000" cy="347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24"/>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11" name="Google Shape;311;p24"/>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312" name="Google Shape;312;p24"/>
          <p:cNvGrpSpPr/>
          <p:nvPr/>
        </p:nvGrpSpPr>
        <p:grpSpPr>
          <a:xfrm>
            <a:off x="770352" y="4815056"/>
            <a:ext cx="12531943" cy="3072217"/>
            <a:chOff x="1518225" y="2327475"/>
            <a:chExt cx="6654600" cy="2882004"/>
          </a:xfrm>
        </p:grpSpPr>
        <p:sp>
          <p:nvSpPr>
            <p:cNvPr id="313" name="Google Shape;313;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Complete AI &amp; Engineering Foundation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4" name="Google Shape;314;p24"/>
            <p:cNvSpPr txBox="1"/>
            <p:nvPr/>
          </p:nvSpPr>
          <p:spPr>
            <a:xfrm>
              <a:off x="1518225" y="2894100"/>
              <a:ext cx="6654600" cy="2315379"/>
            </a:xfrm>
            <a:prstGeom prst="rect">
              <a:avLst/>
            </a:prstGeom>
            <a:noFill/>
            <a:ln>
              <a:noFill/>
            </a:ln>
          </p:spPr>
          <p:txBody>
            <a:bodyPr spcFirstLastPara="1" wrap="square" lIns="97450" tIns="97450" rIns="97450" bIns="97450" anchor="t" anchorCtr="0">
              <a:spAutoFit/>
            </a:bodyPr>
            <a:lstStyle/>
            <a:p>
              <a:pPr lvl="0">
                <a:lnSpc>
                  <a:spcPct val="115000"/>
                </a:lnSpc>
                <a:buSzPts val="1704"/>
              </a:pPr>
              <a:r>
                <a:rPr lang="en-US" sz="1705" dirty="0">
                  <a:solidFill>
                    <a:srgbClr val="0066CC"/>
                  </a:solidFill>
                  <a:latin typeface="Urbanist Light" panose="020B0A04040200000203"/>
                  <a:ea typeface="Urbanist Light" panose="020B0A04040200000203"/>
                  <a:cs typeface="Urbanist Light" panose="020B0A04040200000203"/>
                  <a:sym typeface="Urbanist Light" panose="020B0A04040200000203"/>
                </a:rPr>
                <a:t>Marcelo Pacheco Alvaro has successfully completed all four DataCamp skill assessments, demonstrating comprehensive proficiency across statistics, data manipulation, AI fundamentals, and machine learning. This validates his ability to work effectively across the entire data-to-AI pipeline and collaborate seamlessly with data science teams.</a:t>
              </a:r>
              <a:r>
                <a:rPr lang="en-US" sz="1705"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5" name="Google Shape;315;p24"/>
          <p:cNvGrpSpPr/>
          <p:nvPr/>
        </p:nvGrpSpPr>
        <p:grpSpPr>
          <a:xfrm>
            <a:off x="854552" y="2177023"/>
            <a:ext cx="7093804" cy="2744928"/>
            <a:chOff x="-3583229" y="2426185"/>
            <a:chExt cx="6654600" cy="2574979"/>
          </a:xfrm>
        </p:grpSpPr>
        <p:sp>
          <p:nvSpPr>
            <p:cNvPr id="316" name="Google Shape;316;p24"/>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Fundamentals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7" name="Google Shape;317;p24"/>
            <p:cNvSpPr txBox="1"/>
            <p:nvPr/>
          </p:nvSpPr>
          <p:spPr>
            <a:xfrm>
              <a:off x="-3583229" y="2949764"/>
              <a:ext cx="6654600" cy="20514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 terminology and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vs DL distinctions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types and paradigms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Ethical AI considerations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8" name="Google Shape;318;p24"/>
          <p:cNvGrpSpPr/>
          <p:nvPr/>
        </p:nvGrpSpPr>
        <p:grpSpPr>
          <a:xfrm>
            <a:off x="7050170" y="2177022"/>
            <a:ext cx="7093804" cy="4017887"/>
            <a:chOff x="1518225" y="2327475"/>
            <a:chExt cx="6654600" cy="3769125"/>
          </a:xfrm>
        </p:grpSpPr>
        <p:sp>
          <p:nvSpPr>
            <p:cNvPr id="319" name="Google Shape;319;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Machine Learning Fundamentals in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20" name="Google Shape;320;p24"/>
            <p:cNvSpPr txBox="1"/>
            <p:nvPr/>
          </p:nvSpPr>
          <p:spPr>
            <a:xfrm>
              <a:off x="1518225" y="2894100"/>
              <a:ext cx="6654600" cy="32025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Supervised learning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training and evaluation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Performance metrics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Feature engineering with scikit-learn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5"/>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27" name="Google Shape;327;p25"/>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sp>
        <p:nvSpPr>
          <p:cNvPr id="328" name="Google Shape;328;p25"/>
          <p:cNvSpPr txBox="1"/>
          <p:nvPr/>
        </p:nvSpPr>
        <p:spPr>
          <a:xfrm>
            <a:off x="980825" y="1838350"/>
            <a:ext cx="12795000" cy="1132618"/>
          </a:xfrm>
          <a:prstGeom prst="rect">
            <a:avLst/>
          </a:prstGeom>
          <a:noFill/>
          <a:ln>
            <a:noFill/>
          </a:ln>
        </p:spPr>
        <p:txBody>
          <a:bodyPr spcFirstLastPara="1" wrap="square" lIns="0" tIns="0" rIns="0" bIns="0" anchor="t" anchorCtr="0">
            <a:spAutoFit/>
          </a:bodyPr>
          <a:lstStyle/>
          <a:p>
            <a:pPr lvl="0">
              <a:lnSpc>
                <a:spcPct val="115000"/>
              </a:lnSpc>
              <a:spcBef>
                <a:spcPts val="1280"/>
              </a:spcBef>
              <a:spcAft>
                <a:spcPts val="1280"/>
              </a:spcAft>
              <a:buSzPts val="2258"/>
            </a:pPr>
            <a:r>
              <a:rPr lang="en-US" sz="2260" b="1" dirty="0">
                <a:solidFill>
                  <a:srgbClr val="0066CC"/>
                </a:solidFill>
                <a:latin typeface="Urbanist" panose="020B0A04040200000203"/>
                <a:ea typeface="Urbanist" panose="020B0A04040200000203"/>
                <a:cs typeface="Urbanist" panose="020B0A04040200000203"/>
                <a:sym typeface="Urbanist" panose="020B0A04040200000203"/>
              </a:rPr>
              <a:t>Marcelo Pacheco Alvaro scored 100% on DataCamp’s AI Assessment. This places him among the highest performers on a platform used globally to validate AI and ML engineering skills.</a:t>
            </a:r>
            <a:r>
              <a:rPr lang="en-US" sz="2260" b="1" dirty="0" err="1">
                <a:solidFill>
                  <a:schemeClr val="dk1"/>
                </a:solidFill>
                <a:latin typeface="Urbanist" panose="020B0A04040200000203"/>
                <a:ea typeface="Urbanist" panose="020B0A04040200000203"/>
                <a:cs typeface="Urbanist" panose="020B0A04040200000203"/>
                <a:sym typeface="Urbanist" panose="020B0A04040200000203"/>
              </a:rPr>
              <a:t/>
            </a:r>
            <a:r>
              <a:rPr lang="en-US" sz="2260" b="1"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err="1">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26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29" name="Google Shape;329;p25"/>
          <p:cNvGrpSpPr/>
          <p:nvPr/>
        </p:nvGrpSpPr>
        <p:grpSpPr>
          <a:xfrm>
            <a:off x="980827" y="3104659"/>
            <a:ext cx="12531943" cy="3547461"/>
            <a:chOff x="1518225" y="2327475"/>
            <a:chExt cx="6654600" cy="3327825"/>
          </a:xfrm>
        </p:grpSpPr>
        <p:sp>
          <p:nvSpPr>
            <p:cNvPr id="330" name="Google Shape;330;p25"/>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in AI Fundamentals</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31" name="Google Shape;331;p25"/>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AI concepts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pipelines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Responsible AI</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Practical use cases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AI-assisted development workflows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26"/>
          <p:cNvSpPr/>
          <p:nvPr/>
        </p:nvSpPr>
        <p:spPr>
          <a:xfrm>
            <a:off x="3953850" y="2777550"/>
            <a:ext cx="6722700" cy="41325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8" name="Google Shape;338;p2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39" name="Google Shape;339;p26"/>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Executive Summary</a:t>
            </a:r>
            <a:endParaRPr lang="en-US"/>
          </a:p>
        </p:txBody>
      </p:sp>
      <p:sp>
        <p:nvSpPr>
          <p:cNvPr id="340" name="Google Shape;340;p26"/>
          <p:cNvSpPr txBox="1"/>
          <p:nvPr/>
        </p:nvSpPr>
        <p:spPr>
          <a:xfrm>
            <a:off x="984850" y="1957400"/>
            <a:ext cx="10682400" cy="732508"/>
          </a:xfrm>
          <a:prstGeom prst="rect">
            <a:avLst/>
          </a:prstGeom>
          <a:noFill/>
          <a:ln>
            <a:noFill/>
          </a:ln>
        </p:spPr>
        <p:txBody>
          <a:bodyPr spcFirstLastPara="1" wrap="square" lIns="0" tIns="0" rIns="0" bIns="0" anchor="t" anchorCtr="0">
            <a:spAutoFit/>
          </a:bodyPr>
          <a:lstStyle/>
          <a:p>
            <a:pPr lvl="0">
              <a:lnSpc>
                <a:spcPct val="115000"/>
              </a:lnSpc>
              <a:spcBef>
                <a:spcPts val="1200"/>
              </a:spcBef>
              <a:spcAft>
                <a:spcPts val="1200"/>
              </a:spcAft>
              <a:buSzPts val="2400"/>
            </a:pPr>
            <a:r>
              <a:rPr lang="en-US" sz="2400" b="0" i="0" u="none" strike="noStrike" cap="none" dirty="0">
                <a:solidFill>
                  <a:srgbClr val="0066CC"/>
                </a:solidFill>
                <a:latin typeface="Urbanist Light" panose="020B0A04040200000203"/>
                <a:ea typeface="Urbanist Light" panose="020B0A04040200000203"/>
                <a:cs typeface="Urbanist Light" panose="020B0A04040200000203"/>
                <a:sym typeface="Urbanist Light" panose="020B0A04040200000203"/>
              </a:rPr>
              <a:t>Why We Recommend Marcelo Pacheco Alvaro as a Top 0.01% AI-Native Engineer</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41" name="Google Shape;341;p26"/>
          <p:cNvSpPr txBox="1"/>
          <p:nvPr/>
        </p:nvSpPr>
        <p:spPr>
          <a:xfrm>
            <a:off x="4232350" y="3024561"/>
            <a:ext cx="3252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Technical Excellence</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42" name="Google Shape;342;p26"/>
          <p:cNvSpPr txBox="1"/>
          <p:nvPr/>
        </p:nvSpPr>
        <p:spPr>
          <a:xfrm>
            <a:off x="4110600" y="3614511"/>
            <a:ext cx="6409200" cy="22656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Built production backend systems used by real users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Designed scalable infrastructure</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Implemented AI-powered backend pipelines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Strong ownership and execution ability</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100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Excellent technical communication</a:t>
            </a:r>
            <a:endParaRPr sz="17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7"/>
          <p:cNvSpPr/>
          <p:nvPr/>
        </p:nvSpPr>
        <p:spPr>
          <a:xfrm>
            <a:off x="9062425" y="2316375"/>
            <a:ext cx="38808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9" name="Google Shape;349;p27"/>
          <p:cNvSpPr/>
          <p:nvPr/>
        </p:nvSpPr>
        <p:spPr>
          <a:xfrm>
            <a:off x="9376525" y="3003675"/>
            <a:ext cx="3252600" cy="2550300"/>
          </a:xfrm>
          <a:prstGeom prst="roundRect">
            <a:avLst>
              <a:gd name="adj" fmla="val 4810"/>
            </a:avLst>
          </a:prstGeom>
          <a:solidFill>
            <a:srgbClr val="F3F3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0" name="Google Shape;350;p27"/>
          <p:cNvSpPr/>
          <p:nvPr/>
        </p:nvSpPr>
        <p:spPr>
          <a:xfrm>
            <a:off x="1687175" y="2316375"/>
            <a:ext cx="67227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1" name="Google Shape;351;p2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52" name="Google Shape;352;p27"/>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Why We Recommend Hiring in Pairs</a:t>
            </a:r>
            <a:endParaRPr lang="en-US"/>
          </a:p>
        </p:txBody>
      </p:sp>
      <p:sp>
        <p:nvSpPr>
          <p:cNvPr id="353" name="Google Shape;353;p27"/>
          <p:cNvSpPr txBox="1"/>
          <p:nvPr/>
        </p:nvSpPr>
        <p:spPr>
          <a:xfrm>
            <a:off x="1919775" y="2550650"/>
            <a:ext cx="49461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Here’s our recommendation:</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54" name="Google Shape;354;p27"/>
          <p:cNvSpPr txBox="1"/>
          <p:nvPr/>
        </p:nvSpPr>
        <p:spPr>
          <a:xfrm>
            <a:off x="2000825" y="3429839"/>
            <a:ext cx="6548700" cy="20163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Ensures continuity if one engineer is unavailable</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Faster onboarding &amp; higher output</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Shared context reduces risk for clients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100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Industry standard used by top tech agencies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55" name="Google Shape;355;p27"/>
          <p:cNvSpPr txBox="1"/>
          <p:nvPr/>
        </p:nvSpPr>
        <p:spPr>
          <a:xfrm>
            <a:off x="9622100" y="3411050"/>
            <a:ext cx="3006900" cy="2090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rgbClr val="000000"/>
              </a:buClr>
              <a:buSzPts val="1800"/>
              <a:buFont typeface="Arial" panose="020B0604020202020204"/>
              <a:buNone/>
            </a:pPr>
            <a:r>
              <a:rPr lang="en-US"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rPr>
              <a:t>Ready to Move Forward?</a:t>
            </a:r>
            <a:endParaRPr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a:p>
            <a:pPr marL="0" marR="292100" lvl="0" indent="0" algn="l" rtl="0">
              <a:lnSpc>
                <a:spcPct val="115000"/>
              </a:lnSpc>
              <a:spcBef>
                <a:spcPts val="3000"/>
              </a:spcBef>
              <a:spcAft>
                <a:spcPts val="0"/>
              </a:spcAft>
              <a:buClr>
                <a:schemeClr val="dk1"/>
              </a:buClr>
              <a:buSzPts val="1100"/>
              <a:buFont typeface="Arial" panose="020B0604020202020204"/>
              <a:buNone/>
            </a:pP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Contact FutureProofing.Dev to schedule </a:t>
            </a: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the </a:t>
            </a: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final interview</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800"/>
              <a:buFont typeface="Arial" panose="020B0604020202020204"/>
              <a:buNone/>
            </a:pP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EEFF5"/>
        </a:solidFill>
        <a:effectLst/>
      </p:bgPr>
    </p:bg>
    <p:spTree>
      <p:nvGrpSpPr>
        <p:cNvPr id="1" name="Shape 360"/>
        <p:cNvGrpSpPr/>
        <p:nvPr/>
      </p:nvGrpSpPr>
      <p:grpSpPr>
        <a:xfrm>
          <a:off x="0" y="0"/>
          <a:ext cx="0" cy="0"/>
          <a:chOff x="0" y="0"/>
          <a:chExt cx="0" cy="0"/>
        </a:xfrm>
      </p:grpSpPr>
      <p:sp>
        <p:nvSpPr>
          <p:cNvPr id="361" name="Google Shape;361;p28"/>
          <p:cNvSpPr txBox="1"/>
          <p:nvPr/>
        </p:nvSpPr>
        <p:spPr>
          <a:xfrm>
            <a:off x="1354250" y="1725600"/>
            <a:ext cx="9479700" cy="215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Start Hiring Elite</a:t>
            </a:r>
            <a:endParaRPr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6400"/>
              <a:buFont typeface="Arial" panose="020B0604020202020204"/>
              <a:buNone/>
            </a:pP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 Talent </a:t>
            </a:r>
            <a:r>
              <a:rPr lang="en-US"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Today.</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2" name="Google Shape;362;p28"/>
          <p:cNvSpPr txBox="1"/>
          <p:nvPr/>
        </p:nvSpPr>
        <p:spPr>
          <a:xfrm>
            <a:off x="1354250" y="6248975"/>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3" name="Google Shape;363;p28"/>
          <p:cNvSpPr txBox="1"/>
          <p:nvPr/>
        </p:nvSpPr>
        <p:spPr>
          <a:xfrm>
            <a:off x="10365350" y="6141275"/>
            <a:ext cx="2600400" cy="769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Contact Us</a:t>
            </a: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rPr>
              <a:t>info@futureproofing.dev</a:t>
            </a:r>
            <a:endParaRPr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64" name="Google Shape;364;p28"/>
          <p:cNvSpPr/>
          <p:nvPr/>
        </p:nvSpPr>
        <p:spPr>
          <a:xfrm>
            <a:off x="1469975" y="4255700"/>
            <a:ext cx="2245500" cy="4233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7068F4"/>
                </a:solidFill>
                <a:latin typeface="Urbanist Light" panose="020B0A04040200000203"/>
                <a:ea typeface="Urbanist Light" panose="020B0A04040200000203"/>
                <a:cs typeface="Urbanist Light" panose="020B0A04040200000203"/>
                <a:sym typeface="Urbanist Light" panose="020B0A04040200000203"/>
              </a:rPr>
              <a:t>Start hiring</a:t>
            </a:r>
            <a:endParaRPr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5" name="Google Shape;365;p28"/>
          <p:cNvSpPr/>
          <p:nvPr/>
        </p:nvSpPr>
        <p:spPr>
          <a:xfrm>
            <a:off x="3333500" y="4334300"/>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6" name="Google Shape;366;p28"/>
          <p:cNvSpPr/>
          <p:nvPr/>
        </p:nvSpPr>
        <p:spPr>
          <a:xfrm>
            <a:off x="3262206" y="4334300"/>
            <a:ext cx="266100" cy="266100"/>
          </a:xfrm>
          <a:prstGeom prst="ellipse">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10925</Words>
  <Application>WPS 演示</Application>
  <PresentationFormat>Personalizado</PresentationFormat>
  <Paragraphs>648</Paragraphs>
  <Slides>24</Slides>
  <Notes>24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Arial</vt:lpstr>
      <vt:lpstr>SimSun</vt:lpstr>
      <vt:lpstr>Wingdings</vt:lpstr>
      <vt:lpstr>Arial</vt:lpstr>
      <vt:lpstr>Urbanist Light</vt:lpstr>
      <vt:lpstr>Urbanist Medium</vt:lpstr>
      <vt:lpstr>Urbanist</vt:lpstr>
      <vt:lpstr>Calibri</vt:lpstr>
      <vt:lpstr>Microsoft YaHei</vt:lpstr>
      <vt:lpstr>Arial Unicode MS</vt:lpstr>
      <vt:lpstr>Office Theme</vt:lpstr>
      <vt:lpstr>PowerPoint 演示文稿</vt:lpstr>
      <vt:lpstr>We Review Hundreds of Engineers - Only ~1% Make It This Far. [candidate_name] Is One of Them.</vt:lpstr>
      <vt:lpstr>Why [candidate_name] Beats 99.99% of Applicants</vt:lpstr>
      <vt:lpstr>[candidate_name] Is a Back-End AI-Native Engineer With Production-Level Experience Across Modern Systems</vt:lpstr>
      <vt:lpstr>Deep AI Project Experience</vt:lpstr>
      <vt:lpstr>Deep AI Project Experience</vt:lpstr>
      <vt:lpstr>[candidate_name]’s Track Record of High-Impact Engineering Work</vt:lpstr>
      <vt:lpstr>[candidate_name]’s Track Record of High-Impact Engineering Work</vt:lpstr>
      <vt:lpstr>Where [candidate_name] Has Delivered Impact</vt:lpstr>
      <vt:lpstr>Behavioral Assessment Framework</vt:lpstr>
      <vt:lpstr>Behavioral Assessment Framework</vt:lpstr>
      <vt:lpstr>Why [candidate_name] Scores Exceptionally Across Behavioral Dimensions</vt:lpstr>
      <vt:lpstr>Why [candidate_name] Scores Exceptionally Across Behavioral Dimensions</vt:lpstr>
      <vt:lpstr>HackerRank Full-Stack Tech Assessment</vt:lpstr>
      <vt:lpstr>HackerRank Full-Stack Tech Assessment</vt:lpstr>
      <vt:lpstr>HackerRank Full-Stack Tech Assessment</vt:lpstr>
      <vt:lpstr>HackerRank Full-Stack Tech Assessment</vt:lpstr>
      <vt:lpstr>DataCamp Skill Assessments</vt:lpstr>
      <vt:lpstr>DataCamp Skill Assessments</vt:lpstr>
      <vt:lpstr>DataCamp Skill Assessments</vt:lpstr>
      <vt:lpstr>DataCamp Skill Assessments</vt:lpstr>
      <vt:lpstr>Executive Summary</vt:lpstr>
      <vt:lpstr>Why We Recommend Hiring in Pairs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5</cp:revision>
  <dcterms:created xsi:type="dcterms:W3CDTF">2026-02-19T13:33:56Z</dcterms:created>
  <dcterms:modified xsi:type="dcterms:W3CDTF">2026-02-19T14:28:57Z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2052-11.1.0.9021</vt:lpwstr>
  </property>
</Properties>
</file>