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 name="Shape 25"/>
        <p:cNvGrpSpPr/>
        <p:nvPr/>
      </p:nvGrpSpPr>
      <p:grpSpPr>
        <a:xfrm>
          <a:off x="0" y="0"/>
          <a:ext cx="0" cy="0"/>
          <a:chOff x="0" y="0"/>
          <a:chExt cx="0" cy="0"/>
        </a:xfrm>
      </p:grpSpPr>
      <p:sp>
        <p:nvSpPr>
          <p:cNvPr id="26" name="Google Shape;2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60"/>
        <p:cNvGrpSpPr/>
        <p:nvPr/>
      </p:nvGrpSpPr>
      <p:grpSpPr>
        <a:xfrm>
          <a:off x="0" y="0"/>
          <a:ext cx="0" cy="0"/>
          <a:chOff x="0" y="0"/>
          <a:chExt cx="0" cy="0"/>
        </a:xfrm>
      </p:grpSpPr>
      <p:sp>
        <p:nvSpPr>
          <p:cNvPr id="61" name="Google Shape;61;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c80dd83587_0_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c80dd83587_0_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3" name="Google Shape;113;g3c80dd83587_0_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4" name="Shape 124"/>
        <p:cNvGrpSpPr/>
        <p:nvPr/>
      </p:nvGrpSpPr>
      <p:grpSpPr>
        <a:xfrm>
          <a:off x="0" y="0"/>
          <a:ext cx="0" cy="0"/>
          <a:chOff x="0" y="0"/>
          <a:chExt cx="0" cy="0"/>
        </a:xfrm>
      </p:grpSpPr>
      <p:sp>
        <p:nvSpPr>
          <p:cNvPr id="125" name="Google Shape;125;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g3c80dd83587_0_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5" name="Shape 305"/>
        <p:cNvGrpSpPr/>
        <p:nvPr/>
      </p:nvGrpSpPr>
      <p:grpSpPr>
        <a:xfrm>
          <a:off x="0" y="0"/>
          <a:ext cx="0" cy="0"/>
          <a:chOff x="0" y="0"/>
          <a:chExt cx="0" cy="0"/>
        </a:xfrm>
      </p:grpSpPr>
      <p:sp>
        <p:nvSpPr>
          <p:cNvPr id="306" name="Google Shape;306;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3" name="Shape 343"/>
        <p:cNvGrpSpPr/>
        <p:nvPr/>
      </p:nvGrpSpPr>
      <p:grpSpPr>
        <a:xfrm>
          <a:off x="0" y="0"/>
          <a:ext cx="0" cy="0"/>
          <a:chOff x="0" y="0"/>
          <a:chExt cx="0" cy="0"/>
        </a:xfrm>
      </p:grpSpPr>
      <p:sp>
        <p:nvSpPr>
          <p:cNvPr id="344" name="Google Shape;344;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6" name="Shape 356"/>
        <p:cNvGrpSpPr/>
        <p:nvPr/>
      </p:nvGrpSpPr>
      <p:grpSpPr>
        <a:xfrm>
          <a:off x="0" y="0"/>
          <a:ext cx="0" cy="0"/>
          <a:chOff x="0" y="0"/>
          <a:chExt cx="0" cy="0"/>
        </a:xfrm>
      </p:grpSpPr>
      <p:sp>
        <p:nvSpPr>
          <p:cNvPr id="357" name="Google Shape;357;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2"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9"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t>Marcelo Pacheco Alvaro ’s 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FutureProofing.Dev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524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t>Backend AI Engineer &amp; Software Engineer</a:t>
            </a:r>
            <a:endParaRPr sz="1800" b="1">
              <a:solidFill>
                <a:schemeClr val="dk1"/>
              </a:solidFill>
              <a:latin typeface="Urbanist" panose="020B0A04040200000203"/>
              <a:ea typeface="Urbanist" panose="020B0A04040200000203"/>
              <a:cs typeface="Urbanist" panose="020B0A04040200000203"/>
              <a:sym typeface="Urbanist" panose="020B0A04040200000203"/>
            </a:endParaRPr>
          </a:p>
          <a:p>
            <a:pPr marL="0" marR="3505200" lvl="0" indent="0" algn="l" rtl="0">
              <a:lnSpc>
                <a:spcPct val="115000"/>
              </a:lnSpc>
              <a:spcBef>
                <a:spcPts val="0"/>
              </a:spcBef>
              <a:spcAft>
                <a:spcPts val="0"/>
              </a:spcAft>
              <a:buClr>
                <a:srgbClr val="000000"/>
              </a:buClr>
              <a:buSzPts val="1800"/>
              <a:buFont typeface="Arial" panose="020B0604020202020204"/>
              <a:buNone/>
            </a:pPr>
            <a:r>
              <a:t>[X+ years delivering scalable backend systems, microservices, and AI-powered infrastructure]</a:t>
            </a: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lvl="0" indent="0" algn="l" rtl="0">
              <a:lnSpc>
                <a:spcPct val="115000"/>
              </a:lnSpc>
              <a:spcBef>
                <a:spcPts val="1200"/>
              </a:spcBef>
              <a:spcAft>
                <a:spcPts val="0"/>
              </a:spcAft>
              <a:buClr>
                <a:schemeClr val="dk1"/>
              </a:buClr>
              <a:buSzPts val="1100"/>
              <a:buFont typeface="Arial" panose="020B0604020202020204"/>
              <a:buNone/>
            </a:pPr>
            <a:r>
              <a:t>Marcelo Pacheco Alvaro is continuing to grow across diverse industries partnered with Futureproofing.</a:t>
            </a:r>
            <a:endParaRPr sz="110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7"/>
            <a:ext cx="7914730" cy="1474511"/>
            <a:chOff x="1518223" y="2327475"/>
            <a:chExt cx="7424700" cy="1383219"/>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8166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1]</a:t>
              </a: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7"/>
            <a:ext cx="9198727" cy="1191895"/>
            <a:chOff x="1518223" y="2327475"/>
            <a:chExt cx="8629200" cy="1118100"/>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431100"/>
            </a:xfrm>
            <a:prstGeom prst="rect">
              <a:avLst/>
            </a:prstGeom>
            <a:noFill/>
            <a:ln>
              <a:noFill/>
            </a:ln>
          </p:spPr>
          <p:txBody>
            <a:bodyPr spcFirstLastPara="1" wrap="square" lIns="97450" tIns="97450" rIns="97450" bIns="97450" anchor="t" anchorCtr="0">
              <a:spAutoFit/>
            </a:bodyPr>
            <a:lstStyle/>
            <a:p>
              <a:pPr marL="487680" marR="0" lvl="0" indent="-351790" algn="l" rtl="0">
                <a:lnSpc>
                  <a:spcPct val="115000"/>
                </a:lnSpc>
                <a:spcBef>
                  <a:spcPts val="0"/>
                </a:spcBef>
                <a:spcAft>
                  <a:spcPts val="0"/>
                </a:spcAft>
                <a:buClr>
                  <a:schemeClr val="dk1"/>
                </a:buClr>
                <a:buSzPts val="1706"/>
                <a:buFont typeface="Urbanist Light" panose="020B0A04040200000203"/>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[Summary 2]</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4" name="Shape 44"/>
        <p:cNvGrpSpPr/>
        <p:nvPr/>
      </p:nvGrpSpPr>
      <p:grpSpPr>
        <a:xfrm>
          <a:off x="0" y="0"/>
          <a:ext cx="0" cy="0"/>
          <a:chOff x="0" y="0"/>
          <a:chExt cx="0" cy="0"/>
        </a:xfrm>
      </p:grpSpPr>
      <p:sp>
        <p:nvSpPr>
          <p:cNvPr id="45" name="Google Shape;45;p6"/>
          <p:cNvSpPr txBox="1"/>
          <p:nvPr/>
        </p:nvSpPr>
        <p:spPr>
          <a:xfrm>
            <a:off x="984825" y="2252075"/>
            <a:ext cx="10682400" cy="1373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2400"/>
              <a:buFont typeface="Arial" panose="020B0604020202020204"/>
              <a:buNone/>
            </a:pPr>
            <a:r>
              <a:t>[Candidate name] represents the convergence of versatility, strong communication, real 0→1 execution, and AI-native development practices.</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47" name="Google Shape;47;p6"/>
          <p:cNvSpPr txBox="1"/>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We Review Hundreds of Engineers - Only ~1% Make It This Far. Marcelo Pacheco Alvaro Is One of Them.</a:t>
            </a:r>
            <a:endParaRPr sz="3600"/>
          </a:p>
        </p:txBody>
      </p:sp>
      <p:grpSp>
        <p:nvGrpSpPr>
          <p:cNvPr id="48" name="Google Shape;48;p6"/>
          <p:cNvGrpSpPr/>
          <p:nvPr/>
        </p:nvGrpSpPr>
        <p:grpSpPr>
          <a:xfrm>
            <a:off x="984825" y="3381850"/>
            <a:ext cx="3981600" cy="2845950"/>
            <a:chOff x="1518225" y="2592750"/>
            <a:chExt cx="3981600" cy="2845950"/>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1]</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86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1]</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692050"/>
            <a:chOff x="1518225" y="2592750"/>
            <a:chExt cx="3981600" cy="2692050"/>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2]</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14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2]</a:t>
              </a:r>
              <a:endParaRPr sz="1150" b="0"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08850"/>
            <a:chOff x="1518225" y="2592750"/>
            <a:chExt cx="3981600" cy="240885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en-US" sz="2400">
                  <a:solidFill>
                    <a:srgbClr val="7068F4"/>
                  </a:solidFill>
                  <a:latin typeface="Urbanist Medium" panose="020B0A04040200000203"/>
                  <a:ea typeface="Urbanist Medium" panose="020B0A04040200000203"/>
                  <a:cs typeface="Urbanist Medium" panose="020B0A04040200000203"/>
                  <a:sym typeface="Urbanist Medium" panose="020B0A04040200000203"/>
                </a:rPr>
                <a:t>[Quality 3]</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panose="020B0604020202020204"/>
                <a:buNone/>
              </a:pPr>
              <a:r>
                <a:rPr lang="en-US" sz="16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 3]</a:t>
              </a: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4"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67" name="Google Shape;67;p7"/>
          <p:cNvSpPr txBox="1"/>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Why Marcelo Pacheco Alvaro Beats 99.99% of Applicants</a:t>
            </a:r>
            <a:endParaRPr lang="en-US"/>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Uses Cursor, GPT, and generative AI to automate documentation, boilerplate, prompts, and analysis. Demonstrates real applied AI usage.</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t>We review hundreds of developers for every 1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8" name="Shape 78"/>
        <p:cNvGrpSpPr/>
        <p:nvPr/>
      </p:nvGrpSpPr>
      <p:grpSpPr>
        <a:xfrm>
          <a:off x="0" y="0"/>
          <a:ext cx="0" cy="0"/>
          <a:chOff x="0" y="0"/>
          <a:chExt cx="0" cy="0"/>
        </a:xfrm>
      </p:grpSpPr>
      <p:sp>
        <p:nvSpPr>
          <p:cNvPr id="79" name="Google Shape;79;p8"/>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80" name="Google Shape;80;p8"/>
          <p:cNvSpPr txBox="1"/>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Marcelo Pacheco Alvaro Is a Back-End AI-Native Engineer With Production-Level Experience Across Modern Systems</a:t>
            </a:r>
            <a:endParaRPr sz="4000"/>
          </a:p>
        </p:txBody>
      </p:sp>
      <p:grpSp>
        <p:nvGrpSpPr>
          <p:cNvPr id="81" name="Google Shape;81;p8"/>
          <p:cNvGrpSpPr/>
          <p:nvPr/>
        </p:nvGrpSpPr>
        <p:grpSpPr>
          <a:xfrm>
            <a:off x="956125" y="2573600"/>
            <a:ext cx="3981600" cy="2487825"/>
            <a:chOff x="1518225" y="2592750"/>
            <a:chExt cx="3981600" cy="2487825"/>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9036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2675325"/>
            <a:chOff x="1518225" y="2592750"/>
            <a:chExt cx="3981600" cy="2675325"/>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1091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2436525"/>
            <a:chOff x="1518225" y="2592750"/>
            <a:chExt cx="3981600" cy="2436525"/>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8523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02" name="Google Shape;102;p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Deep AI Project Experience</a:t>
            </a:r>
            <a:endParaRPr lang="en-US"/>
          </a:p>
        </p:txBody>
      </p:sp>
      <p:grpSp>
        <p:nvGrpSpPr>
          <p:cNvPr id="103" name="Google Shape;103;p9"/>
          <p:cNvGrpSpPr/>
          <p:nvPr/>
        </p:nvGrpSpPr>
        <p:grpSpPr>
          <a:xfrm>
            <a:off x="854552" y="2521921"/>
            <a:ext cx="12531943" cy="2174000"/>
            <a:chOff x="1518225" y="2327475"/>
            <a:chExt cx="6654600" cy="2039400"/>
          </a:xfrm>
        </p:grpSpPr>
        <p:sp>
          <p:nvSpPr>
            <p:cNvPr id="104" name="Google Shape;104;p9"/>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5" name="Google Shape;105;p9"/>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06" name="Google Shape;106;p9"/>
          <p:cNvGrpSpPr/>
          <p:nvPr/>
        </p:nvGrpSpPr>
        <p:grpSpPr>
          <a:xfrm>
            <a:off x="854548" y="4134447"/>
            <a:ext cx="11723229" cy="2294961"/>
            <a:chOff x="-3583232" y="2426185"/>
            <a:chExt cx="10997400" cy="2152872"/>
          </a:xfrm>
        </p:grpSpPr>
        <p:sp>
          <p:nvSpPr>
            <p:cNvPr id="107" name="Google Shape;107;p9"/>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t>This shows he’s not just using AI - he’s designing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0"/>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16" name="Google Shape;116;p1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Deep AI Project Experience</a:t>
            </a:r>
            <a:endParaRPr lang="en-US"/>
          </a:p>
        </p:txBody>
      </p:sp>
      <p:grpSp>
        <p:nvGrpSpPr>
          <p:cNvPr id="117" name="Google Shape;117;p10"/>
          <p:cNvGrpSpPr/>
          <p:nvPr/>
        </p:nvGrpSpPr>
        <p:grpSpPr>
          <a:xfrm>
            <a:off x="854552" y="2521921"/>
            <a:ext cx="12531943" cy="2174000"/>
            <a:chOff x="1518225" y="2327475"/>
            <a:chExt cx="6654600" cy="2039400"/>
          </a:xfrm>
        </p:grpSpPr>
        <p:sp>
          <p:nvSpPr>
            <p:cNvPr id="118" name="Google Shape;118;p10"/>
            <p:cNvSpPr txBox="1"/>
            <p:nvPr/>
          </p:nvSpPr>
          <p:spPr>
            <a:xfrm>
              <a:off x="1518225" y="232747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19" name="Google Shape;119;p10"/>
            <p:cNvSpPr txBox="1"/>
            <p:nvPr/>
          </p:nvSpPr>
          <p:spPr>
            <a:xfrm>
              <a:off x="1518225" y="2894100"/>
              <a:ext cx="6654600" cy="4308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20" name="Google Shape;120;p10"/>
          <p:cNvGrpSpPr/>
          <p:nvPr/>
        </p:nvGrpSpPr>
        <p:grpSpPr>
          <a:xfrm>
            <a:off x="854549" y="4134448"/>
            <a:ext cx="11723228" cy="2294961"/>
            <a:chOff x="-3583232" y="2426185"/>
            <a:chExt cx="10997400" cy="2152872"/>
          </a:xfrm>
        </p:grpSpPr>
        <p:sp>
          <p:nvSpPr>
            <p:cNvPr id="121" name="Google Shape;121;p10"/>
            <p:cNvSpPr txBox="1"/>
            <p:nvPr/>
          </p:nvSpPr>
          <p:spPr>
            <a:xfrm>
              <a:off x="-3583229" y="2426185"/>
              <a:ext cx="6654600" cy="20394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22" name="Google Shape;122;p10"/>
            <p:cNvSpPr txBox="1"/>
            <p:nvPr/>
          </p:nvSpPr>
          <p:spPr>
            <a:xfrm>
              <a:off x="-3583232" y="2949757"/>
              <a:ext cx="10997400" cy="16293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23" name="Google Shape;123;p10"/>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t>This shows he’s not just using AI - he’s designing systems where AI is a core component.</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1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30" name="Google Shape;130;p11"/>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Marcelo Pacheco Alvaro’s Track Record of High-Impact Engineering Work</a:t>
            </a:r>
            <a:endParaRPr sz="3900"/>
          </a:p>
        </p:txBody>
      </p:sp>
      <p:grpSp>
        <p:nvGrpSpPr>
          <p:cNvPr id="131" name="Google Shape;131;p11"/>
          <p:cNvGrpSpPr/>
          <p:nvPr/>
        </p:nvGrpSpPr>
        <p:grpSpPr>
          <a:xfrm>
            <a:off x="886690" y="2435831"/>
            <a:ext cx="12531943" cy="1032066"/>
            <a:chOff x="1518225" y="2456626"/>
            <a:chExt cx="6654600" cy="968167"/>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43" name="Google Shape;143;p12"/>
          <p:cNvSpPr txBox="1"/>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Marcelo Pacheco Alvaro’s Track Record of High-Impact Engineering Work</a:t>
            </a:r>
            <a:endParaRPr sz="390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1]</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[Project 2]</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sp>
        <p:nvSpPr>
          <p:cNvPr id="155" name="Google Shape;155;p13"/>
          <p:cNvSpPr/>
          <p:nvPr/>
        </p:nvSpPr>
        <p:spPr>
          <a:xfrm>
            <a:off x="2489250" y="2600554"/>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57" name="Google Shape;157;p13"/>
          <p:cNvSpPr txBox="1"/>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Where Marcelo Pacheco Alvaro Has Delivered Impact</a:t>
            </a:r>
            <a:endParaRPr lang="en-US"/>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t>[Description]</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sp>
        <p:nvSpPr>
          <p:cNvPr id="167" name="Google Shape;167;p14"/>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68" name="Google Shape;168;p1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15"/>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185" name="Google Shape;185;p1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02" name="Google Shape;202;p16"/>
          <p:cNvSpPr txBox="1"/>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Why Marcelo Pacheco Alvaro Scores Exceptionally Across Behavioral Dimensions</a:t>
            </a:r>
            <a:endParaRPr sz="350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1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grpSp>
        <p:nvGrpSpPr>
          <p:cNvPr id="215" name="Google Shape;215;p17"/>
          <p:cNvGrpSpPr/>
          <p:nvPr/>
        </p:nvGrpSpPr>
        <p:grpSpPr>
          <a:xfrm>
            <a:off x="984850" y="5926036"/>
            <a:ext cx="12279361" cy="1830286"/>
            <a:chOff x="1518223" y="2262911"/>
            <a:chExt cx="11519100" cy="1716966"/>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2795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Why Marcelo Pacheco Alvaro Scores Exceptionally Across Behavioral Dimensions</a:t>
            </a:r>
            <a:endParaRPr sz="350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18"/>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28" name="Google Shape;228;p18"/>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t>HackerRank Full-Stack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7" name="Shape 237"/>
        <p:cNvGrpSpPr/>
        <p:nvPr/>
      </p:nvGrpSpPr>
      <p:grpSpPr>
        <a:xfrm>
          <a:off x="0" y="0"/>
          <a:ext cx="0" cy="0"/>
          <a:chOff x="0" y="0"/>
          <a:chExt cx="0" cy="0"/>
        </a:xfrm>
      </p:grpSpPr>
      <p:sp>
        <p:nvSpPr>
          <p:cNvPr id="238" name="Google Shape;238;p19"/>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39" name="Google Shape;239;p19"/>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HackerRank Full-Stack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0"/>
          <p:cNvSpPr txBox="1"/>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HackerRank Full-Stack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70" name="Shape 270"/>
        <p:cNvGrpSpPr/>
        <p:nvPr/>
      </p:nvGrpSpPr>
      <p:grpSpPr>
        <a:xfrm>
          <a:off x="0" y="0"/>
          <a:ext cx="0" cy="0"/>
          <a:chOff x="0" y="0"/>
          <a:chExt cx="0" cy="0"/>
        </a:xfrm>
      </p:grpSpPr>
      <p:sp>
        <p:nvSpPr>
          <p:cNvPr id="271" name="Google Shape;271;p21"/>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72" name="Google Shape;272;p21"/>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t>HackerRank Full-Stack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lang="en-US" sz="2860">
                  <a:solidFill>
                    <a:srgbClr val="7068F4"/>
                  </a:solidFill>
                  <a:latin typeface="Urbanist Medium" panose="020B0A04040200000203"/>
                  <a:ea typeface="Urbanist Medium" panose="020B0A04040200000203"/>
                  <a:cs typeface="Urbanist Medium" panose="020B0A04040200000203"/>
                  <a:sym typeface="Urbanist Medium" panose="020B0A04040200000203"/>
                </a:rPr>
                <a:t>[Candidate’s name]</a:t>
              </a: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scored in the top decile</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81" name="Shape 281"/>
        <p:cNvGrpSpPr/>
        <p:nvPr/>
      </p:nvGrpSpPr>
      <p:grpSpPr>
        <a:xfrm>
          <a:off x="0" y="0"/>
          <a:ext cx="0" cy="0"/>
          <a:chOff x="0" y="0"/>
          <a:chExt cx="0" cy="0"/>
        </a:xfrm>
      </p:grpSpPr>
      <p:sp>
        <p:nvSpPr>
          <p:cNvPr id="282" name="Google Shape;282;p22"/>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83" name="Google Shape;283;p22"/>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DataCamp Skill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3"/>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294" name="Google Shape;294;p23"/>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DataCamp Skill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09" name="Shape 309"/>
        <p:cNvGrpSpPr/>
        <p:nvPr/>
      </p:nvGrpSpPr>
      <p:grpSpPr>
        <a:xfrm>
          <a:off x="0" y="0"/>
          <a:ext cx="0" cy="0"/>
          <a:chOff x="0" y="0"/>
          <a:chExt cx="0" cy="0"/>
        </a:xfrm>
      </p:grpSpPr>
      <p:sp>
        <p:nvSpPr>
          <p:cNvPr id="310" name="Google Shape;310;p24"/>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311" name="Google Shape;311;p24"/>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DataCamp Skill Assessments</a:t>
            </a:r>
            <a:endParaRPr lang="en-US"/>
          </a:p>
        </p:txBody>
      </p:sp>
      <p:grpSp>
        <p:nvGrpSpPr>
          <p:cNvPr id="312" name="Google Shape;312;p24"/>
          <p:cNvGrpSpPr/>
          <p:nvPr/>
        </p:nvGrpSpPr>
        <p:grpSpPr>
          <a:xfrm>
            <a:off x="770352" y="4815056"/>
            <a:ext cx="12531943" cy="2899547"/>
            <a:chOff x="1518225" y="2327475"/>
            <a:chExt cx="6654600" cy="2720025"/>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1534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a:solidFill>
                    <a:schemeClr val="dk1"/>
                  </a:solidFill>
                  <a:latin typeface="Urbanist Light" panose="020B0A04040200000203"/>
                  <a:ea typeface="Urbanist Light" panose="020B0A04040200000203"/>
                  <a:cs typeface="Urbanist Light" panose="020B0A04040200000203"/>
                  <a:sym typeface="Urbanist Light" panose="020B0A04040200000203"/>
                </a:rPr>
                <a:t>[Candidate Name]</a:t>
              </a: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25"/>
          <p:cNvSpPr txBox="1"/>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327" name="Google Shape;327;p25"/>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DataCamp Skill Assessments</a:t>
            </a:r>
            <a:endParaRPr lang="en-US"/>
          </a:p>
        </p:txBody>
      </p:sp>
      <p:sp>
        <p:nvSpPr>
          <p:cNvPr id="328" name="Google Shape;328;p25"/>
          <p:cNvSpPr txBox="1"/>
          <p:nvPr/>
        </p:nvSpPr>
        <p:spPr>
          <a:xfrm>
            <a:off x="980825" y="1838350"/>
            <a:ext cx="12795000" cy="747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t>Marcelo Pacheco Alvaro scored 100% on DataCamp’s AI Assessment. This places him among the highest performers on a platform used globally to validate AI and ML engineering skills.</a:t>
            </a:r>
            <a:endParaRPr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339" name="Google Shape;339;p26"/>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Executive Summary</a:t>
            </a:r>
            <a:endParaRPr lang="en-US"/>
          </a:p>
        </p:txBody>
      </p:sp>
      <p:sp>
        <p:nvSpPr>
          <p:cNvPr id="340" name="Google Shape;340;p26"/>
          <p:cNvSpPr txBox="1"/>
          <p:nvPr/>
        </p:nvSpPr>
        <p:spPr>
          <a:xfrm>
            <a:off x="984850" y="1957400"/>
            <a:ext cx="10682400" cy="369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1200"/>
              </a:spcAft>
              <a:buClr>
                <a:srgbClr val="000000"/>
              </a:buClr>
              <a:buSzPts val="2400"/>
              <a:buFont typeface="Arial" panose="020B0604020202020204"/>
              <a:buNone/>
            </a:pPr>
            <a:r>
              <a:t>Why We Recommend Marcelo Pacheco Alvaro as a Top 0.01% AI-Native Engineer</a:t>
            </a:r>
            <a:endParaRPr sz="24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endParaRPr lang="en-US"/>
          </a:p>
        </p:txBody>
      </p:sp>
      <p:sp>
        <p:nvSpPr>
          <p:cNvPr id="352" name="Google Shape;352;p27"/>
          <p:cNvSpPr txBox="1"/>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t>Contact FutureProofing.Dev to schedule the 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360"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t>AI Talent 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t>FutureProofing.Dev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10576</Words>
  <Application>WPS 演示</Application>
  <PresentationFormat/>
  <Paragraphs>611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 Name] Is One of Them.</vt:lpstr>
      <vt:lpstr>Why [Candidate Name] Beats 99.99% of Applicants</vt:lpstr>
      <vt:lpstr>[Candidate Name] Is a Back-End AI-Native Engineer With Production-Level Experience Across Modern Systems</vt:lpstr>
      <vt:lpstr>Deep AI Project Experience</vt:lpstr>
      <vt:lpstr>Deep AI Project Experience</vt:lpstr>
      <vt:lpstr>[Candidate Name]’s Track Record of High-Impact Engineering Work</vt:lpstr>
      <vt:lpstr>[Candidate Name]’s Track Record of High-Impact Engineering Work</vt:lpstr>
      <vt:lpstr>Where [Candidate Name] Has Delivered Impact</vt:lpstr>
      <vt:lpstr>Behavioral Assessment Framework</vt:lpstr>
      <vt:lpstr>Behavioral Assessment Framework</vt:lpstr>
      <vt:lpstr>Why [Candidate Name] Scores Exceptionally Across Behavioral Dimensions</vt:lpstr>
      <vt:lpstr>Why [Candidate 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1</cp:revision>
  <dcterms:created xsi:type="dcterms:W3CDTF">2026-02-18T07:27:58Z</dcterms:created>
  <dcterms:modified xsi:type="dcterms:W3CDTF">2026-02-18T07:27:59Z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