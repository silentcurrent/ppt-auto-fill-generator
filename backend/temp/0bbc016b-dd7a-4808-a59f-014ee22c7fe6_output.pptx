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30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5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
        <p:cNvGrpSpPr/>
        <p:nvPr/>
      </p:nvGrpSpPr>
      <p:grpSpPr>
        <a:xfrm>
          <a:off x="0" y="0"/>
          <a:ext cx="0" cy="0"/>
          <a:chOff x="0" y="0"/>
          <a:chExt cx="0" cy="0"/>
        </a:xfrm>
      </p:grpSpPr>
      <p:sp>
        <p:nvSpPr>
          <p:cNvPr id="41" name="Google Shape;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g3c80dd83587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solidFill/>
                <a:latin typeface="Urbanist Medium" panose="020B0A04040200000203"/>
                <a:ea typeface="Urbanist Medium" panose="020B0A04040200000203"/>
                <a:cs typeface="Urbanist Medium" panose="020B0A04040200000203"/>
                <a:sym typeface="Urbanist Medium" panose="020B0A04040200000203"/>
              </a:rPr>
              <a:t/>
            </a:r>
            <a:r>
              <a:rPr sz="4400">
                <a:solidFill>
                  <a:srgbClr val="0066CC"/>
                </a:solidFill>
                <a:latin typeface="Urbanist Medium"/>
              </a:rPr>
              <a:t>Marcelo Pacheco Alvaro</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537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601100"/>
            <a:ext cx="12943500" cy="26935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dirty="0">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dirty="0">
              <a:solidFill>
                <a:schemeClr val="dk1"/>
              </a:solidFill>
              <a:latin typeface="Urbanist" panose="020B0A04040200000203"/>
              <a:ea typeface="Urbanist" panose="020B0A04040200000203"/>
              <a:cs typeface="Urbanist" panose="020B0A04040200000203"/>
              <a:sym typeface="Urbanist" panose="020B0A04040200000203"/>
            </a:endParaRPr>
          </a:p>
          <a:p>
            <a:pPr marR="3505200" lvl="0">
              <a:lnSpc>
                <a:spcPct val="115000"/>
              </a:lnSpc>
              <a:buSzPts val="18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AI-native security-focused engineer with strong experience building AI-powered agents and automating security workflows across AWS environments. Combines cybersecurity depth with hands-on software engineering and AI integrations.</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lvl="0">
              <a:lnSpc>
                <a:spcPct val="115000"/>
              </a:lnSpc>
              <a:spcBef>
                <a:spcPts val="1200"/>
              </a:spcBef>
              <a:buClr>
                <a:schemeClr val="dk1"/>
              </a:buClr>
              <a:buSzPts val="11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 is continuing to grow across diverse industries partnered with Futureproofing.</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2903449"/>
            <a:ext cx="7914730" cy="2734426"/>
            <a:chOff x="1518223" y="2327475"/>
            <a:chExt cx="7424700" cy="2565126"/>
          </a:xfrm>
        </p:grpSpPr>
        <p:sp>
          <p:nvSpPr>
            <p:cNvPr id="35" name="Google Shape;35;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1998507"/>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AI-powered Penetration Testing Agent</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Automation of Security Workflows with ChatGPT API</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Python-based Security Tooling &amp; Scripting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AI-assisted Vulnerability Analysis &amp; Detection</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4872698"/>
            <a:ext cx="9198727" cy="2308925"/>
            <a:chOff x="1518223" y="2327475"/>
            <a:chExt cx="8629200" cy="2165969"/>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1599350"/>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Cloud Security Architecture (AWS, GCP, Azure)</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DevSecOps &amp; CI/CD Automation (GitHub Actions, Jenkins)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 &amp; JavaScript Development (Node, React, TS)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Ethical Hacking &amp; Threat Modeling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p:nvPr/>
        </p:nvSpPr>
        <p:spPr>
          <a:xfrm>
            <a:off x="984825" y="2252075"/>
            <a:ext cx="10682400" cy="1735860"/>
          </a:xfrm>
          <a:prstGeom prst="rect">
            <a:avLst/>
          </a:prstGeom>
          <a:noFill/>
          <a:ln>
            <a:noFill/>
          </a:ln>
        </p:spPr>
        <p:txBody>
          <a:bodyPr spcFirstLastPara="1" wrap="square" lIns="0" tIns="0" rIns="0" bIns="0" anchor="t" anchorCtr="0">
            <a:spAutoFit/>
          </a:bodyPr>
          <a:lstStyle/>
          <a:p>
            <a:pPr lvl="0">
              <a:lnSpc>
                <a:spcPct val="115000"/>
              </a:lnSpc>
              <a:spcBef>
                <a:spcPts val="1200"/>
              </a:spcBef>
              <a:buSzPts val="2400"/>
            </a:pP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 represents the convergence of versatility, strong communication, real 0→1 execution, and AI-native development practices.</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a:spLocks noGrp="1"/>
          </p:cNvSpPr>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lvl="0"/>
            <a:r>
              <a:rPr lang="en-US" sz="3600" dirty="0"/>
              <a:t>We Review Hundreds of Engineers - Only ~1% Make It This Far. Marcelo Pacheco Alvaro Is One of Them.</a:t>
            </a:r>
            <a:r>
              <a:rPr lang="en-US" sz="3600" dirty="0" err="1"/>
              <a:t/>
            </a:r>
            <a:r>
              <a:rPr lang="en-US" sz="3600" dirty="0"/>
              <a:t/>
            </a:r>
            <a:endParaRPr sz="3600" dirty="0"/>
          </a:p>
        </p:txBody>
      </p:sp>
      <p:grpSp>
        <p:nvGrpSpPr>
          <p:cNvPr id="48" name="Google Shape;48;p6"/>
          <p:cNvGrpSpPr/>
          <p:nvPr/>
        </p:nvGrpSpPr>
        <p:grpSpPr>
          <a:xfrm>
            <a:off x="984825" y="3381850"/>
            <a:ext cx="3981600" cy="3190359"/>
            <a:chOff x="1518225" y="2592750"/>
            <a:chExt cx="3981600" cy="3190359"/>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1212609"/>
            </a:xfrm>
            <a:prstGeom prst="rect">
              <a:avLst/>
            </a:prstGeom>
            <a:noFill/>
            <a:ln>
              <a:noFill/>
            </a:ln>
          </p:spPr>
          <p:txBody>
            <a:bodyPr spcFirstLastPara="1" wrap="square" lIns="91425" tIns="91425" rIns="91425" bIns="91425" anchor="t" anchorCtr="0">
              <a:spAutoFit/>
            </a:bodyPr>
            <a:lstStyle/>
            <a:p>
              <a:pPr lvl="0">
                <a:lnSpc>
                  <a:spcPct val="115000"/>
                </a:lnSpc>
                <a:spcBef>
                  <a:spcPts val="1200"/>
                </a:spcBef>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Built and deployed an AI-powered penetration testing agent and automated multiple security tasks using AI APIs, demonstrating real-world AI integration beyond experimentation.</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728695"/>
            <a:chOff x="1518225" y="2592750"/>
            <a:chExt cx="3981600" cy="2728695"/>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50945"/>
            </a:xfrm>
            <a:prstGeom prst="rect">
              <a:avLst/>
            </a:prstGeom>
            <a:noFill/>
            <a:ln>
              <a:noFill/>
            </a:ln>
          </p:spPr>
          <p:txBody>
            <a:bodyPr spcFirstLastPara="1" wrap="square" lIns="91425" tIns="91425" rIns="91425" bIns="91425" anchor="t" anchorCtr="0">
              <a:spAutoFit/>
            </a:bodyPr>
            <a:lstStyle/>
            <a:p>
              <a:pPr lvl="0">
                <a:lnSpc>
                  <a:spcPct val="115000"/>
                </a:lnSpc>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Understands how to design AI agents aligned with business impact, not just technical experimentation. Structured thinking around ROI and automation efficiency.</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45540"/>
            <a:chOff x="1518225" y="2592750"/>
            <a:chExt cx="3981600" cy="244554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67790"/>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Clear, organized, and concise in explanations. Demonstrates strong communication even when discussing complex security and AI topics.</a:t>
              </a: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a:spLocks noGrp="1"/>
          </p:cNvSpPr>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lvl="0"/>
            <a:r>
              <a:rPr lang="en-US" dirty="0"/>
              <a:t>Why Marcelo Pacheco Alvaro Beats 99.99% of Applicants</a:t>
            </a:r>
            <a:r>
              <a:rPr lang="en-US" dirty="0" err="1"/>
              <a:t/>
            </a:r>
            <a:r>
              <a:rPr lang="en-US" dirty="0"/>
              <a:t/>
            </a:r>
            <a:endParaRPr dirty="0"/>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a:spLocks noGrp="1"/>
          </p:cNvSpPr>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lvl="0"/>
            <a:r>
              <a:rPr lang="en-US" sz="4000" dirty="0"/>
              <a:t>Marcelo Pacheco Alvaro Is a Back-End AI-Native Engineer With Production-Level Experience Across Modern Systems</a:t>
            </a:r>
            <a:r>
              <a:rPr lang="en-US" sz="4000" dirty="0" err="1"/>
              <a:t/>
            </a:r>
            <a:r>
              <a:rPr lang="en-US" sz="4000" dirty="0"/>
              <a:t/>
            </a:r>
            <a:endParaRPr sz="4000" dirty="0"/>
          </a:p>
        </p:txBody>
      </p:sp>
      <p:grpSp>
        <p:nvGrpSpPr>
          <p:cNvPr id="81" name="Google Shape;81;p8"/>
          <p:cNvGrpSpPr/>
          <p:nvPr/>
        </p:nvGrpSpPr>
        <p:grpSpPr>
          <a:xfrm>
            <a:off x="956125" y="2573600"/>
            <a:ext cx="3981600" cy="4908182"/>
            <a:chOff x="1518225" y="2592750"/>
            <a:chExt cx="3981600" cy="4908182"/>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332395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42900" algn="l" rtl="0">
                <a:lnSpc>
                  <a:spcPct val="115000"/>
                </a:lnSpc>
                <a:spcBef>
                  <a:spcPts val="0"/>
                </a:spcBef>
                <a:spcAft>
                  <a:spcPts val="0"/>
                </a:spcAft>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4623360"/>
            <a:chOff x="1518225" y="2592750"/>
            <a:chExt cx="3981600" cy="4623360"/>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3039135"/>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dirty="0">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4384448"/>
            <a:chOff x="1518225" y="2592750"/>
            <a:chExt cx="3981600" cy="4384448"/>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28002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ai_6 field in excel</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7424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14666" cy="2782820"/>
            <a:chOff x="-3583232" y="2407754"/>
            <a:chExt cx="11083176" cy="2610526"/>
          </a:xfrm>
        </p:grpSpPr>
        <p:sp>
          <p:nvSpPr>
            <p:cNvPr id="107" name="Google Shape;107;p9"/>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project_2_name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97456"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Designed and implemented an AI-driven penetration testing agent to automate vulnerability identification and reporting.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6979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project_3_name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26096" cy="2654860"/>
            <a:chOff x="-3583232" y="2407754"/>
            <a:chExt cx="11093898" cy="2490488"/>
          </a:xfrm>
        </p:grpSpPr>
        <p:sp>
          <p:nvSpPr>
            <p:cNvPr id="107" name="Google Shape;107;p9"/>
            <p:cNvSpPr txBox="1"/>
            <p:nvPr/>
          </p:nvSpPr>
          <p:spPr>
            <a:xfrm>
              <a:off x="-3583232" y="2407754"/>
              <a:ext cx="6654600" cy="203545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project_4_name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86734" y="2949757"/>
              <a:ext cx="10997400" cy="1948485"/>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project_4_context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project_3_context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t>Marcelo Pacheco Alvaro’s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31" name="Google Shape;131;p11"/>
          <p:cNvGrpSpPr/>
          <p:nvPr/>
        </p:nvGrpSpPr>
        <p:grpSpPr>
          <a:xfrm>
            <a:off x="886690" y="2435832"/>
            <a:ext cx="12531943" cy="1073475"/>
            <a:chOff x="1518225" y="2456626"/>
            <a:chExt cx="6654600" cy="1007012"/>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project_impact_1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83445"/>
            </a:xfrm>
            <a:prstGeom prst="rect">
              <a:avLst/>
            </a:prstGeom>
            <a:noFill/>
            <a:ln>
              <a:noFill/>
            </a:ln>
          </p:spPr>
          <p:txBody>
            <a:bodyPr spcFirstLastPara="1" wrap="square" lIns="97450" tIns="97450" rIns="97450" bIns="97450" anchor="t" anchorCtr="0">
              <a:spAutoFit/>
            </a:bodyPr>
            <a:lstStyle/>
            <a:p>
              <a:pPr marL="457200" lvl="0" indent="-342900">
                <a:lnSpc>
                  <a:spcPct val="115000"/>
                </a:lnSpc>
                <a:buClr>
                  <a:schemeClr val="dk1"/>
                </a:buClr>
                <a:buSzPts val="1800"/>
                <a:buFont typeface="Urbanist" panose="020B0A04040200000203"/>
                <a:buChar char="●"/>
              </a:pPr>
              <a:r>
                <a:rPr lang="en-US" sz="1800" dirty="0">
                  <a:solidFill>
                    <a:srgbClr val="DC3545"/>
                  </a:solidFill>
                  <a:latin typeface="Urbanist" panose="020B0A04040200000203"/>
                  <a:ea typeface="Urbanist" panose="020B0A04040200000203"/>
                  <a:cs typeface="Urbanist" panose="020B0A04040200000203"/>
                  <a:sym typeface="Urbanist" panose="020B0A04040200000203"/>
                </a:rPr>
                <a:t>No project_1_business_impact field in excel</a:t>
              </a: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project_impact_2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266600"/>
            </a:xfrm>
            <a:prstGeom prst="rect">
              <a:avLst/>
            </a:prstGeom>
            <a:noFill/>
            <a:ln>
              <a:noFill/>
            </a:ln>
          </p:spPr>
          <p:txBody>
            <a:bodyPr spcFirstLastPara="1" wrap="square" lIns="97450" tIns="97450" rIns="97450" bIns="97450" anchor="t" anchorCtr="0">
              <a:spAutoFit/>
            </a:bodyPr>
            <a:lstStyle/>
            <a:p>
              <a:pPr marL="457200" marR="241300" lvl="0" indent="-342900">
                <a:lnSpc>
                  <a:spcPct val="115000"/>
                </a:lnSpc>
                <a:buClr>
                  <a:schemeClr val="dk1"/>
                </a:buClr>
                <a:buSzPts val="1804"/>
                <a:buFont typeface="Urbanist Light" panose="020B0A04040200000203"/>
                <a:buChar char="●"/>
              </a:pPr>
              <a:r>
                <a:rPr lang="en-US" sz="18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project_2_business_impact field in excel</a:t>
              </a:r>
              <a:endParaRPr sz="18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t>Marcelo Pacheco Alvaro’s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44" name="Google Shape;144;p12"/>
          <p:cNvGrpSpPr/>
          <p:nvPr/>
        </p:nvGrpSpPr>
        <p:grpSpPr>
          <a:xfrm>
            <a:off x="886690" y="2435831"/>
            <a:ext cx="12531943" cy="1032066"/>
            <a:chOff x="1518225" y="2456626"/>
            <a:chExt cx="6654600" cy="968167"/>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2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p:nvPr/>
        </p:nvSpPr>
        <p:spPr>
          <a:xfrm>
            <a:off x="2489250" y="2584361"/>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a:spLocks noGrp="1"/>
          </p:cNvSpPr>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lvl="0"/>
            <a:r>
              <a:rPr lang="en-US" dirty="0"/>
              <a:t>Where Marcelo Pacheco Alvaro Has Delivered Impact</a:t>
            </a:r>
            <a:r>
              <a:rPr lang="en-US" dirty="0" err="1"/>
              <a:t/>
            </a:r>
            <a:r>
              <a:rPr lang="en-US" dirty="0"/>
              <a:t/>
            </a:r>
            <a:endParaRPr dirty="0"/>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lvl="0">
              <a:buSzPts val="2300"/>
            </a:pPr>
            <a:r>
              <a:rPr lang="en-US" sz="23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 field in excel</a:t>
            </a:r>
            <a:endParaRPr sz="23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a:spLocks noGrp="1"/>
          </p:cNvSpPr>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lvl="0"/>
            <a:r>
              <a:rPr lang="en-US" sz="3500" dirty="0"/>
              <a:t>Why Marcelo Pacheco Alvaro Scores Exceptionally Across Behavioral Dimensions</a:t>
            </a:r>
            <a:r>
              <a:rPr lang="en-US" sz="3500" dirty="0" err="1"/>
              <a:t/>
            </a:r>
            <a:r>
              <a:rPr lang="en-US" sz="3500" dirty="0"/>
              <a:t/>
            </a:r>
            <a:endParaRPr sz="3500" dirty="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69626"/>
            <a:chOff x="1518223" y="2262911"/>
            <a:chExt cx="11519100" cy="1753870"/>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316404"/>
            </a:xfrm>
            <a:prstGeom prst="rect">
              <a:avLst/>
            </a:prstGeom>
            <a:noFill/>
            <a:ln>
              <a:noFill/>
            </a:ln>
          </p:spPr>
          <p:txBody>
            <a:bodyPr spcFirstLastPara="1" wrap="square" lIns="97450" tIns="97450" rIns="97450" bIns="97450" anchor="t" anchorCtr="0">
              <a:spAutoFit/>
            </a:bodyPr>
            <a:lstStyle/>
            <a:p>
              <a:pPr marR="241300"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a:spLocks noGrp="1"/>
          </p:cNvSpPr>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lvl="0"/>
            <a:r>
              <a:rPr lang="en-US" sz="3500" dirty="0"/>
              <a:t>Why Marcelo Pacheco Alvaro Scores Exceptionally Across Behavioral Dimensions</a:t>
            </a:r>
            <a:r>
              <a:rPr lang="en-US" sz="3500" dirty="0" err="1"/>
              <a:t/>
            </a:r>
            <a:r>
              <a:rPr lang="en-US" sz="3500" dirty="0"/>
              <a:t/>
            </a:r>
            <a:endParaRPr sz="3500" dirty="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lvl="0">
                <a:buSzPts val="2858"/>
              </a:pP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Marcelo Pacheco Alvaro scored in the top decile</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err="1">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3072217"/>
            <a:chOff x="1518225" y="2327475"/>
            <a:chExt cx="6654600" cy="2882004"/>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315379"/>
            </a:xfrm>
            <a:prstGeom prst="rect">
              <a:avLst/>
            </a:prstGeom>
            <a:noFill/>
            <a:ln>
              <a:noFill/>
            </a:ln>
          </p:spPr>
          <p:txBody>
            <a:bodyPr spcFirstLastPara="1" wrap="square" lIns="97450" tIns="97450" rIns="97450" bIns="97450" anchor="t" anchorCtr="0">
              <a:spAutoFit/>
            </a:bodyPr>
            <a:lstStyle/>
            <a:p>
              <a:pPr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Marcelo Pacheco Alvaro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1132618"/>
          </a:xfrm>
          <a:prstGeom prst="rect">
            <a:avLst/>
          </a:prstGeom>
          <a:noFill/>
          <a:ln>
            <a:noFill/>
          </a:ln>
        </p:spPr>
        <p:txBody>
          <a:bodyPr spcFirstLastPara="1" wrap="square" lIns="0" tIns="0" rIns="0" bIns="0" anchor="t" anchorCtr="0">
            <a:spAutoFit/>
          </a:bodyPr>
          <a:lstStyle/>
          <a:p>
            <a:pPr lvl="0">
              <a:lnSpc>
                <a:spcPct val="115000"/>
              </a:lnSpc>
              <a:spcBef>
                <a:spcPts val="1280"/>
              </a:spcBef>
              <a:spcAft>
                <a:spcPts val="1280"/>
              </a:spcAft>
              <a:buSzPts val="2258"/>
            </a:pPr>
            <a:r>
              <a:rPr lang="en-US" sz="2260" b="1" dirty="0">
                <a:solidFill>
                  <a:schemeClr val="dk1"/>
                </a:solidFill>
                <a:latin typeface="Urbanist" panose="020B0A04040200000203"/>
                <a:ea typeface="Urbanist" panose="020B0A04040200000203"/>
                <a:cs typeface="Urbanist" panose="020B0A04040200000203"/>
                <a:sym typeface="Urbanist" panose="020B0A04040200000203"/>
              </a:rPr>
              <a:t>Marcelo Pacheco Alvaro scored 100% on DataCamp’s AI Assessment. This places him among the highest performers on a platform used globally to validate AI and ML engineering skills.</a:t>
            </a:r>
            <a:r>
              <a:rPr lang="en-US" sz="2260" b="1"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732508"/>
          </a:xfrm>
          <a:prstGeom prst="rect">
            <a:avLst/>
          </a:prstGeom>
          <a:noFill/>
          <a:ln>
            <a:noFill/>
          </a:ln>
        </p:spPr>
        <p:txBody>
          <a:bodyPr spcFirstLastPara="1" wrap="square" lIns="0" tIns="0" rIns="0" bIns="0" anchor="t" anchorCtr="0">
            <a:spAutoFit/>
          </a:bodyPr>
          <a:lstStyle/>
          <a:p>
            <a:pPr lvl="0">
              <a:lnSpc>
                <a:spcPct val="115000"/>
              </a:lnSpc>
              <a:spcBef>
                <a:spcPts val="1200"/>
              </a:spcBef>
              <a:spcAft>
                <a:spcPts val="1200"/>
              </a:spcAft>
              <a:buSzPts val="2400"/>
            </a:pP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Marcelo Pacheco Alvaro as a Top 0.01% AI-Native Engineer</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1"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10927</Words>
  <Application>WPS 演示</Application>
  <PresentationFormat>Personalizado</PresentationFormat>
  <Paragraphs>648</Paragraphs>
  <Slides>24</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[candidate_name] Is One of Them.</vt:lpstr>
      <vt:lpstr>Why [candidate_name] Beats 99.99% of Applicants</vt:lpstr>
      <vt:lpstr>[candidate_name] Is a Back-End AI-Native Engineer With Production-Level Experience Across Modern Systems</vt:lpstr>
      <vt:lpstr>Deep AI Project Experience</vt:lpstr>
      <vt:lpstr>Deep AI Project Experience</vt:lpstr>
      <vt:lpstr>[candidate_name]’s Track Record of High-Impact Engineering Work</vt:lpstr>
      <vt:lpstr>[candidate_name]’s Track Record of High-Impact Engineering Work</vt:lpstr>
      <vt:lpstr>Where [candidate_name] Has Delivered Impact</vt:lpstr>
      <vt:lpstr>Behavioral Assessment Framework</vt:lpstr>
      <vt:lpstr>Behavioral Assessment Framework</vt:lpstr>
      <vt:lpstr>Why [candidate_name] Scores Exceptionally Across Behavioral Dimensions</vt:lpstr>
      <vt:lpstr>Why [candidate_name]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6</cp:revision>
  <dcterms:created xsi:type="dcterms:W3CDTF">2026-02-19T13:33:56Z</dcterms:created>
  <dcterms:modified xsi:type="dcterms:W3CDTF">2026-02-19T14:39:10Z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