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Lst>
  <p:sldSz cx="14630400" cy="8229600"/>
  <p:notesSz cx="8229600" cy="14630400"/>
  <p:embeddedFontLst>
    <p:embeddedFont>
      <p:font typeface="Urbanist Light" panose="020B0A04040200000203"/>
      <p:regular r:id="rId31"/>
      <p:italic r:id="rId32"/>
    </p:embeddedFont>
    <p:embeddedFont>
      <p:font typeface="Urbanist Medium" panose="020B0A04040200000203"/>
      <p:regular r:id="rId33"/>
    </p:embeddedFont>
    <p:embeddedFont>
      <p:font typeface="Urbanist" panose="020B0A04040200000203"/>
      <p:regular r:id="rId34"/>
      <p:bold r:id="rId35"/>
      <p:boldItalic r:id="rId36"/>
    </p:embeddedFont>
    <p:embeddedFont>
      <p:font typeface="Calibri" panose="020F0502020204030204"/>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ableStyles" Target="tableStyles.xml"/><Relationship Id="rId31" Type="http://schemas.openxmlformats.org/officeDocument/2006/relationships/font" Target="fonts/font1.fntdata"/><Relationship Id="rId32" Type="http://schemas.openxmlformats.org/officeDocument/2006/relationships/font" Target="fonts/font2.fntdata"/><Relationship Id="rId33" Type="http://schemas.openxmlformats.org/officeDocument/2006/relationships/font" Target="fonts/font3.fntdata"/><Relationship Id="rId34" Type="http://schemas.openxmlformats.org/officeDocument/2006/relationships/font" Target="fonts/font4.fntdata"/><Relationship Id="rId35" Type="http://schemas.openxmlformats.org/officeDocument/2006/relationships/font" Target="fonts/font5.fntdata"/><Relationship Id="rId36" Type="http://schemas.openxmlformats.org/officeDocument/2006/relationships/font" Target="fonts/font6.fntdata"/><Relationship Id="rId37" Type="http://schemas.openxmlformats.org/officeDocument/2006/relationships/font" Target="fonts/font7.fntdata"/><Relationship Id="rId38" Type="http://schemas.openxmlformats.org/officeDocument/2006/relationships/font" Target="fonts/font8.fntdata"/><Relationship Id="rId39" Type="http://schemas.openxmlformats.org/officeDocument/2006/relationships/font" Target="fonts/font9.fntdata"/><Relationship Id="rId40"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4" name="Google Shape;4;n"/>
          <p:cNvSpPr txBox="1"/>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5" name="Google Shape;5;n"/>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8" name="Google Shape;8;n"/>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000000"/>
                </a:solidFill>
                <a:latin typeface="Arial" panose="020B0604020202020204"/>
                <a:ea typeface="Arial" panose="020B0604020202020204"/>
                <a:cs typeface="Arial" panose="020B0604020202020204"/>
                <a:sym typeface="Arial" panose="020B0604020202020204"/>
              </a:rPr>
            </a:fld>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 name="Shape 25"/>
        <p:cNvGrpSpPr/>
        <p:nvPr/>
      </p:nvGrpSpPr>
      <p:grpSpPr>
        <a:xfrm>
          <a:off x="0" y="0"/>
          <a:ext cx="0" cy="0"/>
          <a:chOff x="0" y="0"/>
          <a:chExt cx="0" cy="0"/>
        </a:xfrm>
      </p:grpSpPr>
      <p:sp>
        <p:nvSpPr>
          <p:cNvPr id="26" name="Google Shape;26;p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 name="Google Shape;27;p1: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8" name="Google Shape;28;p1: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40" name="Shape 40"/>
        <p:cNvGrpSpPr/>
        <p:nvPr/>
      </p:nvGrpSpPr>
      <p:grpSpPr>
        <a:xfrm>
          <a:off x="0" y="0"/>
          <a:ext cx="0" cy="0"/>
          <a:chOff x="0" y="0"/>
          <a:chExt cx="0" cy="0"/>
        </a:xfrm>
      </p:grpSpPr>
      <p:sp>
        <p:nvSpPr>
          <p:cNvPr id="41" name="Google Shape;41;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 name="Google Shape;42;p5: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43" name="Google Shape;43;p5: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60" name="Shape 60"/>
        <p:cNvGrpSpPr/>
        <p:nvPr/>
      </p:nvGrpSpPr>
      <p:grpSpPr>
        <a:xfrm>
          <a:off x="0" y="0"/>
          <a:ext cx="0" cy="0"/>
          <a:chOff x="0" y="0"/>
          <a:chExt cx="0" cy="0"/>
        </a:xfrm>
      </p:grpSpPr>
      <p:sp>
        <p:nvSpPr>
          <p:cNvPr id="61" name="Google Shape;61;p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 name="Google Shape;62;p6: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How we deliver differently - communication, behavioral assessment, team fit, culture fit, etc - AI tool to do advanced behavioral assessment</a:t>
            </a:r>
            <a:endParaRPr lang="en-US"/>
          </a:p>
        </p:txBody>
      </p:sp>
      <p:sp>
        <p:nvSpPr>
          <p:cNvPr id="63" name="Google Shape;63;p6: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74" name="Shape 74"/>
        <p:cNvGrpSpPr/>
        <p:nvPr/>
      </p:nvGrpSpPr>
      <p:grpSpPr>
        <a:xfrm>
          <a:off x="0" y="0"/>
          <a:ext cx="0" cy="0"/>
          <a:chOff x="0" y="0"/>
          <a:chExt cx="0" cy="0"/>
        </a:xfrm>
      </p:grpSpPr>
      <p:sp>
        <p:nvSpPr>
          <p:cNvPr id="75" name="Google Shape;75;p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 name="Google Shape;76;p7: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77" name="Google Shape;77;p7: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96" name="Shape 96"/>
        <p:cNvGrpSpPr/>
        <p:nvPr/>
      </p:nvGrpSpPr>
      <p:grpSpPr>
        <a:xfrm>
          <a:off x="0" y="0"/>
          <a:ext cx="0" cy="0"/>
          <a:chOff x="0" y="0"/>
          <a:chExt cx="0" cy="0"/>
        </a:xfrm>
      </p:grpSpPr>
      <p:sp>
        <p:nvSpPr>
          <p:cNvPr id="97" name="Google Shape;97;p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8: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9" name="Google Shape;99;p8: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0" name="Shape 110"/>
        <p:cNvGrpSpPr/>
        <p:nvPr/>
      </p:nvGrpSpPr>
      <p:grpSpPr>
        <a:xfrm>
          <a:off x="0" y="0"/>
          <a:ext cx="0" cy="0"/>
          <a:chOff x="0" y="0"/>
          <a:chExt cx="0" cy="0"/>
        </a:xfrm>
      </p:grpSpPr>
      <p:sp>
        <p:nvSpPr>
          <p:cNvPr id="111" name="Google Shape;111;g3c80dd83587_0_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 name="Google Shape;112;g3c80dd83587_0_5: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13" name="Google Shape;113;g3c80dd83587_0_5: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4" name="Shape 124"/>
        <p:cNvGrpSpPr/>
        <p:nvPr/>
      </p:nvGrpSpPr>
      <p:grpSpPr>
        <a:xfrm>
          <a:off x="0" y="0"/>
          <a:ext cx="0" cy="0"/>
          <a:chOff x="0" y="0"/>
          <a:chExt cx="0" cy="0"/>
        </a:xfrm>
      </p:grpSpPr>
      <p:sp>
        <p:nvSpPr>
          <p:cNvPr id="125" name="Google Shape;125;p1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10: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27" name="Google Shape;127;p10: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7" name="Shape 137"/>
        <p:cNvGrpSpPr/>
        <p:nvPr/>
      </p:nvGrpSpPr>
      <p:grpSpPr>
        <a:xfrm>
          <a:off x="0" y="0"/>
          <a:ext cx="0" cy="0"/>
          <a:chOff x="0" y="0"/>
          <a:chExt cx="0" cy="0"/>
        </a:xfrm>
      </p:grpSpPr>
      <p:sp>
        <p:nvSpPr>
          <p:cNvPr id="138" name="Google Shape;138;g3c80dd83587_0_1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c80dd83587_0_18: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40" name="Google Shape;140;g3c80dd83587_0_18: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0" name="Shape 150"/>
        <p:cNvGrpSpPr/>
        <p:nvPr/>
      </p:nvGrpSpPr>
      <p:grpSpPr>
        <a:xfrm>
          <a:off x="0" y="0"/>
          <a:ext cx="0" cy="0"/>
          <a:chOff x="0" y="0"/>
          <a:chExt cx="0" cy="0"/>
        </a:xfrm>
      </p:grpSpPr>
      <p:sp>
        <p:nvSpPr>
          <p:cNvPr id="151" name="Google Shape;151;p1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p12: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How we deliver differently - communication, behavioral assessment, team fit, culture fit, etc - AI tool to do advanced behavioral assessment</a:t>
            </a:r>
            <a:endParaRPr lang="en-US"/>
          </a:p>
        </p:txBody>
      </p:sp>
      <p:sp>
        <p:nvSpPr>
          <p:cNvPr id="153" name="Google Shape;153;p12: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2" name="Shape 162"/>
        <p:cNvGrpSpPr/>
        <p:nvPr/>
      </p:nvGrpSpPr>
      <p:grpSpPr>
        <a:xfrm>
          <a:off x="0" y="0"/>
          <a:ext cx="0" cy="0"/>
          <a:chOff x="0" y="0"/>
          <a:chExt cx="0" cy="0"/>
        </a:xfrm>
      </p:grpSpPr>
      <p:sp>
        <p:nvSpPr>
          <p:cNvPr id="163" name="Google Shape;163;p1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4" name="Google Shape;164;p13: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65" name="Google Shape;165;p13: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9" name="Shape 179"/>
        <p:cNvGrpSpPr/>
        <p:nvPr/>
      </p:nvGrpSpPr>
      <p:grpSpPr>
        <a:xfrm>
          <a:off x="0" y="0"/>
          <a:ext cx="0" cy="0"/>
          <a:chOff x="0" y="0"/>
          <a:chExt cx="0" cy="0"/>
        </a:xfrm>
      </p:grpSpPr>
      <p:sp>
        <p:nvSpPr>
          <p:cNvPr id="180" name="Google Shape;180;p1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14: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82" name="Google Shape;182;p14: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6" name="Shape 196"/>
        <p:cNvGrpSpPr/>
        <p:nvPr/>
      </p:nvGrpSpPr>
      <p:grpSpPr>
        <a:xfrm>
          <a:off x="0" y="0"/>
          <a:ext cx="0" cy="0"/>
          <a:chOff x="0" y="0"/>
          <a:chExt cx="0" cy="0"/>
        </a:xfrm>
      </p:grpSpPr>
      <p:sp>
        <p:nvSpPr>
          <p:cNvPr id="197" name="Google Shape;197;p1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8" name="Google Shape;198;p15: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99" name="Google Shape;199;p15: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9" name="Shape 209"/>
        <p:cNvGrpSpPr/>
        <p:nvPr/>
      </p:nvGrpSpPr>
      <p:grpSpPr>
        <a:xfrm>
          <a:off x="0" y="0"/>
          <a:ext cx="0" cy="0"/>
          <a:chOff x="0" y="0"/>
          <a:chExt cx="0" cy="0"/>
        </a:xfrm>
      </p:grpSpPr>
      <p:sp>
        <p:nvSpPr>
          <p:cNvPr id="210" name="Google Shape;210;p1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1" name="Google Shape;211;p16: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12" name="Google Shape;212;p16: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2" name="Shape 222"/>
        <p:cNvGrpSpPr/>
        <p:nvPr/>
      </p:nvGrpSpPr>
      <p:grpSpPr>
        <a:xfrm>
          <a:off x="0" y="0"/>
          <a:ext cx="0" cy="0"/>
          <a:chOff x="0" y="0"/>
          <a:chExt cx="0" cy="0"/>
        </a:xfrm>
      </p:grpSpPr>
      <p:sp>
        <p:nvSpPr>
          <p:cNvPr id="223" name="Google Shape;223;p1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4" name="Google Shape;224;p18: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25" name="Google Shape;225;p18: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3" name="Shape 233"/>
        <p:cNvGrpSpPr/>
        <p:nvPr/>
      </p:nvGrpSpPr>
      <p:grpSpPr>
        <a:xfrm>
          <a:off x="0" y="0"/>
          <a:ext cx="0" cy="0"/>
          <a:chOff x="0" y="0"/>
          <a:chExt cx="0" cy="0"/>
        </a:xfrm>
      </p:grpSpPr>
      <p:sp>
        <p:nvSpPr>
          <p:cNvPr id="234" name="Google Shape;234;p1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5" name="Google Shape;235;p19: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36" name="Google Shape;236;p19: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0" name="Shape 250"/>
        <p:cNvGrpSpPr/>
        <p:nvPr/>
      </p:nvGrpSpPr>
      <p:grpSpPr>
        <a:xfrm>
          <a:off x="0" y="0"/>
          <a:ext cx="0" cy="0"/>
          <a:chOff x="0" y="0"/>
          <a:chExt cx="0" cy="0"/>
        </a:xfrm>
      </p:grpSpPr>
      <p:sp>
        <p:nvSpPr>
          <p:cNvPr id="251" name="Google Shape;251;p2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2" name="Google Shape;252;p20: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53" name="Google Shape;253;p20: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6" name="Shape 266"/>
        <p:cNvGrpSpPr/>
        <p:nvPr/>
      </p:nvGrpSpPr>
      <p:grpSpPr>
        <a:xfrm>
          <a:off x="0" y="0"/>
          <a:ext cx="0" cy="0"/>
          <a:chOff x="0" y="0"/>
          <a:chExt cx="0" cy="0"/>
        </a:xfrm>
      </p:grpSpPr>
      <p:sp>
        <p:nvSpPr>
          <p:cNvPr id="267" name="Google Shape;267;p2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8" name="Google Shape;268;p21: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69" name="Google Shape;269;p21: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7" name="Shape 277"/>
        <p:cNvGrpSpPr/>
        <p:nvPr/>
      </p:nvGrpSpPr>
      <p:grpSpPr>
        <a:xfrm>
          <a:off x="0" y="0"/>
          <a:ext cx="0" cy="0"/>
          <a:chOff x="0" y="0"/>
          <a:chExt cx="0" cy="0"/>
        </a:xfrm>
      </p:grpSpPr>
      <p:sp>
        <p:nvSpPr>
          <p:cNvPr id="278" name="Google Shape;278;p2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9" name="Google Shape;279;p22: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80" name="Google Shape;280;p22: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8" name="Shape 288"/>
        <p:cNvGrpSpPr/>
        <p:nvPr/>
      </p:nvGrpSpPr>
      <p:grpSpPr>
        <a:xfrm>
          <a:off x="0" y="0"/>
          <a:ext cx="0" cy="0"/>
          <a:chOff x="0" y="0"/>
          <a:chExt cx="0" cy="0"/>
        </a:xfrm>
      </p:grpSpPr>
      <p:sp>
        <p:nvSpPr>
          <p:cNvPr id="289" name="Google Shape;289;p2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0" name="Google Shape;290;p23: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91" name="Google Shape;291;p23: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5" name="Shape 305"/>
        <p:cNvGrpSpPr/>
        <p:nvPr/>
      </p:nvGrpSpPr>
      <p:grpSpPr>
        <a:xfrm>
          <a:off x="0" y="0"/>
          <a:ext cx="0" cy="0"/>
          <a:chOff x="0" y="0"/>
          <a:chExt cx="0" cy="0"/>
        </a:xfrm>
      </p:grpSpPr>
      <p:sp>
        <p:nvSpPr>
          <p:cNvPr id="306" name="Google Shape;306;p2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24: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08" name="Google Shape;308;p24: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21" name="Shape 321"/>
        <p:cNvGrpSpPr/>
        <p:nvPr/>
      </p:nvGrpSpPr>
      <p:grpSpPr>
        <a:xfrm>
          <a:off x="0" y="0"/>
          <a:ext cx="0" cy="0"/>
          <a:chOff x="0" y="0"/>
          <a:chExt cx="0" cy="0"/>
        </a:xfrm>
      </p:grpSpPr>
      <p:sp>
        <p:nvSpPr>
          <p:cNvPr id="322" name="Google Shape;322;p2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5: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24" name="Google Shape;324;p25: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2" name="Shape 332"/>
        <p:cNvGrpSpPr/>
        <p:nvPr/>
      </p:nvGrpSpPr>
      <p:grpSpPr>
        <a:xfrm>
          <a:off x="0" y="0"/>
          <a:ext cx="0" cy="0"/>
          <a:chOff x="0" y="0"/>
          <a:chExt cx="0" cy="0"/>
        </a:xfrm>
      </p:grpSpPr>
      <p:sp>
        <p:nvSpPr>
          <p:cNvPr id="333" name="Google Shape;333;p2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4" name="Google Shape;334;p27: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35" name="Google Shape;335;p27: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43" name="Shape 343"/>
        <p:cNvGrpSpPr/>
        <p:nvPr/>
      </p:nvGrpSpPr>
      <p:grpSpPr>
        <a:xfrm>
          <a:off x="0" y="0"/>
          <a:ext cx="0" cy="0"/>
          <a:chOff x="0" y="0"/>
          <a:chExt cx="0" cy="0"/>
        </a:xfrm>
      </p:grpSpPr>
      <p:sp>
        <p:nvSpPr>
          <p:cNvPr id="344" name="Google Shape;344;p2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5" name="Google Shape;345;p28: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46" name="Google Shape;346;p28: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56" name="Shape 356"/>
        <p:cNvGrpSpPr/>
        <p:nvPr/>
      </p:nvGrpSpPr>
      <p:grpSpPr>
        <a:xfrm>
          <a:off x="0" y="0"/>
          <a:ext cx="0" cy="0"/>
          <a:chOff x="0" y="0"/>
          <a:chExt cx="0" cy="0"/>
        </a:xfrm>
      </p:grpSpPr>
      <p:sp>
        <p:nvSpPr>
          <p:cNvPr id="357" name="Google Shape;357;p2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8" name="Google Shape;358;p29: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59" name="Google Shape;359;p29: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1">
  <p:cSld name="CUSTOM">
    <p:spTree>
      <p:nvGrpSpPr>
        <p:cNvPr id="10" name="Shape 10"/>
        <p:cNvGrpSpPr/>
        <p:nvPr/>
      </p:nvGrpSpPr>
      <p:grpSpPr>
        <a:xfrm>
          <a:off x="0" y="0"/>
          <a:ext cx="0" cy="0"/>
          <a:chOff x="0" y="0"/>
          <a:chExt cx="0" cy="0"/>
        </a:xfrm>
      </p:grpSpPr>
      <p:sp>
        <p:nvSpPr>
          <p:cNvPr id="11" name="Google Shape;11;p2"/>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lide 1 master 1">
  <p:cSld name="Slide 1 master_1">
    <p:bg>
      <p:bgPr>
        <a:solidFill>
          <a:srgbClr val="000000"/>
        </a:solidFill>
        <a:effectLst/>
      </p:bgPr>
    </p:bg>
    <p:spTree>
      <p:nvGrpSpPr>
        <p:cNvPr id="12" name="Shape 12"/>
        <p:cNvGrpSpPr/>
        <p:nvPr/>
      </p:nvGrpSpPr>
      <p:grpSpPr>
        <a:xfrm>
          <a:off x="0" y="0"/>
          <a:ext cx="0" cy="0"/>
          <a:chOff x="0" y="0"/>
          <a:chExt cx="0" cy="0"/>
        </a:xfrm>
      </p:grpSpPr>
      <p:pic>
        <p:nvPicPr>
          <p:cNvPr id="13" name="Google Shape;13;p3" descr="preencoded.png"/>
          <p:cNvPicPr preferRelativeResize="0"/>
          <p:nvPr/>
        </p:nvPicPr>
        <p:blipFill rotWithShape="1">
          <a:blip r:embed="rId2"/>
          <a:srcRect/>
          <a:stretch>
            <a:fillRect/>
          </a:stretch>
        </p:blipFill>
        <p:spPr>
          <a:xfrm>
            <a:off x="0" y="0"/>
            <a:ext cx="14630397" cy="8229601"/>
          </a:xfrm>
          <a:prstGeom prst="rect">
            <a:avLst/>
          </a:prstGeom>
          <a:noFill/>
          <a:ln>
            <a:noFill/>
          </a:ln>
        </p:spPr>
      </p:pic>
      <p:sp>
        <p:nvSpPr>
          <p:cNvPr id="14" name="Google Shape;14;p3"/>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 name="Google Shape;15;p3"/>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1pPr>
            <a:lvl2pPr marL="0" marR="0" lvl="1"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2pPr>
            <a:lvl3pPr marL="0" marR="0" lvl="2"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3pPr>
            <a:lvl4pPr marL="0" marR="0" lvl="3"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4pPr>
            <a:lvl5pPr marL="0" marR="0" lvl="4"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5pPr>
            <a:lvl6pPr marL="0" marR="0" lvl="5"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6pPr>
            <a:lvl7pPr marL="0" marR="0" lvl="6"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7pPr>
            <a:lvl8pPr marL="0" marR="0" lvl="7"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8pPr>
            <a:lvl9pPr marL="0" marR="0" lvl="8"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9pPr>
          </a:lstStyle>
          <a:p>
            <a:pPr marL="0" lvl="0" indent="0" algn="l" rtl="0">
              <a:spcBef>
                <a:spcPts val="0"/>
              </a:spcBef>
              <a:spcAft>
                <a:spcPts val="0"/>
              </a:spcAft>
              <a:buNone/>
            </a:pPr>
            <a:fld id="{00000000-1234-1234-1234-123412341234}" type="slidenum">
              <a:rPr lang="en-US"/>
            </a:fld>
            <a:endParaRPr lang="en-US"/>
          </a:p>
        </p:txBody>
      </p:sp>
      <p:sp>
        <p:nvSpPr>
          <p:cNvPr id="16" name="Google Shape;16;p3"/>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1pPr>
            <a:lvl2pPr marR="0" lvl="1"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2pPr>
            <a:lvl3pPr marR="0" lvl="2"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3pPr>
            <a:lvl4pPr marR="0" lvl="3"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4pPr>
            <a:lvl5pPr marR="0" lvl="4"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5pPr>
            <a:lvl6pPr marR="0" lvl="5"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6pPr>
            <a:lvl7pPr marR="0" lvl="6"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7pPr>
            <a:lvl8pPr marR="0" lvl="7"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8pPr>
            <a:lvl9pPr marR="0" lvl="8"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9pPr>
          </a:lstStyle>
          <a:p/>
        </p:txBody>
      </p:sp>
      <p:sp>
        <p:nvSpPr>
          <p:cNvPr id="17" name="Google Shape;17;p3"/>
          <p:cNvSpPr txBox="1"/>
          <p:nvPr/>
        </p:nvSpPr>
        <p:spPr>
          <a:xfrm>
            <a:off x="12697450" y="430175"/>
            <a:ext cx="15162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12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12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8" name="Google Shape;18;p3"/>
          <p:cNvSpPr txBox="1"/>
          <p:nvPr/>
        </p:nvSpPr>
        <p:spPr>
          <a:xfrm>
            <a:off x="6478950" y="7608400"/>
            <a:ext cx="16725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999999"/>
                </a:solidFill>
                <a:latin typeface="Urbanist" panose="020B0A04040200000203"/>
                <a:ea typeface="Urbanist" panose="020B0A04040200000203"/>
                <a:cs typeface="Urbanist" panose="020B0A04040200000203"/>
                <a:sym typeface="Urbanist" panose="020B0A04040200000203"/>
              </a:rPr>
              <a:t>Private &amp; Confidential</a:t>
            </a:r>
            <a:endParaRPr sz="1200" b="0" i="1" u="none" strike="noStrike" cap="none">
              <a:solidFill>
                <a:srgbClr val="999999"/>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lide 1 master">
  <p:cSld name="Slide 1 master">
    <p:bg>
      <p:bgPr>
        <a:solidFill>
          <a:srgbClr val="000000"/>
        </a:solidFill>
        <a:effectLst/>
      </p:bgPr>
    </p:bg>
    <p:spTree>
      <p:nvGrpSpPr>
        <p:cNvPr id="19" name="Shape 19"/>
        <p:cNvGrpSpPr/>
        <p:nvPr/>
      </p:nvGrpSpPr>
      <p:grpSpPr>
        <a:xfrm>
          <a:off x="0" y="0"/>
          <a:ext cx="0" cy="0"/>
          <a:chOff x="0" y="0"/>
          <a:chExt cx="0" cy="0"/>
        </a:xfrm>
      </p:grpSpPr>
      <p:pic>
        <p:nvPicPr>
          <p:cNvPr id="20" name="Google Shape;20;p4" descr="preencoded.png"/>
          <p:cNvPicPr preferRelativeResize="0"/>
          <p:nvPr/>
        </p:nvPicPr>
        <p:blipFill rotWithShape="1">
          <a:blip r:embed="rId2"/>
          <a:srcRect/>
          <a:stretch>
            <a:fillRect/>
          </a:stretch>
        </p:blipFill>
        <p:spPr>
          <a:xfrm>
            <a:off x="0" y="0"/>
            <a:ext cx="14630400" cy="8229600"/>
          </a:xfrm>
          <a:prstGeom prst="rect">
            <a:avLst/>
          </a:prstGeom>
          <a:noFill/>
          <a:ln>
            <a:noFill/>
          </a:ln>
        </p:spPr>
      </p:pic>
      <p:sp>
        <p:nvSpPr>
          <p:cNvPr id="21" name="Google Shape;21;p4"/>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2" name="Google Shape;22;p4"/>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1pPr>
            <a:lvl2pPr marL="0" marR="0" lvl="1"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2pPr>
            <a:lvl3pPr marL="0" marR="0" lvl="2"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3pPr>
            <a:lvl4pPr marL="0" marR="0" lvl="3"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4pPr>
            <a:lvl5pPr marL="0" marR="0" lvl="4"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5pPr>
            <a:lvl6pPr marL="0" marR="0" lvl="5"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6pPr>
            <a:lvl7pPr marL="0" marR="0" lvl="6"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7pPr>
            <a:lvl8pPr marL="0" marR="0" lvl="7"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8pPr>
            <a:lvl9pPr marL="0" marR="0" lvl="8"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9pPr>
          </a:lstStyle>
          <a:p>
            <a:pPr marL="0" lvl="0" indent="0" algn="l" rtl="0">
              <a:spcBef>
                <a:spcPts val="0"/>
              </a:spcBef>
              <a:spcAft>
                <a:spcPts val="0"/>
              </a:spcAft>
              <a:buNone/>
            </a:pPr>
            <a:fld id="{00000000-1234-1234-1234-123412341234}" type="slidenum">
              <a:rPr lang="en-US"/>
            </a:fld>
            <a:endParaRPr lang="en-US"/>
          </a:p>
        </p:txBody>
      </p:sp>
      <p:sp>
        <p:nvSpPr>
          <p:cNvPr id="23" name="Google Shape;23;p4"/>
          <p:cNvSpPr txBox="1"/>
          <p:nvPr/>
        </p:nvSpPr>
        <p:spPr>
          <a:xfrm>
            <a:off x="12697450" y="430175"/>
            <a:ext cx="15162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12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12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24" name="Google Shape;24;p4"/>
          <p:cNvSpPr txBox="1"/>
          <p:nvPr/>
        </p:nvSpPr>
        <p:spPr>
          <a:xfrm>
            <a:off x="6478950" y="7608400"/>
            <a:ext cx="16725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999999"/>
                </a:solidFill>
                <a:latin typeface="Urbanist" panose="020B0A04040200000203"/>
                <a:ea typeface="Urbanist" panose="020B0A04040200000203"/>
                <a:cs typeface="Urbanist" panose="020B0A04040200000203"/>
                <a:sym typeface="Urbanist" panose="020B0A04040200000203"/>
              </a:rPr>
              <a:t>Private &amp; Confidential</a:t>
            </a:r>
            <a:endParaRPr sz="1200" b="0" i="1" u="none" strike="noStrike" cap="none">
              <a:solidFill>
                <a:srgbClr val="999999"/>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9"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9" name="Shape 29"/>
        <p:cNvGrpSpPr/>
        <p:nvPr/>
      </p:nvGrpSpPr>
      <p:grpSpPr>
        <a:xfrm>
          <a:off x="0" y="0"/>
          <a:ext cx="0" cy="0"/>
          <a:chOff x="0" y="0"/>
          <a:chExt cx="0" cy="0"/>
        </a:xfrm>
      </p:grpSpPr>
      <p:sp>
        <p:nvSpPr>
          <p:cNvPr id="30" name="Google Shape;30;p5"/>
          <p:cNvSpPr txBox="1"/>
          <p:nvPr/>
        </p:nvSpPr>
        <p:spPr>
          <a:xfrm>
            <a:off x="801350" y="490725"/>
            <a:ext cx="9926700" cy="116649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6400"/>
              <a:buFont typeface="Arial" panose="020B0604020202020204"/>
              <a:buNone/>
            </a:pPr>
            <a:r>
              <a:rPr lang="en-US" sz="6400">
                <a:sym typeface="+mn-ea"/>
              </a:rPr>
              <a:t>[Candidate Name] </a:t>
            </a:r>
            <a:r>
              <a:rPr lang="en-US" sz="6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’s </a:t>
            </a:r>
            <a:r>
              <a:rPr lang="en-US" sz="6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Deck</a:t>
            </a:r>
            <a:endParaRPr sz="6400" b="0" i="1"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1" name="Google Shape;31;p5"/>
          <p:cNvSpPr txBox="1"/>
          <p:nvPr/>
        </p:nvSpPr>
        <p:spPr>
          <a:xfrm>
            <a:off x="803100" y="7514200"/>
            <a:ext cx="9479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2" name="Google Shape;32;p5"/>
          <p:cNvSpPr/>
          <p:nvPr/>
        </p:nvSpPr>
        <p:spPr>
          <a:xfrm>
            <a:off x="3344000" y="5537188"/>
            <a:ext cx="266100" cy="266100"/>
          </a:xfrm>
          <a:prstGeom prst="ellipse">
            <a:avLst/>
          </a:prstGeom>
          <a:solidFill>
            <a:srgbClr val="EEEFF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 name="Google Shape;33;p5"/>
          <p:cNvSpPr txBox="1"/>
          <p:nvPr/>
        </p:nvSpPr>
        <p:spPr>
          <a:xfrm>
            <a:off x="885550" y="1601100"/>
            <a:ext cx="12943500" cy="25245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000"/>
              </a:spcBef>
              <a:spcAft>
                <a:spcPts val="0"/>
              </a:spcAft>
              <a:buClr>
                <a:srgbClr val="000000"/>
              </a:buClr>
              <a:buSzPts val="1800"/>
              <a:buFont typeface="Arial" panose="020B0604020202020204"/>
              <a:buNone/>
            </a:pPr>
            <a:r>
              <a:rPr lang="en-US" sz="1800" b="1">
                <a:solidFill>
                  <a:schemeClr val="dk1"/>
                </a:solidFill>
                <a:latin typeface="Urbanist" panose="020B0A04040200000203"/>
                <a:ea typeface="Urbanist" panose="020B0A04040200000203"/>
                <a:cs typeface="Urbanist" panose="020B0A04040200000203"/>
                <a:sym typeface="Urbanist" panose="020B0A04040200000203"/>
              </a:rPr>
              <a:t>Backend AI Engineer &amp; Software Engineer</a:t>
            </a:r>
            <a:endParaRPr sz="1800" b="1">
              <a:solidFill>
                <a:schemeClr val="dk1"/>
              </a:solidFill>
              <a:latin typeface="Urbanist" panose="020B0A04040200000203"/>
              <a:ea typeface="Urbanist" panose="020B0A04040200000203"/>
              <a:cs typeface="Urbanist" panose="020B0A04040200000203"/>
              <a:sym typeface="Urbanist" panose="020B0A04040200000203"/>
            </a:endParaRPr>
          </a:p>
          <a:p>
            <a:pPr marL="0" marR="3505200" lvl="0" indent="0" algn="l" rtl="0">
              <a:lnSpc>
                <a:spcPct val="115000"/>
              </a:lnSpc>
              <a:spcBef>
                <a:spcPts val="0"/>
              </a:spcBef>
              <a:spcAft>
                <a:spcPts val="0"/>
              </a:spcAft>
              <a:buClr>
                <a:srgbClr val="000000"/>
              </a:buClr>
              <a:buSzPts val="1800"/>
              <a:buFont typeface="Arial" panose="020B0604020202020204"/>
              <a:buNone/>
            </a:pP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[X+ years delivering scalable backend systems, microservices, and AI-powered infrastructure]</a:t>
            </a:r>
            <a:endParaRPr sz="180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lvl="0" indent="0" algn="l" rtl="0">
              <a:lnSpc>
                <a:spcPct val="115000"/>
              </a:lnSpc>
              <a:spcBef>
                <a:spcPts val="1200"/>
              </a:spcBef>
              <a:spcAft>
                <a:spcPts val="0"/>
              </a:spcAft>
              <a:buClr>
                <a:schemeClr val="dk1"/>
              </a:buClr>
              <a:buSzPts val="1100"/>
              <a:buFont typeface="Arial" panose="020B0604020202020204"/>
              <a:buNone/>
            </a:pP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[Candidate Name] is continuing to grow across diverse industries partnered with Futureproofing.</a:t>
            </a:r>
            <a:endParaRPr sz="11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20204"/>
              <a:buNone/>
            </a:pPr>
            <a:endParaRPr sz="180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3505200" lvl="0" indent="0" algn="l" rtl="0">
              <a:lnSpc>
                <a:spcPct val="115000"/>
              </a:lnSpc>
              <a:spcBef>
                <a:spcPts val="1200"/>
              </a:spcBef>
              <a:spcAft>
                <a:spcPts val="0"/>
              </a:spcAft>
              <a:buClr>
                <a:srgbClr val="000000"/>
              </a:buClr>
              <a:buSzPts val="1800"/>
              <a:buFont typeface="Arial" panose="020B0604020202020204"/>
              <a:buNone/>
            </a:pPr>
            <a:endParaRPr sz="180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3505200" lvl="0" indent="0" algn="l" rtl="0">
              <a:lnSpc>
                <a:spcPct val="115000"/>
              </a:lnSpc>
              <a:spcBef>
                <a:spcPts val="1500"/>
              </a:spcBef>
              <a:spcAft>
                <a:spcPts val="0"/>
              </a:spcAft>
              <a:buClr>
                <a:srgbClr val="000000"/>
              </a:buClr>
              <a:buSzPts val="1800"/>
              <a:buFont typeface="Arial" panose="020B0604020202020204"/>
              <a:buNone/>
            </a:pPr>
            <a:endParaRPr sz="180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34" name="Google Shape;34;p5"/>
          <p:cNvGrpSpPr/>
          <p:nvPr/>
        </p:nvGrpSpPr>
        <p:grpSpPr>
          <a:xfrm>
            <a:off x="803100" y="2903447"/>
            <a:ext cx="7914730" cy="1474511"/>
            <a:chOff x="1518223" y="2327475"/>
            <a:chExt cx="7424700" cy="1383219"/>
          </a:xfrm>
        </p:grpSpPr>
        <p:sp>
          <p:nvSpPr>
            <p:cNvPr id="35" name="Google Shape;35;p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Deep AI Experience</a:t>
              </a:r>
              <a:endParaRPr sz="1440" b="1" i="0" u="none" strike="noStrike" cap="none">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6" name="Google Shape;36;p5"/>
            <p:cNvSpPr txBox="1"/>
            <p:nvPr/>
          </p:nvSpPr>
          <p:spPr>
            <a:xfrm>
              <a:off x="1518223" y="2894094"/>
              <a:ext cx="7424700" cy="816600"/>
            </a:xfrm>
            <a:prstGeom prst="rect">
              <a:avLst/>
            </a:prstGeom>
            <a:noFill/>
            <a:ln>
              <a:noFill/>
            </a:ln>
          </p:spPr>
          <p:txBody>
            <a:bodyPr spcFirstLastPara="1" wrap="square" lIns="97450" tIns="97450" rIns="97450" bIns="97450" anchor="t" anchorCtr="0">
              <a:spAutoFit/>
            </a:bodyPr>
            <a:lstStyle/>
            <a:p>
              <a:pPr marL="487680" marR="0" lvl="0" indent="-351790" algn="l" rtl="0">
                <a:lnSpc>
                  <a:spcPct val="115000"/>
                </a:lnSpc>
                <a:spcBef>
                  <a:spcPts val="0"/>
                </a:spcBef>
                <a:spcAft>
                  <a:spcPts val="0"/>
                </a:spcAft>
                <a:buClr>
                  <a:schemeClr val="dk1"/>
                </a:buClr>
                <a:buSzPts val="1706"/>
                <a:buFont typeface="Urbanist Light" panose="020B0A04040200000203"/>
                <a:buChar char="●"/>
              </a:pPr>
              <a:r>
                <a:rPr lang="en-US" sz="1705">
                  <a:solidFill>
                    <a:schemeClr val="dk1"/>
                  </a:solidFill>
                  <a:latin typeface="Urbanist Light" panose="020B0A04040200000203"/>
                  <a:ea typeface="Urbanist Light" panose="020B0A04040200000203"/>
                  <a:cs typeface="Urbanist Light" panose="020B0A04040200000203"/>
                  <a:sym typeface="Urbanist Light" panose="020B0A04040200000203"/>
                </a:rPr>
                <a:t>[Summary 1]</a:t>
              </a: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8768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7" name="Google Shape;37;p5"/>
          <p:cNvGrpSpPr/>
          <p:nvPr/>
        </p:nvGrpSpPr>
        <p:grpSpPr>
          <a:xfrm>
            <a:off x="803100" y="4872697"/>
            <a:ext cx="9198727" cy="1191895"/>
            <a:chOff x="1518223" y="2327475"/>
            <a:chExt cx="8629200" cy="1118100"/>
          </a:xfrm>
        </p:grpSpPr>
        <p:sp>
          <p:nvSpPr>
            <p:cNvPr id="38" name="Google Shape;38;p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Key Achievements</a:t>
              </a:r>
              <a:endParaRPr sz="1440" b="1" i="0" u="none" strike="noStrike" cap="none">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9" name="Google Shape;39;p5"/>
            <p:cNvSpPr txBox="1"/>
            <p:nvPr/>
          </p:nvSpPr>
          <p:spPr>
            <a:xfrm>
              <a:off x="1518223" y="2894094"/>
              <a:ext cx="8629200" cy="431100"/>
            </a:xfrm>
            <a:prstGeom prst="rect">
              <a:avLst/>
            </a:prstGeom>
            <a:noFill/>
            <a:ln>
              <a:noFill/>
            </a:ln>
          </p:spPr>
          <p:txBody>
            <a:bodyPr spcFirstLastPara="1" wrap="square" lIns="97450" tIns="97450" rIns="97450" bIns="97450" anchor="t" anchorCtr="0">
              <a:spAutoFit/>
            </a:bodyPr>
            <a:lstStyle/>
            <a:p>
              <a:pPr marL="487680" marR="0" lvl="0" indent="-351790" algn="l" rtl="0">
                <a:lnSpc>
                  <a:spcPct val="115000"/>
                </a:lnSpc>
                <a:spcBef>
                  <a:spcPts val="0"/>
                </a:spcBef>
                <a:spcAft>
                  <a:spcPts val="0"/>
                </a:spcAft>
                <a:buClr>
                  <a:schemeClr val="dk1"/>
                </a:buClr>
                <a:buSzPts val="1706"/>
                <a:buFont typeface="Urbanist Light" panose="020B0A04040200000203"/>
                <a:buChar char="●"/>
              </a:pPr>
              <a:r>
                <a:rPr lang="en-US" sz="1705">
                  <a:solidFill>
                    <a:schemeClr val="dk1"/>
                  </a:solidFill>
                  <a:latin typeface="Urbanist Light" panose="020B0A04040200000203"/>
                  <a:ea typeface="Urbanist Light" panose="020B0A04040200000203"/>
                  <a:cs typeface="Urbanist Light" panose="020B0A04040200000203"/>
                  <a:sym typeface="Urbanist Light" panose="020B0A04040200000203"/>
                </a:rPr>
                <a:t>[Summary 2]</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44" name="Shape 44"/>
        <p:cNvGrpSpPr/>
        <p:nvPr/>
      </p:nvGrpSpPr>
      <p:grpSpPr>
        <a:xfrm>
          <a:off x="0" y="0"/>
          <a:ext cx="0" cy="0"/>
          <a:chOff x="0" y="0"/>
          <a:chExt cx="0" cy="0"/>
        </a:xfrm>
      </p:grpSpPr>
      <p:sp>
        <p:nvSpPr>
          <p:cNvPr id="45" name="Google Shape;45;p6"/>
          <p:cNvSpPr txBox="1"/>
          <p:nvPr/>
        </p:nvSpPr>
        <p:spPr>
          <a:xfrm>
            <a:off x="984825" y="2252075"/>
            <a:ext cx="10682400" cy="13731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rgbClr val="000000"/>
              </a:buClr>
              <a:buSzPts val="2400"/>
              <a:buFont typeface="Arial" panose="020B0604020202020204"/>
              <a:buNone/>
            </a:pPr>
            <a:r>
              <a:rPr lang="en-US" sz="2400">
                <a:solidFill>
                  <a:schemeClr val="dk1"/>
                </a:solidFill>
                <a:latin typeface="Urbanist Light" panose="020B0A04040200000203"/>
                <a:ea typeface="Urbanist Light" panose="020B0A04040200000203"/>
                <a:cs typeface="Urbanist Light" panose="020B0A04040200000203"/>
                <a:sym typeface="Urbanist Light" panose="020B0A04040200000203"/>
              </a:rPr>
              <a:t>[Candidate name] </a:t>
            </a:r>
            <a:r>
              <a:rPr lang="en-US" sz="24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represents the convergence of versatility, strong communication, real 0→1 execution, and AI-native development practices.</a:t>
            </a:r>
            <a:endParaRPr sz="24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1200"/>
              </a:spcAft>
              <a:buClr>
                <a:srgbClr val="000000"/>
              </a:buClr>
              <a:buSzPts val="2400"/>
              <a:buFont typeface="Arial" panose="020B0604020202020204"/>
              <a:buNone/>
            </a:pPr>
            <a:endParaRPr sz="24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46" name="Google Shape;46;p6"/>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47" name="Google Shape;47;p6"/>
          <p:cNvSpPr txBox="1"/>
          <p:nvPr>
            <p:ph type="title"/>
          </p:nvPr>
        </p:nvSpPr>
        <p:spPr>
          <a:xfrm>
            <a:off x="854550" y="875000"/>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sz="3600"/>
              <a:t>We Review Hundreds of Engineers - Only ~1% Make It This Far.</a:t>
            </a:r>
            <a:r>
              <a:rPr lang="en-US" sz="3600"/>
              <a:t> [Candidate Name] Is One of Them.</a:t>
            </a:r>
            <a:endParaRPr sz="3600"/>
          </a:p>
        </p:txBody>
      </p:sp>
      <p:grpSp>
        <p:nvGrpSpPr>
          <p:cNvPr id="48" name="Google Shape;48;p6"/>
          <p:cNvGrpSpPr/>
          <p:nvPr/>
        </p:nvGrpSpPr>
        <p:grpSpPr>
          <a:xfrm>
            <a:off x="984825" y="3381850"/>
            <a:ext cx="3981600" cy="2845950"/>
            <a:chOff x="1518225" y="2592750"/>
            <a:chExt cx="3981600" cy="2845950"/>
          </a:xfrm>
        </p:grpSpPr>
        <p:sp>
          <p:nvSpPr>
            <p:cNvPr id="49" name="Google Shape;49;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1</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50" name="Google Shape;50;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a:solidFill>
                    <a:srgbClr val="7068F4"/>
                  </a:solidFill>
                  <a:latin typeface="Urbanist Medium" panose="020B0A04040200000203"/>
                  <a:ea typeface="Urbanist Medium" panose="020B0A04040200000203"/>
                  <a:cs typeface="Urbanist Medium" panose="020B0A04040200000203"/>
                  <a:sym typeface="Urbanist Medium" panose="020B0A04040200000203"/>
                </a:rPr>
                <a:t>[Quality 1]</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51" name="Google Shape;51;p6"/>
            <p:cNvSpPr txBox="1"/>
            <p:nvPr/>
          </p:nvSpPr>
          <p:spPr>
            <a:xfrm>
              <a:off x="1518225" y="4570500"/>
              <a:ext cx="3981600" cy="8682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600"/>
                <a:buFont typeface="Arial" panose="020B0604020202020204"/>
                <a:buNone/>
              </a:pPr>
              <a:r>
                <a:rPr lang="en-US" sz="1600">
                  <a:solidFill>
                    <a:schemeClr val="dk1"/>
                  </a:solidFill>
                  <a:latin typeface="Urbanist Light" panose="020B0A04040200000203"/>
                  <a:ea typeface="Urbanist Light" panose="020B0A04040200000203"/>
                  <a:cs typeface="Urbanist Light" panose="020B0A04040200000203"/>
                  <a:sym typeface="Urbanist Light" panose="020B0A04040200000203"/>
                </a:rPr>
                <a:t>[Description 1]</a:t>
              </a:r>
              <a:endParaRPr sz="1150" b="0" i="0" u="none" strike="noStrike" cap="none">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200"/>
                </a:spcBef>
                <a:spcAft>
                  <a:spcPts val="1200"/>
                </a:spcAft>
                <a:buClr>
                  <a:srgbClr val="000000"/>
                </a:buClr>
                <a:buSzPts val="1600"/>
                <a:buFont typeface="Arial" panose="020B0604020202020204"/>
                <a:buNone/>
              </a:pPr>
              <a:endParaRPr sz="160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grpSp>
      <p:grpSp>
        <p:nvGrpSpPr>
          <p:cNvPr id="52" name="Google Shape;52;p6"/>
          <p:cNvGrpSpPr/>
          <p:nvPr/>
        </p:nvGrpSpPr>
        <p:grpSpPr>
          <a:xfrm>
            <a:off x="5586263" y="3381850"/>
            <a:ext cx="3981600" cy="2692050"/>
            <a:chOff x="1518225" y="2592750"/>
            <a:chExt cx="3981600" cy="2692050"/>
          </a:xfrm>
        </p:grpSpPr>
        <p:sp>
          <p:nvSpPr>
            <p:cNvPr id="53" name="Google Shape;53;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2</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54" name="Google Shape;54;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a:solidFill>
                    <a:srgbClr val="7068F4"/>
                  </a:solidFill>
                  <a:latin typeface="Urbanist Medium" panose="020B0A04040200000203"/>
                  <a:ea typeface="Urbanist Medium" panose="020B0A04040200000203"/>
                  <a:cs typeface="Urbanist Medium" panose="020B0A04040200000203"/>
                  <a:sym typeface="Urbanist Medium" panose="020B0A04040200000203"/>
                </a:rPr>
                <a:t>[Quality 2]</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55" name="Google Shape;55;p6"/>
            <p:cNvSpPr txBox="1"/>
            <p:nvPr/>
          </p:nvSpPr>
          <p:spPr>
            <a:xfrm>
              <a:off x="1518225" y="4570500"/>
              <a:ext cx="3981600" cy="7143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600"/>
                <a:buFont typeface="Arial" panose="020B0604020202020204"/>
                <a:buNone/>
              </a:pPr>
              <a:r>
                <a:rPr lang="en-US" sz="1600">
                  <a:solidFill>
                    <a:schemeClr val="dk1"/>
                  </a:solidFill>
                  <a:latin typeface="Urbanist Light" panose="020B0A04040200000203"/>
                  <a:ea typeface="Urbanist Light" panose="020B0A04040200000203"/>
                  <a:cs typeface="Urbanist Light" panose="020B0A04040200000203"/>
                  <a:sym typeface="Urbanist Light" panose="020B0A04040200000203"/>
                </a:rPr>
                <a:t>[Description 2]</a:t>
              </a:r>
              <a:endParaRPr sz="1150" b="0" i="0" u="none" strike="noStrike" cap="none">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600"/>
                <a:buFont typeface="Arial" panose="020B0604020202020204"/>
                <a:buNone/>
              </a:pPr>
              <a:endParaRPr sz="16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56" name="Google Shape;56;p6"/>
          <p:cNvGrpSpPr/>
          <p:nvPr/>
        </p:nvGrpSpPr>
        <p:grpSpPr>
          <a:xfrm>
            <a:off x="10187700" y="3381850"/>
            <a:ext cx="3981600" cy="2408850"/>
            <a:chOff x="1518225" y="2592750"/>
            <a:chExt cx="3981600" cy="2408850"/>
          </a:xfrm>
        </p:grpSpPr>
        <p:sp>
          <p:nvSpPr>
            <p:cNvPr id="57" name="Google Shape;57;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3</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58" name="Google Shape;58;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panose="020B0604020202020204"/>
                <a:buNone/>
              </a:pPr>
              <a:r>
                <a:rPr lang="en-US" sz="2400">
                  <a:solidFill>
                    <a:srgbClr val="7068F4"/>
                  </a:solidFill>
                  <a:latin typeface="Urbanist Medium" panose="020B0A04040200000203"/>
                  <a:ea typeface="Urbanist Medium" panose="020B0A04040200000203"/>
                  <a:cs typeface="Urbanist Medium" panose="020B0A04040200000203"/>
                  <a:sym typeface="Urbanist Medium" panose="020B0A04040200000203"/>
                </a:rPr>
                <a:t>[Quality 3]</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59" name="Google Shape;59;p6"/>
            <p:cNvSpPr txBox="1"/>
            <p:nvPr/>
          </p:nvSpPr>
          <p:spPr>
            <a:xfrm>
              <a:off x="1518225" y="4570500"/>
              <a:ext cx="39816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chemeClr val="dk1"/>
                </a:buClr>
                <a:buSzPts val="1100"/>
                <a:buFont typeface="Arial" panose="020B0604020202020204"/>
                <a:buNone/>
              </a:pPr>
              <a:r>
                <a:rPr lang="en-US" sz="1600">
                  <a:solidFill>
                    <a:schemeClr val="dk1"/>
                  </a:solidFill>
                  <a:latin typeface="Urbanist Light" panose="020B0A04040200000203"/>
                  <a:ea typeface="Urbanist Light" panose="020B0A04040200000203"/>
                  <a:cs typeface="Urbanist Light" panose="020B0A04040200000203"/>
                  <a:sym typeface="Urbanist Light" panose="020B0A04040200000203"/>
                </a:rPr>
                <a:t>[Description 3]</a:t>
              </a:r>
              <a:endParaRPr sz="16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64" name="Shape 64"/>
        <p:cNvGrpSpPr/>
        <p:nvPr/>
      </p:nvGrpSpPr>
      <p:grpSpPr>
        <a:xfrm>
          <a:off x="0" y="0"/>
          <a:ext cx="0" cy="0"/>
          <a:chOff x="0" y="0"/>
          <a:chExt cx="0" cy="0"/>
        </a:xfrm>
      </p:grpSpPr>
      <p:sp>
        <p:nvSpPr>
          <p:cNvPr id="65" name="Google Shape;65;p7"/>
          <p:cNvSpPr/>
          <p:nvPr/>
        </p:nvSpPr>
        <p:spPr>
          <a:xfrm>
            <a:off x="804025" y="2584350"/>
            <a:ext cx="9651900" cy="50154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6" name="Google Shape;66;p7"/>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67" name="Google Shape;67;p7"/>
          <p:cNvSpPr txBox="1"/>
          <p:nvPr>
            <p:ph type="title"/>
          </p:nvPr>
        </p:nvSpPr>
        <p:spPr>
          <a:xfrm>
            <a:off x="854550" y="715353"/>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Why [Candidate Name] Beats 99.99% of Applicants</a:t>
            </a:r>
            <a:endParaRPr lang="en-US"/>
          </a:p>
        </p:txBody>
      </p:sp>
      <p:sp>
        <p:nvSpPr>
          <p:cNvPr id="68" name="Google Shape;68;p7"/>
          <p:cNvSpPr txBox="1"/>
          <p:nvPr/>
        </p:nvSpPr>
        <p:spPr>
          <a:xfrm>
            <a:off x="1314250" y="2847250"/>
            <a:ext cx="4541400" cy="2370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Clear Communicator</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Extremely organized thinking — often answers follow-ups before being asked. Communicates technical tradeoffs with clarity.</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69" name="Google Shape;69;p7"/>
          <p:cNvSpPr txBox="1"/>
          <p:nvPr/>
        </p:nvSpPr>
        <p:spPr>
          <a:xfrm>
            <a:off x="1314175" y="5169500"/>
            <a:ext cx="4541400" cy="2047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300"/>
              <a:buFont typeface="Arial" panose="020B0604020202020204"/>
              <a:buNone/>
            </a:pPr>
            <a:r>
              <a:rPr lang="en-US" sz="23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Problem-Solver First</a:t>
            </a:r>
            <a:endParaRPr sz="23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Approaches ambiguity with structured reasoning, methodical debugging, and strong ownership over outcomes.</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70" name="Google Shape;70;p7"/>
          <p:cNvSpPr txBox="1"/>
          <p:nvPr/>
        </p:nvSpPr>
        <p:spPr>
          <a:xfrm>
            <a:off x="5757925" y="2847250"/>
            <a:ext cx="4647600" cy="2062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Fast Moving Ownership</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Thrives in environments where he can ship quickly, validate with users, iterate, and scale systems based on real data.</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71" name="Google Shape;71;p7"/>
          <p:cNvSpPr txBox="1"/>
          <p:nvPr/>
        </p:nvSpPr>
        <p:spPr>
          <a:xfrm>
            <a:off x="5855575" y="5161850"/>
            <a:ext cx="4260900" cy="2370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AI-Native Developer</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Uses Cursor, GPT, and generative AI to automate documentation, boilerplate, prompts, and analysis. Demonstrates real applied AI usage</a:t>
            </a:r>
            <a:r>
              <a:rPr lang="en-US" sz="2000">
                <a:solidFill>
                  <a:srgbClr val="7068F4"/>
                </a:solidFill>
                <a:latin typeface="Urbanist Medium" panose="020B0A04040200000203"/>
                <a:ea typeface="Urbanist Medium" panose="020B0A04040200000203"/>
                <a:cs typeface="Urbanist Medium" panose="020B0A04040200000203"/>
                <a:sym typeface="Urbanist Medium" panose="020B0A04040200000203"/>
              </a:rPr>
              <a:t>.</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72" name="Google Shape;72;p7"/>
          <p:cNvSpPr/>
          <p:nvPr/>
        </p:nvSpPr>
        <p:spPr>
          <a:xfrm>
            <a:off x="11331850" y="3698550"/>
            <a:ext cx="2633700" cy="23550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3" name="Google Shape;73;p7"/>
          <p:cNvSpPr txBox="1"/>
          <p:nvPr/>
        </p:nvSpPr>
        <p:spPr>
          <a:xfrm>
            <a:off x="11682700" y="3952500"/>
            <a:ext cx="1932000" cy="1847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We review hundreds of developers for every </a:t>
            </a:r>
            <a:r>
              <a:rPr lang="en-US" sz="18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1</a:t>
            </a:r>
            <a:r>
              <a:rPr lang="en-US"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 that makes it to our team</a:t>
            </a: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78" name="Shape 78"/>
        <p:cNvGrpSpPr/>
        <p:nvPr/>
      </p:nvGrpSpPr>
      <p:grpSpPr>
        <a:xfrm>
          <a:off x="0" y="0"/>
          <a:ext cx="0" cy="0"/>
          <a:chOff x="0" y="0"/>
          <a:chExt cx="0" cy="0"/>
        </a:xfrm>
      </p:grpSpPr>
      <p:sp>
        <p:nvSpPr>
          <p:cNvPr id="79" name="Google Shape;79;p8"/>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80" name="Google Shape;80;p8"/>
          <p:cNvSpPr txBox="1"/>
          <p:nvPr>
            <p:ph type="title"/>
          </p:nvPr>
        </p:nvSpPr>
        <p:spPr>
          <a:xfrm>
            <a:off x="854550" y="66757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sz="4000"/>
              <a:t>[Candidate Name]</a:t>
            </a:r>
            <a:r>
              <a:rPr lang="en-US" sz="4000"/>
              <a:t> Is a Back-End AI-Native Engineer With Production-Level Experience Across Modern Systems</a:t>
            </a:r>
            <a:endParaRPr sz="4000"/>
          </a:p>
        </p:txBody>
      </p:sp>
      <p:grpSp>
        <p:nvGrpSpPr>
          <p:cNvPr id="81" name="Google Shape;81;p8"/>
          <p:cNvGrpSpPr/>
          <p:nvPr/>
        </p:nvGrpSpPr>
        <p:grpSpPr>
          <a:xfrm>
            <a:off x="956125" y="2573600"/>
            <a:ext cx="3981600" cy="2487825"/>
            <a:chOff x="1518225" y="2592750"/>
            <a:chExt cx="3981600" cy="2487825"/>
          </a:xfrm>
        </p:grpSpPr>
        <p:sp>
          <p:nvSpPr>
            <p:cNvPr id="82" name="Google Shape;82;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1</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83" name="Google Shape;83;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Backend &amp; Infrastructure</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84" name="Google Shape;84;p8"/>
            <p:cNvSpPr txBox="1"/>
            <p:nvPr/>
          </p:nvSpPr>
          <p:spPr>
            <a:xfrm>
              <a:off x="1518225" y="4176975"/>
              <a:ext cx="3981600" cy="903600"/>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panose="020B0A04040200000203"/>
                <a:buChar char="-"/>
              </a:pP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1200"/>
                </a:spcAft>
                <a:buClr>
                  <a:srgbClr val="000000"/>
                </a:buClr>
                <a:buSzPts val="1600"/>
                <a:buFont typeface="Arial" panose="020B0604020202020204"/>
                <a:buNone/>
              </a:pPr>
              <a:endParaRPr sz="160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grpSp>
      <p:grpSp>
        <p:nvGrpSpPr>
          <p:cNvPr id="85" name="Google Shape;85;p8"/>
          <p:cNvGrpSpPr/>
          <p:nvPr/>
        </p:nvGrpSpPr>
        <p:grpSpPr>
          <a:xfrm>
            <a:off x="5565213" y="2573600"/>
            <a:ext cx="3981600" cy="2675325"/>
            <a:chOff x="1518225" y="2592750"/>
            <a:chExt cx="3981600" cy="2675325"/>
          </a:xfrm>
        </p:grpSpPr>
        <p:sp>
          <p:nvSpPr>
            <p:cNvPr id="86" name="Google Shape;86;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2</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87" name="Google Shape;87;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Full-Stack</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88" name="Google Shape;88;p8"/>
            <p:cNvSpPr txBox="1"/>
            <p:nvPr/>
          </p:nvSpPr>
          <p:spPr>
            <a:xfrm>
              <a:off x="1518225" y="4176975"/>
              <a:ext cx="3981600" cy="1091100"/>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panose="020B0A04040200000203"/>
                <a:buChar char="-"/>
              </a:pP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0"/>
                </a:spcBef>
                <a:spcAft>
                  <a:spcPts val="0"/>
                </a:spcAft>
                <a:buClr>
                  <a:srgbClr val="000000"/>
                </a:buClr>
                <a:buSzPts val="1350"/>
                <a:buFont typeface="Arial" panose="020B0604020202020204"/>
                <a:buNone/>
              </a:pPr>
              <a:endParaRPr sz="13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800"/>
                </a:spcBef>
                <a:spcAft>
                  <a:spcPts val="0"/>
                </a:spcAft>
                <a:buClr>
                  <a:srgbClr val="000000"/>
                </a:buClr>
                <a:buSzPts val="1600"/>
                <a:buFont typeface="Arial" panose="020B0604020202020204"/>
                <a:buNone/>
              </a:pPr>
              <a:endParaRPr sz="16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89" name="Google Shape;89;p8"/>
          <p:cNvGrpSpPr/>
          <p:nvPr/>
        </p:nvGrpSpPr>
        <p:grpSpPr>
          <a:xfrm>
            <a:off x="9386700" y="2573600"/>
            <a:ext cx="3981600" cy="2436525"/>
            <a:chOff x="1518225" y="2592750"/>
            <a:chExt cx="3981600" cy="2436525"/>
          </a:xfrm>
        </p:grpSpPr>
        <p:sp>
          <p:nvSpPr>
            <p:cNvPr id="90" name="Google Shape;90;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3</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91" name="Google Shape;91;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AI &amp; Development Tools</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92" name="Google Shape;92;p8"/>
            <p:cNvSpPr txBox="1"/>
            <p:nvPr/>
          </p:nvSpPr>
          <p:spPr>
            <a:xfrm>
              <a:off x="1518225" y="4176975"/>
              <a:ext cx="3981600" cy="852300"/>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panose="020B0A04040200000203"/>
                <a:buChar char="-"/>
              </a:pP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00"/>
                </a:spcBef>
                <a:spcAft>
                  <a:spcPts val="0"/>
                </a:spcAft>
                <a:buClr>
                  <a:srgbClr val="000000"/>
                </a:buClr>
                <a:buSzPts val="1600"/>
                <a:buFont typeface="Arial" panose="020B0604020202020204"/>
                <a:buNone/>
              </a:pPr>
              <a:endParaRPr sz="16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pic>
        <p:nvPicPr>
          <p:cNvPr id="93" name="Google Shape;93;p8"/>
          <p:cNvPicPr preferRelativeResize="0"/>
          <p:nvPr/>
        </p:nvPicPr>
        <p:blipFill rotWithShape="1">
          <a:blip r:embed="rId1"/>
          <a:srcRect/>
          <a:stretch>
            <a:fillRect/>
          </a:stretch>
        </p:blipFill>
        <p:spPr>
          <a:xfrm>
            <a:off x="10174313" y="2573600"/>
            <a:ext cx="797650" cy="797650"/>
          </a:xfrm>
          <a:prstGeom prst="rect">
            <a:avLst/>
          </a:prstGeom>
          <a:noFill/>
          <a:ln>
            <a:noFill/>
          </a:ln>
        </p:spPr>
      </p:pic>
      <p:pic>
        <p:nvPicPr>
          <p:cNvPr id="94" name="Google Shape;94;p8"/>
          <p:cNvPicPr preferRelativeResize="0"/>
          <p:nvPr/>
        </p:nvPicPr>
        <p:blipFill rotWithShape="1">
          <a:blip r:embed="rId2"/>
          <a:srcRect/>
          <a:stretch>
            <a:fillRect/>
          </a:stretch>
        </p:blipFill>
        <p:spPr>
          <a:xfrm>
            <a:off x="11150050" y="2533526"/>
            <a:ext cx="877801" cy="877801"/>
          </a:xfrm>
          <a:prstGeom prst="rect">
            <a:avLst/>
          </a:prstGeom>
          <a:noFill/>
          <a:ln>
            <a:noFill/>
          </a:ln>
        </p:spPr>
      </p:pic>
      <p:pic>
        <p:nvPicPr>
          <p:cNvPr id="95" name="Google Shape;95;p8"/>
          <p:cNvPicPr preferRelativeResize="0"/>
          <p:nvPr/>
        </p:nvPicPr>
        <p:blipFill rotWithShape="1">
          <a:blip r:embed="rId3"/>
          <a:srcRect/>
          <a:stretch>
            <a:fillRect/>
          </a:stretch>
        </p:blipFill>
        <p:spPr>
          <a:xfrm>
            <a:off x="12125505" y="2573600"/>
            <a:ext cx="797625" cy="7976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00" name="Shape 100"/>
        <p:cNvGrpSpPr/>
        <p:nvPr/>
      </p:nvGrpSpPr>
      <p:grpSpPr>
        <a:xfrm>
          <a:off x="0" y="0"/>
          <a:ext cx="0" cy="0"/>
          <a:chOff x="0" y="0"/>
          <a:chExt cx="0" cy="0"/>
        </a:xfrm>
      </p:grpSpPr>
      <p:sp>
        <p:nvSpPr>
          <p:cNvPr id="101" name="Google Shape;101;p9"/>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02" name="Google Shape;102;p9"/>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Deep </a:t>
            </a:r>
            <a:r>
              <a:rPr lang="en-US">
                <a:solidFill>
                  <a:srgbClr val="7068F4"/>
                </a:solidFill>
              </a:rPr>
              <a:t>AI</a:t>
            </a:r>
            <a:r>
              <a:rPr lang="en-US"/>
              <a:t> Project Experience</a:t>
            </a:r>
            <a:endParaRPr lang="en-US"/>
          </a:p>
        </p:txBody>
      </p:sp>
      <p:grpSp>
        <p:nvGrpSpPr>
          <p:cNvPr id="103" name="Google Shape;103;p9"/>
          <p:cNvGrpSpPr/>
          <p:nvPr/>
        </p:nvGrpSpPr>
        <p:grpSpPr>
          <a:xfrm>
            <a:off x="854552" y="2521921"/>
            <a:ext cx="12531943" cy="2174000"/>
            <a:chOff x="1518225" y="2327475"/>
            <a:chExt cx="6654600" cy="2039400"/>
          </a:xfrm>
        </p:grpSpPr>
        <p:sp>
          <p:nvSpPr>
            <p:cNvPr id="104" name="Google Shape;104;p9"/>
            <p:cNvSpPr txBox="1"/>
            <p:nvPr/>
          </p:nvSpPr>
          <p:spPr>
            <a:xfrm>
              <a:off x="1518225" y="2327475"/>
              <a:ext cx="6654600" cy="20394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[Project 1]</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05" name="Google Shape;105;p9"/>
            <p:cNvSpPr txBox="1"/>
            <p:nvPr/>
          </p:nvSpPr>
          <p:spPr>
            <a:xfrm>
              <a:off x="1518225" y="2894100"/>
              <a:ext cx="6654600" cy="4308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855"/>
                </a:spcAft>
                <a:buClr>
                  <a:srgbClr val="000000"/>
                </a:buClr>
                <a:buSzPts val="1704"/>
                <a:buFont typeface="Arial" panose="020B0604020202020204"/>
                <a:buNone/>
              </a:pPr>
              <a:r>
                <a:rPr lang="en-US" sz="1705">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06" name="Google Shape;106;p9"/>
          <p:cNvGrpSpPr/>
          <p:nvPr/>
        </p:nvGrpSpPr>
        <p:grpSpPr>
          <a:xfrm>
            <a:off x="854548" y="4134447"/>
            <a:ext cx="11723229" cy="2294961"/>
            <a:chOff x="-3583232" y="2426185"/>
            <a:chExt cx="10997400" cy="2152872"/>
          </a:xfrm>
        </p:grpSpPr>
        <p:sp>
          <p:nvSpPr>
            <p:cNvPr id="107" name="Google Shape;107;p9"/>
            <p:cNvSpPr txBox="1"/>
            <p:nvPr/>
          </p:nvSpPr>
          <p:spPr>
            <a:xfrm>
              <a:off x="-3583229" y="2426185"/>
              <a:ext cx="6654600" cy="20394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[Project 2]</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08" name="Google Shape;108;p9"/>
            <p:cNvSpPr txBox="1"/>
            <p:nvPr/>
          </p:nvSpPr>
          <p:spPr>
            <a:xfrm>
              <a:off x="-3583232" y="2949757"/>
              <a:ext cx="10997400" cy="1629300"/>
            </a:xfrm>
            <a:prstGeom prst="rect">
              <a:avLst/>
            </a:prstGeom>
            <a:noFill/>
            <a:ln>
              <a:noFill/>
            </a:ln>
          </p:spPr>
          <p:txBody>
            <a:bodyPr spcFirstLastPara="1" wrap="square" lIns="97450" tIns="97450" rIns="97450" bIns="97450" anchor="t" anchorCtr="0">
              <a:spAutoFit/>
            </a:bodyPr>
            <a:lstStyle/>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1705">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109" name="Google Shape;109;p9"/>
          <p:cNvSpPr txBox="1"/>
          <p:nvPr/>
        </p:nvSpPr>
        <p:spPr>
          <a:xfrm>
            <a:off x="942850" y="1767975"/>
            <a:ext cx="10682400" cy="7941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chemeClr val="dk1"/>
              </a:buClr>
              <a:buSzPts val="1100"/>
              <a:buFont typeface="Arial" panose="020B0604020202020204"/>
              <a:buNone/>
            </a:pPr>
            <a:r>
              <a:rPr lang="en-US" sz="2400" b="0" i="0" u="none" strike="noStrike" cap="none">
                <a:solidFill>
                  <a:schemeClr val="dk1"/>
                </a:solidFill>
                <a:latin typeface="Urbanist" panose="020B0A04040200000203"/>
                <a:ea typeface="Urbanist" panose="020B0A04040200000203"/>
                <a:cs typeface="Urbanist" panose="020B0A04040200000203"/>
                <a:sym typeface="Urbanist" panose="020B0A04040200000203"/>
              </a:rPr>
              <a:t>This shows he’s not just using AI - he’s </a:t>
            </a:r>
            <a:r>
              <a:rPr lang="en-US" sz="2400" b="0" i="1" u="none" strike="noStrike" cap="none">
                <a:solidFill>
                  <a:schemeClr val="dk1"/>
                </a:solidFill>
                <a:latin typeface="Urbanist" panose="020B0A04040200000203"/>
                <a:ea typeface="Urbanist" panose="020B0A04040200000203"/>
                <a:cs typeface="Urbanist" panose="020B0A04040200000203"/>
                <a:sym typeface="Urbanist" panose="020B0A04040200000203"/>
              </a:rPr>
              <a:t>designing</a:t>
            </a:r>
            <a:r>
              <a:rPr lang="en-US" sz="2400" b="0" i="0" u="none" strike="noStrike" cap="none">
                <a:solidFill>
                  <a:schemeClr val="dk1"/>
                </a:solidFill>
                <a:latin typeface="Urbanist" panose="020B0A04040200000203"/>
                <a:ea typeface="Urbanist" panose="020B0A04040200000203"/>
                <a:cs typeface="Urbanist" panose="020B0A04040200000203"/>
                <a:sym typeface="Urbanist" panose="020B0A04040200000203"/>
              </a:rPr>
              <a:t> systems where AI is a core component.</a:t>
            </a:r>
            <a:endParaRPr sz="24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14" name="Shape 114"/>
        <p:cNvGrpSpPr/>
        <p:nvPr/>
      </p:nvGrpSpPr>
      <p:grpSpPr>
        <a:xfrm>
          <a:off x="0" y="0"/>
          <a:ext cx="0" cy="0"/>
          <a:chOff x="0" y="0"/>
          <a:chExt cx="0" cy="0"/>
        </a:xfrm>
      </p:grpSpPr>
      <p:sp>
        <p:nvSpPr>
          <p:cNvPr id="115" name="Google Shape;115;p10"/>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16" name="Google Shape;116;p10"/>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Deep </a:t>
            </a:r>
            <a:r>
              <a:rPr lang="en-US">
                <a:solidFill>
                  <a:srgbClr val="7068F4"/>
                </a:solidFill>
              </a:rPr>
              <a:t>AI</a:t>
            </a:r>
            <a:r>
              <a:rPr lang="en-US"/>
              <a:t> Project Experience</a:t>
            </a:r>
            <a:endParaRPr lang="en-US"/>
          </a:p>
        </p:txBody>
      </p:sp>
      <p:grpSp>
        <p:nvGrpSpPr>
          <p:cNvPr id="117" name="Google Shape;117;p10"/>
          <p:cNvGrpSpPr/>
          <p:nvPr/>
        </p:nvGrpSpPr>
        <p:grpSpPr>
          <a:xfrm>
            <a:off x="854552" y="2521921"/>
            <a:ext cx="12531943" cy="2174000"/>
            <a:chOff x="1518225" y="2327475"/>
            <a:chExt cx="6654600" cy="2039400"/>
          </a:xfrm>
        </p:grpSpPr>
        <p:sp>
          <p:nvSpPr>
            <p:cNvPr id="118" name="Google Shape;118;p10"/>
            <p:cNvSpPr txBox="1"/>
            <p:nvPr/>
          </p:nvSpPr>
          <p:spPr>
            <a:xfrm>
              <a:off x="1518225" y="2327475"/>
              <a:ext cx="6654600" cy="20394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[Project 1]</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19" name="Google Shape;119;p10"/>
            <p:cNvSpPr txBox="1"/>
            <p:nvPr/>
          </p:nvSpPr>
          <p:spPr>
            <a:xfrm>
              <a:off x="1518225" y="2894100"/>
              <a:ext cx="6654600" cy="4308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855"/>
                </a:spcAft>
                <a:buClr>
                  <a:srgbClr val="000000"/>
                </a:buClr>
                <a:buSzPts val="1704"/>
                <a:buFont typeface="Arial" panose="020B0604020202020204"/>
                <a:buNone/>
              </a:pPr>
              <a:r>
                <a:rPr lang="en-US" sz="1705">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20" name="Google Shape;120;p10"/>
          <p:cNvGrpSpPr/>
          <p:nvPr/>
        </p:nvGrpSpPr>
        <p:grpSpPr>
          <a:xfrm>
            <a:off x="854549" y="4134448"/>
            <a:ext cx="11723228" cy="2294961"/>
            <a:chOff x="-3583232" y="2426185"/>
            <a:chExt cx="10997400" cy="2152872"/>
          </a:xfrm>
        </p:grpSpPr>
        <p:sp>
          <p:nvSpPr>
            <p:cNvPr id="121" name="Google Shape;121;p10"/>
            <p:cNvSpPr txBox="1"/>
            <p:nvPr/>
          </p:nvSpPr>
          <p:spPr>
            <a:xfrm>
              <a:off x="-3583229" y="2426185"/>
              <a:ext cx="6654600" cy="20394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[Project 2]</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22" name="Google Shape;122;p10"/>
            <p:cNvSpPr txBox="1"/>
            <p:nvPr/>
          </p:nvSpPr>
          <p:spPr>
            <a:xfrm>
              <a:off x="-3583232" y="2949757"/>
              <a:ext cx="10997400" cy="1629300"/>
            </a:xfrm>
            <a:prstGeom prst="rect">
              <a:avLst/>
            </a:prstGeom>
            <a:noFill/>
            <a:ln>
              <a:noFill/>
            </a:ln>
          </p:spPr>
          <p:txBody>
            <a:bodyPr spcFirstLastPara="1" wrap="square" lIns="97450" tIns="97450" rIns="97450" bIns="97450" anchor="t" anchorCtr="0">
              <a:spAutoFit/>
            </a:bodyPr>
            <a:lstStyle/>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1705">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123" name="Google Shape;123;p10"/>
          <p:cNvSpPr txBox="1"/>
          <p:nvPr/>
        </p:nvSpPr>
        <p:spPr>
          <a:xfrm>
            <a:off x="942850" y="1767975"/>
            <a:ext cx="10682400" cy="7941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chemeClr val="dk1"/>
              </a:buClr>
              <a:buSzPts val="1100"/>
              <a:buFont typeface="Arial" panose="020B0604020202020204"/>
              <a:buNone/>
            </a:pPr>
            <a:r>
              <a:rPr lang="en-US" sz="2400" b="0" i="0" u="none" strike="noStrike" cap="none">
                <a:solidFill>
                  <a:schemeClr val="dk1"/>
                </a:solidFill>
                <a:latin typeface="Urbanist" panose="020B0A04040200000203"/>
                <a:ea typeface="Urbanist" panose="020B0A04040200000203"/>
                <a:cs typeface="Urbanist" panose="020B0A04040200000203"/>
                <a:sym typeface="Urbanist" panose="020B0A04040200000203"/>
              </a:rPr>
              <a:t>This shows he’s not just using AI - he’s </a:t>
            </a:r>
            <a:r>
              <a:rPr lang="en-US" sz="2400" b="0" i="1" u="none" strike="noStrike" cap="none">
                <a:solidFill>
                  <a:schemeClr val="dk1"/>
                </a:solidFill>
                <a:latin typeface="Urbanist" panose="020B0A04040200000203"/>
                <a:ea typeface="Urbanist" panose="020B0A04040200000203"/>
                <a:cs typeface="Urbanist" panose="020B0A04040200000203"/>
                <a:sym typeface="Urbanist" panose="020B0A04040200000203"/>
              </a:rPr>
              <a:t>designing</a:t>
            </a:r>
            <a:r>
              <a:rPr lang="en-US" sz="2400" b="0" i="0" u="none" strike="noStrike" cap="none">
                <a:solidFill>
                  <a:schemeClr val="dk1"/>
                </a:solidFill>
                <a:latin typeface="Urbanist" panose="020B0A04040200000203"/>
                <a:ea typeface="Urbanist" panose="020B0A04040200000203"/>
                <a:cs typeface="Urbanist" panose="020B0A04040200000203"/>
                <a:sym typeface="Urbanist" panose="020B0A04040200000203"/>
              </a:rPr>
              <a:t> systems where AI is a core component.</a:t>
            </a:r>
            <a:endParaRPr sz="24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28" name="Shape 128"/>
        <p:cNvGrpSpPr/>
        <p:nvPr/>
      </p:nvGrpSpPr>
      <p:grpSpPr>
        <a:xfrm>
          <a:off x="0" y="0"/>
          <a:ext cx="0" cy="0"/>
          <a:chOff x="0" y="0"/>
          <a:chExt cx="0" cy="0"/>
        </a:xfrm>
      </p:grpSpPr>
      <p:sp>
        <p:nvSpPr>
          <p:cNvPr id="129" name="Google Shape;129;p11"/>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30" name="Google Shape;130;p11"/>
          <p:cNvSpPr txBox="1"/>
          <p:nvPr>
            <p:ph type="title"/>
          </p:nvPr>
        </p:nvSpPr>
        <p:spPr>
          <a:xfrm>
            <a:off x="886688" y="1089450"/>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sz="3900"/>
              <a:t>[Candidate Name]</a:t>
            </a:r>
            <a:r>
              <a:rPr lang="en-US" sz="3900"/>
              <a:t>’s Track Record of </a:t>
            </a:r>
            <a:r>
              <a:rPr lang="en-US" sz="3900">
                <a:solidFill>
                  <a:srgbClr val="7068F4"/>
                </a:solidFill>
              </a:rPr>
              <a:t>High-Impact Engineering Work</a:t>
            </a:r>
            <a:endParaRPr sz="3900"/>
          </a:p>
        </p:txBody>
      </p:sp>
      <p:grpSp>
        <p:nvGrpSpPr>
          <p:cNvPr id="131" name="Google Shape;131;p11"/>
          <p:cNvGrpSpPr/>
          <p:nvPr/>
        </p:nvGrpSpPr>
        <p:grpSpPr>
          <a:xfrm>
            <a:off x="886690" y="2435831"/>
            <a:ext cx="12531943" cy="1032066"/>
            <a:chOff x="1518225" y="2456626"/>
            <a:chExt cx="6654600" cy="968167"/>
          </a:xfrm>
        </p:grpSpPr>
        <p:sp>
          <p:nvSpPr>
            <p:cNvPr id="132" name="Google Shape;132;p11"/>
            <p:cNvSpPr txBox="1"/>
            <p:nvPr/>
          </p:nvSpPr>
          <p:spPr>
            <a:xfrm>
              <a:off x="1518225" y="2456626"/>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[Project 1]</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33" name="Google Shape;133;p11"/>
            <p:cNvSpPr txBox="1"/>
            <p:nvPr/>
          </p:nvSpPr>
          <p:spPr>
            <a:xfrm>
              <a:off x="1518225" y="2980193"/>
              <a:ext cx="6654600" cy="444600"/>
            </a:xfrm>
            <a:prstGeom prst="rect">
              <a:avLst/>
            </a:prstGeom>
            <a:noFill/>
            <a:ln>
              <a:noFill/>
            </a:ln>
          </p:spPr>
          <p:txBody>
            <a:bodyPr spcFirstLastPara="1" wrap="square" lIns="97450" tIns="97450" rIns="97450" bIns="97450" anchor="t" anchorCtr="0">
              <a:spAutoFit/>
            </a:bodyPr>
            <a:lstStyle/>
            <a:p>
              <a:pPr marL="457200" marR="0" lvl="0" indent="-342900" algn="l" rtl="0">
                <a:lnSpc>
                  <a:spcPct val="115000"/>
                </a:lnSpc>
                <a:spcBef>
                  <a:spcPts val="0"/>
                </a:spcBef>
                <a:spcAft>
                  <a:spcPts val="0"/>
                </a:spcAft>
                <a:buClr>
                  <a:schemeClr val="dk1"/>
                </a:buClr>
                <a:buSzPts val="1800"/>
                <a:buFont typeface="Urbanist" panose="020B0A04040200000203"/>
                <a:buChar char="●"/>
              </a:pPr>
              <a:r>
                <a:rPr lang="en-US" sz="1800">
                  <a:solidFill>
                    <a:schemeClr val="dk1"/>
                  </a:solidFill>
                  <a:latin typeface="Urbanist" panose="020B0A04040200000203"/>
                  <a:ea typeface="Urbanist" panose="020B0A04040200000203"/>
                  <a:cs typeface="Urbanist" panose="020B0A04040200000203"/>
                  <a:sym typeface="Urbanist" panose="020B0A04040200000203"/>
                </a:rPr>
                <a:t>[Description]</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34" name="Google Shape;134;p11"/>
          <p:cNvGrpSpPr/>
          <p:nvPr/>
        </p:nvGrpSpPr>
        <p:grpSpPr>
          <a:xfrm>
            <a:off x="886688" y="4626070"/>
            <a:ext cx="12531943" cy="3156106"/>
            <a:chOff x="1518225" y="2413591"/>
            <a:chExt cx="6654600" cy="2960700"/>
          </a:xfrm>
        </p:grpSpPr>
        <p:sp>
          <p:nvSpPr>
            <p:cNvPr id="135" name="Google Shape;135;p11"/>
            <p:cNvSpPr txBox="1"/>
            <p:nvPr/>
          </p:nvSpPr>
          <p:spPr>
            <a:xfrm>
              <a:off x="1518225" y="2413591"/>
              <a:ext cx="6654600" cy="2960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[Project 2]</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36" name="Google Shape;136;p11"/>
            <p:cNvSpPr txBox="1"/>
            <p:nvPr/>
          </p:nvSpPr>
          <p:spPr>
            <a:xfrm>
              <a:off x="1518225" y="2894100"/>
              <a:ext cx="6654600" cy="1116000"/>
            </a:xfrm>
            <a:prstGeom prst="rect">
              <a:avLst/>
            </a:prstGeom>
            <a:noFill/>
            <a:ln>
              <a:noFill/>
            </a:ln>
          </p:spPr>
          <p:txBody>
            <a:bodyPr spcFirstLastPara="1" wrap="square" lIns="97450" tIns="97450" rIns="97450" bIns="97450" anchor="t" anchorCtr="0">
              <a:spAutoFit/>
            </a:bodyPr>
            <a:lstStyle/>
            <a:p>
              <a:pPr marL="457200" marR="241300" lvl="0" indent="-342900" algn="l" rtl="0">
                <a:lnSpc>
                  <a:spcPct val="115000"/>
                </a:lnSpc>
                <a:spcBef>
                  <a:spcPts val="0"/>
                </a:spcBef>
                <a:spcAft>
                  <a:spcPts val="0"/>
                </a:spcAft>
                <a:buClr>
                  <a:schemeClr val="dk1"/>
                </a:buClr>
                <a:buSzPts val="1804"/>
                <a:buFont typeface="Urbanist Light" panose="020B0A04040200000203"/>
                <a:buChar char="●"/>
              </a:pPr>
              <a:r>
                <a:rPr lang="en-US" sz="1805">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8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41" name="Shape 141"/>
        <p:cNvGrpSpPr/>
        <p:nvPr/>
      </p:nvGrpSpPr>
      <p:grpSpPr>
        <a:xfrm>
          <a:off x="0" y="0"/>
          <a:ext cx="0" cy="0"/>
          <a:chOff x="0" y="0"/>
          <a:chExt cx="0" cy="0"/>
        </a:xfrm>
      </p:grpSpPr>
      <p:sp>
        <p:nvSpPr>
          <p:cNvPr id="142" name="Google Shape;142;p12"/>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43" name="Google Shape;143;p12"/>
          <p:cNvSpPr txBox="1"/>
          <p:nvPr>
            <p:ph type="title"/>
          </p:nvPr>
        </p:nvSpPr>
        <p:spPr>
          <a:xfrm>
            <a:off x="886688" y="1089450"/>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sz="3900"/>
              <a:t>[Candidate Name]’s Track Record of </a:t>
            </a:r>
            <a:r>
              <a:rPr lang="en-US" sz="3900">
                <a:solidFill>
                  <a:srgbClr val="7068F4"/>
                </a:solidFill>
              </a:rPr>
              <a:t>High-Impact Engineering Work</a:t>
            </a:r>
            <a:endParaRPr sz="3900"/>
          </a:p>
        </p:txBody>
      </p:sp>
      <p:grpSp>
        <p:nvGrpSpPr>
          <p:cNvPr id="144" name="Google Shape;144;p12"/>
          <p:cNvGrpSpPr/>
          <p:nvPr/>
        </p:nvGrpSpPr>
        <p:grpSpPr>
          <a:xfrm>
            <a:off x="886690" y="2435831"/>
            <a:ext cx="12531943" cy="1032066"/>
            <a:chOff x="1518225" y="2456626"/>
            <a:chExt cx="6654600" cy="968167"/>
          </a:xfrm>
        </p:grpSpPr>
        <p:sp>
          <p:nvSpPr>
            <p:cNvPr id="145" name="Google Shape;145;p12"/>
            <p:cNvSpPr txBox="1"/>
            <p:nvPr/>
          </p:nvSpPr>
          <p:spPr>
            <a:xfrm>
              <a:off x="1518225" y="2456626"/>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[Project 1]</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46" name="Google Shape;146;p12"/>
            <p:cNvSpPr txBox="1"/>
            <p:nvPr/>
          </p:nvSpPr>
          <p:spPr>
            <a:xfrm>
              <a:off x="1518225" y="2980193"/>
              <a:ext cx="6654600" cy="444600"/>
            </a:xfrm>
            <a:prstGeom prst="rect">
              <a:avLst/>
            </a:prstGeom>
            <a:noFill/>
            <a:ln>
              <a:noFill/>
            </a:ln>
          </p:spPr>
          <p:txBody>
            <a:bodyPr spcFirstLastPara="1" wrap="square" lIns="97450" tIns="97450" rIns="97450" bIns="97450" anchor="t" anchorCtr="0">
              <a:spAutoFit/>
            </a:bodyPr>
            <a:lstStyle/>
            <a:p>
              <a:pPr marL="457200" marR="0" lvl="0" indent="-342900" algn="l" rtl="0">
                <a:lnSpc>
                  <a:spcPct val="115000"/>
                </a:lnSpc>
                <a:spcBef>
                  <a:spcPts val="0"/>
                </a:spcBef>
                <a:spcAft>
                  <a:spcPts val="0"/>
                </a:spcAft>
                <a:buClr>
                  <a:schemeClr val="dk1"/>
                </a:buClr>
                <a:buSzPts val="1800"/>
                <a:buFont typeface="Urbanist" panose="020B0A04040200000203"/>
                <a:buChar char="●"/>
              </a:pPr>
              <a:r>
                <a:rPr lang="en-US" sz="1800">
                  <a:solidFill>
                    <a:schemeClr val="dk1"/>
                  </a:solidFill>
                  <a:latin typeface="Urbanist" panose="020B0A04040200000203"/>
                  <a:ea typeface="Urbanist" panose="020B0A04040200000203"/>
                  <a:cs typeface="Urbanist" panose="020B0A04040200000203"/>
                  <a:sym typeface="Urbanist" panose="020B0A04040200000203"/>
                </a:rPr>
                <a:t>[Description]</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47" name="Google Shape;147;p12"/>
          <p:cNvGrpSpPr/>
          <p:nvPr/>
        </p:nvGrpSpPr>
        <p:grpSpPr>
          <a:xfrm>
            <a:off x="886688" y="4626070"/>
            <a:ext cx="12531943" cy="3156106"/>
            <a:chOff x="1518225" y="2413591"/>
            <a:chExt cx="6654600" cy="2960700"/>
          </a:xfrm>
        </p:grpSpPr>
        <p:sp>
          <p:nvSpPr>
            <p:cNvPr id="148" name="Google Shape;148;p12"/>
            <p:cNvSpPr txBox="1"/>
            <p:nvPr/>
          </p:nvSpPr>
          <p:spPr>
            <a:xfrm>
              <a:off x="1518225" y="2413591"/>
              <a:ext cx="6654600" cy="2960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[Project 2]</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49" name="Google Shape;149;p12"/>
            <p:cNvSpPr txBox="1"/>
            <p:nvPr/>
          </p:nvSpPr>
          <p:spPr>
            <a:xfrm>
              <a:off x="1518225" y="2894100"/>
              <a:ext cx="6654600" cy="1116000"/>
            </a:xfrm>
            <a:prstGeom prst="rect">
              <a:avLst/>
            </a:prstGeom>
            <a:noFill/>
            <a:ln>
              <a:noFill/>
            </a:ln>
          </p:spPr>
          <p:txBody>
            <a:bodyPr spcFirstLastPara="1" wrap="square" lIns="97450" tIns="97450" rIns="97450" bIns="97450" anchor="t" anchorCtr="0">
              <a:spAutoFit/>
            </a:bodyPr>
            <a:lstStyle/>
            <a:p>
              <a:pPr marL="457200" marR="241300" lvl="0" indent="-342900" algn="l" rtl="0">
                <a:lnSpc>
                  <a:spcPct val="115000"/>
                </a:lnSpc>
                <a:spcBef>
                  <a:spcPts val="0"/>
                </a:spcBef>
                <a:spcAft>
                  <a:spcPts val="0"/>
                </a:spcAft>
                <a:buClr>
                  <a:schemeClr val="dk1"/>
                </a:buClr>
                <a:buSzPts val="1804"/>
                <a:buFont typeface="Urbanist Light" panose="020B0A04040200000203"/>
                <a:buChar char="●"/>
              </a:pPr>
              <a:r>
                <a:rPr lang="en-US" sz="1805">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8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54" name="Shape 154"/>
        <p:cNvGrpSpPr/>
        <p:nvPr/>
      </p:nvGrpSpPr>
      <p:grpSpPr>
        <a:xfrm>
          <a:off x="0" y="0"/>
          <a:ext cx="0" cy="0"/>
          <a:chOff x="0" y="0"/>
          <a:chExt cx="0" cy="0"/>
        </a:xfrm>
      </p:grpSpPr>
      <p:sp>
        <p:nvSpPr>
          <p:cNvPr id="155" name="Google Shape;155;p13"/>
          <p:cNvSpPr/>
          <p:nvPr/>
        </p:nvSpPr>
        <p:spPr>
          <a:xfrm>
            <a:off x="2489250" y="2600554"/>
            <a:ext cx="9651900" cy="50154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6" name="Google Shape;156;p13"/>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57" name="Google Shape;157;p13"/>
          <p:cNvSpPr txBox="1"/>
          <p:nvPr>
            <p:ph type="title"/>
          </p:nvPr>
        </p:nvSpPr>
        <p:spPr>
          <a:xfrm>
            <a:off x="1044250" y="8582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Where [Candidate Name] Has Delivered Impact</a:t>
            </a:r>
            <a:endParaRPr lang="en-US"/>
          </a:p>
        </p:txBody>
      </p:sp>
      <p:sp>
        <p:nvSpPr>
          <p:cNvPr id="158" name="Google Shape;158;p13"/>
          <p:cNvSpPr txBox="1"/>
          <p:nvPr/>
        </p:nvSpPr>
        <p:spPr>
          <a:xfrm>
            <a:off x="2999475" y="2863454"/>
            <a:ext cx="4647600" cy="1754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a:latin typeface="Urbanist Medium" panose="020B0A04040200000203"/>
                <a:ea typeface="Urbanist Medium" panose="020B0A04040200000203"/>
                <a:cs typeface="Urbanist Medium" panose="020B0A04040200000203"/>
                <a:sym typeface="Urbanist Medium" panose="020B0A04040200000203"/>
              </a:rPr>
              <a:t>[Industry 1]</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a:solidFill>
                  <a:srgbClr val="7068F4"/>
                </a:solidFill>
                <a:latin typeface="Urbanist Medium" panose="020B0A04040200000203"/>
                <a:ea typeface="Urbanist Medium" panose="020B0A04040200000203"/>
                <a:cs typeface="Urbanist Medium" panose="020B0A04040200000203"/>
                <a:sym typeface="Urbanist Medium" panose="020B0A04040200000203"/>
              </a:rPr>
              <a:t>[Description]</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59" name="Google Shape;159;p13"/>
          <p:cNvSpPr txBox="1"/>
          <p:nvPr/>
        </p:nvSpPr>
        <p:spPr>
          <a:xfrm>
            <a:off x="2999400" y="5185704"/>
            <a:ext cx="4541400" cy="173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300"/>
              <a:buFont typeface="Arial" panose="020B0604020202020204"/>
              <a:buNone/>
            </a:pPr>
            <a:r>
              <a:rPr lang="en-US" sz="2300">
                <a:latin typeface="Urbanist Medium" panose="020B0A04040200000203"/>
                <a:ea typeface="Urbanist Medium" panose="020B0A04040200000203"/>
                <a:cs typeface="Urbanist Medium" panose="020B0A04040200000203"/>
                <a:sym typeface="Urbanist Medium" panose="020B0A04040200000203"/>
              </a:rPr>
              <a:t>[Industry 3]</a:t>
            </a:r>
            <a:endParaRPr sz="23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a:solidFill>
                  <a:srgbClr val="7068F4"/>
                </a:solidFill>
                <a:latin typeface="Urbanist Medium" panose="020B0A04040200000203"/>
                <a:ea typeface="Urbanist Medium" panose="020B0A04040200000203"/>
                <a:cs typeface="Urbanist Medium" panose="020B0A04040200000203"/>
                <a:sym typeface="Urbanist Medium" panose="020B0A04040200000203"/>
              </a:rPr>
              <a:t>[Description]</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60" name="Google Shape;160;p13"/>
          <p:cNvSpPr txBox="1"/>
          <p:nvPr/>
        </p:nvSpPr>
        <p:spPr>
          <a:xfrm>
            <a:off x="7443150" y="2863454"/>
            <a:ext cx="4647600" cy="1754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a:latin typeface="Urbanist Medium" panose="020B0A04040200000203"/>
                <a:ea typeface="Urbanist Medium" panose="020B0A04040200000203"/>
                <a:cs typeface="Urbanist Medium" panose="020B0A04040200000203"/>
                <a:sym typeface="Urbanist Medium" panose="020B0A04040200000203"/>
              </a:rPr>
              <a:t>[Industry 2]</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a:solidFill>
                  <a:srgbClr val="7068F4"/>
                </a:solidFill>
                <a:latin typeface="Urbanist Medium" panose="020B0A04040200000203"/>
                <a:ea typeface="Urbanist Medium" panose="020B0A04040200000203"/>
                <a:cs typeface="Urbanist Medium" panose="020B0A04040200000203"/>
                <a:sym typeface="Urbanist Medium" panose="020B0A04040200000203"/>
              </a:rPr>
              <a:t>[Description]</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61" name="Google Shape;161;p13"/>
          <p:cNvSpPr txBox="1"/>
          <p:nvPr/>
        </p:nvSpPr>
        <p:spPr>
          <a:xfrm>
            <a:off x="7540800" y="5185704"/>
            <a:ext cx="4260900" cy="1446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a:latin typeface="Urbanist Medium" panose="020B0A04040200000203"/>
                <a:ea typeface="Urbanist Medium" panose="020B0A04040200000203"/>
                <a:cs typeface="Urbanist Medium" panose="020B0A04040200000203"/>
                <a:sym typeface="Urbanist Medium" panose="020B0A04040200000203"/>
              </a:rPr>
              <a:t>[Industry 4]</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a:solidFill>
                  <a:srgbClr val="7068F4"/>
                </a:solidFill>
                <a:latin typeface="Urbanist Medium" panose="020B0A04040200000203"/>
                <a:ea typeface="Urbanist Medium" panose="020B0A04040200000203"/>
                <a:cs typeface="Urbanist Medium" panose="020B0A04040200000203"/>
                <a:sym typeface="Urbanist Medium" panose="020B0A04040200000203"/>
              </a:rPr>
              <a:t>[Description]</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66" name="Shape 166"/>
        <p:cNvGrpSpPr/>
        <p:nvPr/>
      </p:nvGrpSpPr>
      <p:grpSpPr>
        <a:xfrm>
          <a:off x="0" y="0"/>
          <a:ext cx="0" cy="0"/>
          <a:chOff x="0" y="0"/>
          <a:chExt cx="0" cy="0"/>
        </a:xfrm>
      </p:grpSpPr>
      <p:sp>
        <p:nvSpPr>
          <p:cNvPr id="167" name="Google Shape;167;p14"/>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68" name="Google Shape;168;p14"/>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Behavioral Assessment Framework</a:t>
            </a:r>
            <a:endParaRPr lang="en-US"/>
          </a:p>
        </p:txBody>
      </p:sp>
      <p:sp>
        <p:nvSpPr>
          <p:cNvPr id="169" name="Google Shape;169;p14"/>
          <p:cNvSpPr txBox="1"/>
          <p:nvPr/>
        </p:nvSpPr>
        <p:spPr>
          <a:xfrm>
            <a:off x="984850" y="1957400"/>
            <a:ext cx="9499800" cy="1010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FutureProofing's Comprehensive Talent Evaluation Model</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170" name="Google Shape;170;p14"/>
          <p:cNvGrpSpPr/>
          <p:nvPr/>
        </p:nvGrpSpPr>
        <p:grpSpPr>
          <a:xfrm>
            <a:off x="984850" y="2550736"/>
            <a:ext cx="12279361" cy="2161440"/>
            <a:chOff x="1518223" y="2327475"/>
            <a:chExt cx="11519100" cy="2027617"/>
          </a:xfrm>
        </p:grpSpPr>
        <p:sp>
          <p:nvSpPr>
            <p:cNvPr id="171" name="Google Shape;171;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Communication &amp; Collaboration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72" name="Google Shape;172;p14"/>
            <p:cNvSpPr txBox="1"/>
            <p:nvPr/>
          </p:nvSpPr>
          <p:spPr>
            <a:xfrm>
              <a:off x="1518223" y="2894092"/>
              <a:ext cx="11519100" cy="14610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Assesses clarity in conveying complex ideas, quality of documentation, comfort with cross-functional dialogue, ability to navigate interpersonal dynamics, and how the candidate builds shared understanding in teams. Looks for active listening, structured updates, and a collaborative tone even in disagreement.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73" name="Google Shape;173;p14"/>
          <p:cNvGrpSpPr/>
          <p:nvPr/>
        </p:nvGrpSpPr>
        <p:grpSpPr>
          <a:xfrm>
            <a:off x="984850" y="4260661"/>
            <a:ext cx="12279361" cy="2655851"/>
            <a:chOff x="1518223" y="2327475"/>
            <a:chExt cx="11519100" cy="2491417"/>
          </a:xfrm>
        </p:grpSpPr>
        <p:sp>
          <p:nvSpPr>
            <p:cNvPr id="174" name="Google Shape;174;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Problem-Solving &amp; Critical Thinking</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75" name="Google Shape;175;p14"/>
            <p:cNvSpPr txBox="1"/>
            <p:nvPr/>
          </p:nvSpPr>
          <p:spPr>
            <a:xfrm>
              <a:off x="1518223" y="2894092"/>
              <a:ext cx="11519100" cy="19248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Evaluates depth and structure of analytical approaches, debugging rigor, comfort with trade-offs, and how reasoning is articulated under constraints. Prioritizes individuals who approach ambiguity methodically, break down complex issues, and learn from iterative refinement.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76" name="Google Shape;176;p14"/>
          <p:cNvGrpSpPr/>
          <p:nvPr/>
        </p:nvGrpSpPr>
        <p:grpSpPr>
          <a:xfrm>
            <a:off x="984850" y="5994861"/>
            <a:ext cx="12279361" cy="3150262"/>
            <a:chOff x="1518223" y="2327475"/>
            <a:chExt cx="11519100" cy="2955217"/>
          </a:xfrm>
        </p:grpSpPr>
        <p:sp>
          <p:nvSpPr>
            <p:cNvPr id="177" name="Google Shape;177;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Ownership &amp; Accountability</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78" name="Google Shape;178;p14"/>
            <p:cNvSpPr txBox="1"/>
            <p:nvPr/>
          </p:nvSpPr>
          <p:spPr>
            <a:xfrm>
              <a:off x="1518223" y="2894092"/>
              <a:ext cx="11519100" cy="23886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Focuses on personal responsibility for outcomes, proactive flagging of risks, ability to deliver autonomously, and evidence of pride in work quality. Looks for signs of initiative, task follow-through, and a reputation for dependability without over-indexing on control.</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83" name="Shape 183"/>
        <p:cNvGrpSpPr/>
        <p:nvPr/>
      </p:nvGrpSpPr>
      <p:grpSpPr>
        <a:xfrm>
          <a:off x="0" y="0"/>
          <a:ext cx="0" cy="0"/>
          <a:chOff x="0" y="0"/>
          <a:chExt cx="0" cy="0"/>
        </a:xfrm>
      </p:grpSpPr>
      <p:sp>
        <p:nvSpPr>
          <p:cNvPr id="184" name="Google Shape;184;p15"/>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85" name="Google Shape;185;p15"/>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Behavioral Assessment Framework</a:t>
            </a:r>
            <a:endParaRPr lang="en-US"/>
          </a:p>
        </p:txBody>
      </p:sp>
      <p:sp>
        <p:nvSpPr>
          <p:cNvPr id="186" name="Google Shape;186;p15"/>
          <p:cNvSpPr txBox="1"/>
          <p:nvPr/>
        </p:nvSpPr>
        <p:spPr>
          <a:xfrm>
            <a:off x="984850" y="1957400"/>
            <a:ext cx="9499800" cy="1010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FutureProofing's Comprehensive Talent Evaluation Model</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187" name="Google Shape;187;p15"/>
          <p:cNvGrpSpPr/>
          <p:nvPr/>
        </p:nvGrpSpPr>
        <p:grpSpPr>
          <a:xfrm>
            <a:off x="984850" y="2550736"/>
            <a:ext cx="12279361" cy="2655851"/>
            <a:chOff x="1518223" y="2327475"/>
            <a:chExt cx="11519100" cy="2491417"/>
          </a:xfrm>
        </p:grpSpPr>
        <p:sp>
          <p:nvSpPr>
            <p:cNvPr id="188" name="Google Shape;188;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Learning Agility &amp; Adaptability</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89" name="Google Shape;189;p15"/>
            <p:cNvSpPr txBox="1"/>
            <p:nvPr/>
          </p:nvSpPr>
          <p:spPr>
            <a:xfrm>
              <a:off x="1518223" y="2894092"/>
              <a:ext cx="11519100" cy="19248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Measures how quickly someone absorbs new tools or domains, how they incorporate feedback, and how effectively they operate in changing contexts. Assesses comfort with experimentation, ability to reframe problems, and intellectual curiosity under shifting priorities.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90" name="Google Shape;190;p15"/>
          <p:cNvGrpSpPr/>
          <p:nvPr/>
        </p:nvGrpSpPr>
        <p:grpSpPr>
          <a:xfrm>
            <a:off x="984850" y="4260661"/>
            <a:ext cx="12279361" cy="3150262"/>
            <a:chOff x="1518223" y="2327475"/>
            <a:chExt cx="11519100" cy="2955217"/>
          </a:xfrm>
        </p:grpSpPr>
        <p:sp>
          <p:nvSpPr>
            <p:cNvPr id="191" name="Google Shape;191;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Resilience &amp; Growth Mindset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92" name="Google Shape;192;p15"/>
            <p:cNvSpPr txBox="1"/>
            <p:nvPr/>
          </p:nvSpPr>
          <p:spPr>
            <a:xfrm>
              <a:off x="1518223" y="2894092"/>
              <a:ext cx="11519100" cy="23886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Assesses response to setbacks, emotional recovery time, and whether the candidate seeks learning in failure. Looks for persistence under pressure, ability to maintain output when challenged, and language that reflects a constructive view of adversity.</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93" name="Google Shape;193;p15"/>
          <p:cNvGrpSpPr/>
          <p:nvPr/>
        </p:nvGrpSpPr>
        <p:grpSpPr>
          <a:xfrm>
            <a:off x="984850" y="5994861"/>
            <a:ext cx="12279361" cy="3342461"/>
            <a:chOff x="1518223" y="2327475"/>
            <a:chExt cx="11519100" cy="3135517"/>
          </a:xfrm>
        </p:grpSpPr>
        <p:sp>
          <p:nvSpPr>
            <p:cNvPr id="194" name="Google Shape;194;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Cultural Fit &amp; Values Alignment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95" name="Google Shape;195;p15"/>
            <p:cNvSpPr txBox="1"/>
            <p:nvPr/>
          </p:nvSpPr>
          <p:spPr>
            <a:xfrm>
              <a:off x="1518223" y="2894092"/>
              <a:ext cx="11519100" cy="25689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Evaluates compatibility with team values, collaboration style, inclusiveness, and ethical orientation. Focuses on intrinsic motivation, self-awareness, and the behavioral alignment between what the candidate values and how the team operates.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200" name="Shape 200"/>
        <p:cNvGrpSpPr/>
        <p:nvPr/>
      </p:nvGrpSpPr>
      <p:grpSpPr>
        <a:xfrm>
          <a:off x="0" y="0"/>
          <a:ext cx="0" cy="0"/>
          <a:chOff x="0" y="0"/>
          <a:chExt cx="0" cy="0"/>
        </a:xfrm>
      </p:grpSpPr>
      <p:sp>
        <p:nvSpPr>
          <p:cNvPr id="201" name="Google Shape;201;p16"/>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02" name="Google Shape;202;p16"/>
          <p:cNvSpPr txBox="1"/>
          <p:nvPr>
            <p:ph type="title"/>
          </p:nvPr>
        </p:nvSpPr>
        <p:spPr>
          <a:xfrm>
            <a:off x="854550" y="672678"/>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sz="3500"/>
              <a:t>Why [Candidate Name] Scores Exceptionally Across Behavioral Dimensions</a:t>
            </a:r>
            <a:endParaRPr sz="3500"/>
          </a:p>
        </p:txBody>
      </p:sp>
      <p:sp>
        <p:nvSpPr>
          <p:cNvPr id="203" name="Google Shape;203;p16"/>
          <p:cNvSpPr txBox="1"/>
          <p:nvPr/>
        </p:nvSpPr>
        <p:spPr>
          <a:xfrm>
            <a:off x="984850" y="1787743"/>
            <a:ext cx="12921300" cy="16275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Based on AI-powered behavioral assessment and structured interviews</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204" name="Google Shape;204;p16"/>
          <p:cNvGrpSpPr/>
          <p:nvPr/>
        </p:nvGrpSpPr>
        <p:grpSpPr>
          <a:xfrm>
            <a:off x="984850" y="5994861"/>
            <a:ext cx="12279361" cy="3342461"/>
            <a:chOff x="1518223" y="2327475"/>
            <a:chExt cx="11519100" cy="3135517"/>
          </a:xfrm>
        </p:grpSpPr>
        <p:sp>
          <p:nvSpPr>
            <p:cNvPr id="205" name="Google Shape;205;p16"/>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Overall Assessment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06" name="Google Shape;206;p16"/>
            <p:cNvSpPr txBox="1"/>
            <p:nvPr/>
          </p:nvSpPr>
          <p:spPr>
            <a:xfrm>
              <a:off x="1518223" y="2894092"/>
              <a:ext cx="11519100" cy="25689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Evaluates compatibility with team values, collaboration style, inclusiveness, and ethical orientation. Focuses on intrinsic motivation, self-awareness, and the behavioral alignment between what the candidate values and how the team operates.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07" name="Google Shape;207;p16"/>
          <p:cNvSpPr/>
          <p:nvPr/>
        </p:nvSpPr>
        <p:spPr>
          <a:xfrm>
            <a:off x="1077800" y="2500150"/>
            <a:ext cx="12502200" cy="49803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208" name="Google Shape;208;p16"/>
          <p:cNvPicPr preferRelativeResize="0"/>
          <p:nvPr/>
        </p:nvPicPr>
        <p:blipFill rotWithShape="1">
          <a:blip r:embed="rId1"/>
          <a:srcRect/>
          <a:stretch>
            <a:fillRect/>
          </a:stretch>
        </p:blipFill>
        <p:spPr>
          <a:xfrm>
            <a:off x="1398060" y="2665712"/>
            <a:ext cx="11834279" cy="46491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213" name="Shape 213"/>
        <p:cNvGrpSpPr/>
        <p:nvPr/>
      </p:nvGrpSpPr>
      <p:grpSpPr>
        <a:xfrm>
          <a:off x="0" y="0"/>
          <a:ext cx="0" cy="0"/>
          <a:chOff x="0" y="0"/>
          <a:chExt cx="0" cy="0"/>
        </a:xfrm>
      </p:grpSpPr>
      <p:sp>
        <p:nvSpPr>
          <p:cNvPr id="214" name="Google Shape;214;p17"/>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grpSp>
        <p:nvGrpSpPr>
          <p:cNvPr id="215" name="Google Shape;215;p17"/>
          <p:cNvGrpSpPr/>
          <p:nvPr/>
        </p:nvGrpSpPr>
        <p:grpSpPr>
          <a:xfrm>
            <a:off x="984850" y="5926036"/>
            <a:ext cx="12279361" cy="1830286"/>
            <a:chOff x="1518223" y="2262911"/>
            <a:chExt cx="11519100" cy="1716966"/>
          </a:xfrm>
        </p:grpSpPr>
        <p:sp>
          <p:nvSpPr>
            <p:cNvPr id="216" name="Google Shape;216;p17"/>
            <p:cNvSpPr txBox="1"/>
            <p:nvPr/>
          </p:nvSpPr>
          <p:spPr>
            <a:xfrm>
              <a:off x="1518225" y="2262911"/>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Overall Assessment: Exceptional Candidate</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17" name="Google Shape;217;p17"/>
            <p:cNvSpPr txBox="1"/>
            <p:nvPr/>
          </p:nvSpPr>
          <p:spPr>
            <a:xfrm>
              <a:off x="1518223" y="2700377"/>
              <a:ext cx="11519100" cy="12795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a:solidFill>
                    <a:schemeClr val="dk1"/>
                  </a:solidFill>
                  <a:latin typeface="Urbanist Light" panose="020B0A04040200000203"/>
                  <a:ea typeface="Urbanist Light" panose="020B0A04040200000203"/>
                  <a:cs typeface="Urbanist Light" panose="020B0A04040200000203"/>
                  <a:sym typeface="Urbanist Light" panose="020B0A04040200000203"/>
                </a:rPr>
                <a:t>[Candidate Name]</a:t>
              </a: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 shows outstanding learning agility, strong structured communication, and a high-ownership mindset uncommon for his experience level. His versatility across backend, DevOps, AI workflows, and ML fundamentals demonstrates rapid skill growth and real adaptability. He operates with clarity, emotional intelligence, and strong execution in fast-moving environments — making him a high-potential AI-native engineer ready to contribute immediately.</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18" name="Google Shape;218;p17"/>
          <p:cNvSpPr/>
          <p:nvPr/>
        </p:nvSpPr>
        <p:spPr>
          <a:xfrm>
            <a:off x="1077800" y="2500150"/>
            <a:ext cx="12502200" cy="33426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219" name="Google Shape;219;p17"/>
          <p:cNvPicPr preferRelativeResize="0"/>
          <p:nvPr/>
        </p:nvPicPr>
        <p:blipFill rotWithShape="1">
          <a:blip r:embed="rId1"/>
          <a:srcRect/>
          <a:stretch>
            <a:fillRect/>
          </a:stretch>
        </p:blipFill>
        <p:spPr>
          <a:xfrm>
            <a:off x="1064100" y="2839900"/>
            <a:ext cx="12502200" cy="2549791"/>
          </a:xfrm>
          <a:prstGeom prst="rect">
            <a:avLst/>
          </a:prstGeom>
          <a:noFill/>
          <a:ln>
            <a:noFill/>
          </a:ln>
        </p:spPr>
      </p:pic>
      <p:sp>
        <p:nvSpPr>
          <p:cNvPr id="220" name="Google Shape;220;p17"/>
          <p:cNvSpPr txBox="1"/>
          <p:nvPr>
            <p:ph type="title"/>
          </p:nvPr>
        </p:nvSpPr>
        <p:spPr>
          <a:xfrm>
            <a:off x="854550" y="631210"/>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sz="3500"/>
              <a:t>Why [Candidate Name] Scores Exceptionally Across Behavioral Dimensions</a:t>
            </a:r>
            <a:endParaRPr sz="3500"/>
          </a:p>
        </p:txBody>
      </p:sp>
      <p:sp>
        <p:nvSpPr>
          <p:cNvPr id="221" name="Google Shape;221;p17"/>
          <p:cNvSpPr txBox="1"/>
          <p:nvPr/>
        </p:nvSpPr>
        <p:spPr>
          <a:xfrm>
            <a:off x="984850" y="1787743"/>
            <a:ext cx="12921300" cy="16275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Based on AI-powered behavioral assessment and structured interviews</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226" name="Shape 226"/>
        <p:cNvGrpSpPr/>
        <p:nvPr/>
      </p:nvGrpSpPr>
      <p:grpSpPr>
        <a:xfrm>
          <a:off x="0" y="0"/>
          <a:ext cx="0" cy="0"/>
          <a:chOff x="0" y="0"/>
          <a:chExt cx="0" cy="0"/>
        </a:xfrm>
      </p:grpSpPr>
      <p:sp>
        <p:nvSpPr>
          <p:cNvPr id="227" name="Google Shape;227;p18"/>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28" name="Google Shape;228;p18"/>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panose="020B0604020202020204"/>
              <a:buNone/>
            </a:pPr>
            <a:r>
              <a:rPr lang="en-US">
                <a:solidFill>
                  <a:schemeClr val="dk1"/>
                </a:solidFill>
              </a:rPr>
              <a:t>HackerRank </a:t>
            </a:r>
            <a:r>
              <a:rPr lang="en-US">
                <a:solidFill>
                  <a:srgbClr val="7068F4"/>
                </a:solidFill>
              </a:rPr>
              <a:t>Full-Stack</a:t>
            </a:r>
            <a:r>
              <a:rPr lang="en-US">
                <a:solidFill>
                  <a:schemeClr val="dk1"/>
                </a:solidFill>
              </a:rPr>
              <a:t> Tech Assessment</a:t>
            </a:r>
            <a:endParaRPr>
              <a:solidFill>
                <a:schemeClr val="dk1"/>
              </a:solidFill>
            </a:endParaRPr>
          </a:p>
          <a:p>
            <a:pPr marL="0" lvl="0" indent="0" algn="l" rtl="0">
              <a:lnSpc>
                <a:spcPct val="100000"/>
              </a:lnSpc>
              <a:spcBef>
                <a:spcPts val="0"/>
              </a:spcBef>
              <a:spcAft>
                <a:spcPts val="0"/>
              </a:spcAft>
              <a:buSzPts val="5200"/>
              <a:buNone/>
            </a:pPr>
          </a:p>
        </p:txBody>
      </p:sp>
      <p:grpSp>
        <p:nvGrpSpPr>
          <p:cNvPr id="229" name="Google Shape;229;p18"/>
          <p:cNvGrpSpPr/>
          <p:nvPr/>
        </p:nvGrpSpPr>
        <p:grpSpPr>
          <a:xfrm>
            <a:off x="1049227" y="2775084"/>
            <a:ext cx="12531943" cy="3246210"/>
            <a:chOff x="1518225" y="2327475"/>
            <a:chExt cx="6654600" cy="3045225"/>
          </a:xfrm>
        </p:grpSpPr>
        <p:sp>
          <p:nvSpPr>
            <p:cNvPr id="230" name="Google Shape;230;p18"/>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Why FutureProofing Uses HackerRank</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31" name="Google Shape;231;p18"/>
            <p:cNvSpPr txBox="1"/>
            <p:nvPr/>
          </p:nvSpPr>
          <p:spPr>
            <a:xfrm>
              <a:off x="1518225" y="2894100"/>
              <a:ext cx="6654600" cy="2478600"/>
            </a:xfrm>
            <a:prstGeom prst="rect">
              <a:avLst/>
            </a:prstGeom>
            <a:noFill/>
            <a:ln>
              <a:noFill/>
            </a:ln>
          </p:spPr>
          <p:txBody>
            <a:bodyPr spcFirstLastPara="1" wrap="square" lIns="97450" tIns="97450" rIns="97450" bIns="97450" anchor="t" anchorCtr="0">
              <a:spAutoFit/>
            </a:bodyPr>
            <a:lstStyle/>
            <a:p>
              <a:pPr marL="457200" marR="0" lvl="0" indent="-298450" algn="l" rtl="0">
                <a:lnSpc>
                  <a:spcPct val="115000"/>
                </a:lnSpc>
                <a:spcBef>
                  <a:spcPts val="120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Validates candidates’ ability to solve real engineering problems under real constraints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Measures practical coding ability across backend, frontend, full-stack, and algorithmic challenges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Provides global benchmarking to compare candidates fairly and consistently</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Ensures engineering hires meet a high technical bar before interviewing with clients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Complements DataCamp by evaluating the software engineering side of AI-native development</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205"/>
                <a:buFont typeface="Arial" panose="020B0604020202020204"/>
                <a:buNone/>
              </a:pP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32" name="Google Shape;232;p18"/>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358"/>
              <a:buFont typeface="Arial" panose="020B0604020202020204"/>
              <a:buNone/>
            </a:pPr>
            <a:r>
              <a:rPr lang="en-US" sz="23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HackerRank is the global standard for assessing real engineering skills used by Google, Amazon, and Microsoft.</a:t>
            </a:r>
            <a:endParaRPr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237" name="Shape 237"/>
        <p:cNvGrpSpPr/>
        <p:nvPr/>
      </p:nvGrpSpPr>
      <p:grpSpPr>
        <a:xfrm>
          <a:off x="0" y="0"/>
          <a:ext cx="0" cy="0"/>
          <a:chOff x="0" y="0"/>
          <a:chExt cx="0" cy="0"/>
        </a:xfrm>
      </p:grpSpPr>
      <p:sp>
        <p:nvSpPr>
          <p:cNvPr id="238" name="Google Shape;238;p19"/>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39" name="Google Shape;239;p19"/>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HackerRank </a:t>
            </a:r>
            <a:r>
              <a:rPr lang="en-US">
                <a:solidFill>
                  <a:srgbClr val="7068F4"/>
                </a:solidFill>
              </a:rPr>
              <a:t>Full-Stack</a:t>
            </a:r>
            <a:r>
              <a:rPr lang="en-US"/>
              <a:t> Tech Assessment</a:t>
            </a:r>
            <a:endParaRPr lang="en-US"/>
          </a:p>
        </p:txBody>
      </p:sp>
      <p:grpSp>
        <p:nvGrpSpPr>
          <p:cNvPr id="240" name="Google Shape;240;p19"/>
          <p:cNvGrpSpPr/>
          <p:nvPr/>
        </p:nvGrpSpPr>
        <p:grpSpPr>
          <a:xfrm>
            <a:off x="854550" y="2791681"/>
            <a:ext cx="12531943" cy="2174320"/>
            <a:chOff x="1518225" y="2327475"/>
            <a:chExt cx="6654600" cy="2039700"/>
          </a:xfrm>
        </p:grpSpPr>
        <p:sp>
          <p:nvSpPr>
            <p:cNvPr id="241" name="Google Shape;241;p19"/>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Assessment Overview</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42" name="Google Shape;242;p19"/>
            <p:cNvSpPr txBox="1"/>
            <p:nvPr/>
          </p:nvSpPr>
          <p:spPr>
            <a:xfrm>
              <a:off x="1518225" y="2894100"/>
              <a:ext cx="6654600" cy="13833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The HackerRank Full-Stack Developer Test measures an engineer's ability to build an end-to-end application including front-end, back-end, and database layers. It simulates real production constraints and evaluates both technical execution and engineering judgment.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43" name="Google Shape;243;p19"/>
          <p:cNvGrpSpPr/>
          <p:nvPr/>
        </p:nvGrpSpPr>
        <p:grpSpPr>
          <a:xfrm>
            <a:off x="854550" y="4564822"/>
            <a:ext cx="7093804" cy="3047778"/>
            <a:chOff x="-3583229" y="2426185"/>
            <a:chExt cx="6654600" cy="2859079"/>
          </a:xfrm>
        </p:grpSpPr>
        <p:sp>
          <p:nvSpPr>
            <p:cNvPr id="244" name="Google Shape;244;p19"/>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Back End Development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45" name="Google Shape;245;p19"/>
            <p:cNvSpPr txBox="1"/>
            <p:nvPr/>
          </p:nvSpPr>
          <p:spPr>
            <a:xfrm>
              <a:off x="-3583229" y="2949764"/>
              <a:ext cx="6654600" cy="23355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REST API design and implementation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CRUD functionality and routing logic</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Input validation and error handling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Service and controller architecture</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Security and defensive programming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46" name="Google Shape;246;p19"/>
          <p:cNvGrpSpPr/>
          <p:nvPr/>
        </p:nvGrpSpPr>
        <p:grpSpPr>
          <a:xfrm>
            <a:off x="7159520" y="4451222"/>
            <a:ext cx="7093804" cy="3504928"/>
            <a:chOff x="1518225" y="2327475"/>
            <a:chExt cx="6654600" cy="3287925"/>
          </a:xfrm>
        </p:grpSpPr>
        <p:sp>
          <p:nvSpPr>
            <p:cNvPr id="247" name="Google Shape;247;p19"/>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Front End Development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48" name="Google Shape;248;p19"/>
            <p:cNvSpPr txBox="1"/>
            <p:nvPr/>
          </p:nvSpPr>
          <p:spPr>
            <a:xfrm>
              <a:off x="1518225" y="2894100"/>
              <a:ext cx="6654600" cy="27213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Dynamic component rendering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API consumption and state management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Loading and error state handling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Responsive layouts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Clean, modular UI code</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49" name="Google Shape;249;p19"/>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358"/>
              <a:buFont typeface="Arial" panose="020B0604020202020204"/>
              <a:buNone/>
            </a:pPr>
            <a:r>
              <a:rPr lang="en-US" sz="23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HackerRank is the global standard for assessing real engineering skills used by Google, Amazon, and Microsoft. </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254" name="Shape 254"/>
        <p:cNvGrpSpPr/>
        <p:nvPr/>
      </p:nvGrpSpPr>
      <p:grpSpPr>
        <a:xfrm>
          <a:off x="0" y="0"/>
          <a:ext cx="0" cy="0"/>
          <a:chOff x="0" y="0"/>
          <a:chExt cx="0" cy="0"/>
        </a:xfrm>
      </p:grpSpPr>
      <p:sp>
        <p:nvSpPr>
          <p:cNvPr id="255" name="Google Shape;255;p20"/>
          <p:cNvSpPr txBox="1"/>
          <p:nvPr>
            <p:ph type="sldNum" idx="12"/>
          </p:nvPr>
        </p:nvSpPr>
        <p:spPr>
          <a:xfrm>
            <a:off x="8611604" y="6694723"/>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grpSp>
        <p:nvGrpSpPr>
          <p:cNvPr id="256" name="Google Shape;256;p20"/>
          <p:cNvGrpSpPr/>
          <p:nvPr/>
        </p:nvGrpSpPr>
        <p:grpSpPr>
          <a:xfrm>
            <a:off x="854552" y="4834831"/>
            <a:ext cx="12531943" cy="2489883"/>
            <a:chOff x="1518225" y="2327475"/>
            <a:chExt cx="6654600" cy="2335725"/>
          </a:xfrm>
        </p:grpSpPr>
        <p:sp>
          <p:nvSpPr>
            <p:cNvPr id="257" name="Google Shape;257;p20"/>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What Strong Performance Indicates</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58" name="Google Shape;258;p20"/>
            <p:cNvSpPr txBox="1"/>
            <p:nvPr/>
          </p:nvSpPr>
          <p:spPr>
            <a:xfrm>
              <a:off x="1518225" y="2894100"/>
              <a:ext cx="6654600" cy="17691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Demonstrates ability to deliver independently in real environments without needing senior oversight. Shows confidence creating reliable backend logic, functional UI, and proper data architecture. Proves capability to ship complete features from database to user interface.</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59" name="Google Shape;259;p20"/>
          <p:cNvGrpSpPr/>
          <p:nvPr/>
        </p:nvGrpSpPr>
        <p:grpSpPr>
          <a:xfrm>
            <a:off x="938752" y="2196797"/>
            <a:ext cx="7093804" cy="2745887"/>
            <a:chOff x="-3583229" y="2426185"/>
            <a:chExt cx="6654600" cy="2575879"/>
          </a:xfrm>
        </p:grpSpPr>
        <p:sp>
          <p:nvSpPr>
            <p:cNvPr id="260" name="Google Shape;260;p20"/>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Database &amp; Data Modeling</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61" name="Google Shape;261;p20"/>
            <p:cNvSpPr txBox="1"/>
            <p:nvPr/>
          </p:nvSpPr>
          <p:spPr>
            <a:xfrm>
              <a:off x="-3583229" y="2949764"/>
              <a:ext cx="6654600" cy="20523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Schema design and relationships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 integrity and constraints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Efficient query patterns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Migrations and indexes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62" name="Google Shape;262;p20"/>
          <p:cNvGrpSpPr/>
          <p:nvPr/>
        </p:nvGrpSpPr>
        <p:grpSpPr>
          <a:xfrm>
            <a:off x="7134370" y="2196797"/>
            <a:ext cx="7093804" cy="3614300"/>
            <a:chOff x="1518225" y="2327475"/>
            <a:chExt cx="6654600" cy="3390525"/>
          </a:xfrm>
        </p:grpSpPr>
        <p:sp>
          <p:nvSpPr>
            <p:cNvPr id="263" name="Google Shape;263;p20"/>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Code Quality &amp; System Integration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64" name="Google Shape;264;p20"/>
            <p:cNvSpPr txBox="1"/>
            <p:nvPr/>
          </p:nvSpPr>
          <p:spPr>
            <a:xfrm>
              <a:off x="1518225" y="2894100"/>
              <a:ext cx="6654600" cy="28239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Modularity and maintainability</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Clear naming and documentation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End-to-end system implementation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Production-ready patterns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65" name="Google Shape;265;p20"/>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HackerRank </a:t>
            </a:r>
            <a:r>
              <a:rPr lang="en-US">
                <a:solidFill>
                  <a:srgbClr val="7068F4"/>
                </a:solidFill>
              </a:rPr>
              <a:t>Full-Stack</a:t>
            </a:r>
            <a:r>
              <a:rPr lang="en-US"/>
              <a:t> Tech Assessment</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270" name="Shape 270"/>
        <p:cNvGrpSpPr/>
        <p:nvPr/>
      </p:nvGrpSpPr>
      <p:grpSpPr>
        <a:xfrm>
          <a:off x="0" y="0"/>
          <a:ext cx="0" cy="0"/>
          <a:chOff x="0" y="0"/>
          <a:chExt cx="0" cy="0"/>
        </a:xfrm>
      </p:grpSpPr>
      <p:sp>
        <p:nvSpPr>
          <p:cNvPr id="271" name="Google Shape;271;p21"/>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72" name="Google Shape;272;p21"/>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panose="020B0604020202020204"/>
              <a:buNone/>
            </a:pPr>
            <a:r>
              <a:rPr lang="en-US">
                <a:solidFill>
                  <a:schemeClr val="dk1"/>
                </a:solidFill>
              </a:rPr>
              <a:t>HackerRank </a:t>
            </a:r>
            <a:r>
              <a:rPr lang="en-US">
                <a:solidFill>
                  <a:srgbClr val="7068F4"/>
                </a:solidFill>
              </a:rPr>
              <a:t>Full-Stack</a:t>
            </a:r>
            <a:r>
              <a:rPr lang="en-US">
                <a:solidFill>
                  <a:schemeClr val="dk1"/>
                </a:solidFill>
              </a:rPr>
              <a:t> Tech Assessment</a:t>
            </a:r>
            <a:endParaRPr>
              <a:solidFill>
                <a:schemeClr val="dk1"/>
              </a:solidFill>
            </a:endParaRPr>
          </a:p>
          <a:p>
            <a:pPr marL="0" lvl="0" indent="0" algn="l" rtl="0">
              <a:lnSpc>
                <a:spcPct val="100000"/>
              </a:lnSpc>
              <a:spcBef>
                <a:spcPts val="0"/>
              </a:spcBef>
              <a:spcAft>
                <a:spcPts val="0"/>
              </a:spcAft>
              <a:buSzPts val="5200"/>
              <a:buNone/>
            </a:pPr>
          </a:p>
        </p:txBody>
      </p:sp>
      <p:sp>
        <p:nvSpPr>
          <p:cNvPr id="273" name="Google Shape;273;p21"/>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358"/>
              <a:buFont typeface="Arial" panose="020B0604020202020204"/>
              <a:buNone/>
            </a:pPr>
            <a:r>
              <a:rPr lang="en-US" sz="23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HackerRank is the global standard for assessing real engineering skills used by Google, Amazon, and Microsoft. </a:t>
            </a:r>
            <a:endParaRPr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grpSp>
        <p:nvGrpSpPr>
          <p:cNvPr id="274" name="Google Shape;274;p21"/>
          <p:cNvGrpSpPr/>
          <p:nvPr/>
        </p:nvGrpSpPr>
        <p:grpSpPr>
          <a:xfrm>
            <a:off x="980827" y="3104659"/>
            <a:ext cx="12531943" cy="3547461"/>
            <a:chOff x="1518225" y="2327475"/>
            <a:chExt cx="6654600" cy="3327825"/>
          </a:xfrm>
        </p:grpSpPr>
        <p:sp>
          <p:nvSpPr>
            <p:cNvPr id="275" name="Google Shape;275;p21"/>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a:t>
              </a:r>
              <a:r>
                <a:rPr lang="en-US" sz="2860">
                  <a:solidFill>
                    <a:srgbClr val="7068F4"/>
                  </a:solidFill>
                  <a:latin typeface="Urbanist Medium" panose="020B0A04040200000203"/>
                  <a:ea typeface="Urbanist Medium" panose="020B0A04040200000203"/>
                  <a:cs typeface="Urbanist Medium" panose="020B0A04040200000203"/>
                  <a:sym typeface="Urbanist Medium" panose="020B0A04040200000203"/>
                </a:rPr>
                <a:t>[Candidate’s name]</a:t>
              </a: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scored in the top decile</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76" name="Google Shape;276;p21"/>
            <p:cNvSpPr txBox="1"/>
            <p:nvPr/>
          </p:nvSpPr>
          <p:spPr>
            <a:xfrm>
              <a:off x="1518225" y="2894100"/>
              <a:ext cx="6654600" cy="27612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2004"/>
                <a:buFont typeface="Arial" panose="020B0604020202020204"/>
                <a:buNone/>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 perfect score demonstrating fluency in:</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120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Core data structures and algorithms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Optimizing code for performance and scalability</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Building real-world backend and full-stack solutions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Problem-solving under time and constraint conditions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Writing clean, maintainable, production-ready code</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005"/>
                <a:buFont typeface="Arial" panose="020B0604020202020204"/>
                <a:buNone/>
              </a:pP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281" name="Shape 281"/>
        <p:cNvGrpSpPr/>
        <p:nvPr/>
      </p:nvGrpSpPr>
      <p:grpSpPr>
        <a:xfrm>
          <a:off x="0" y="0"/>
          <a:ext cx="0" cy="0"/>
          <a:chOff x="0" y="0"/>
          <a:chExt cx="0" cy="0"/>
        </a:xfrm>
      </p:grpSpPr>
      <p:sp>
        <p:nvSpPr>
          <p:cNvPr id="282" name="Google Shape;282;p22"/>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83" name="Google Shape;283;p22"/>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grpSp>
        <p:nvGrpSpPr>
          <p:cNvPr id="284" name="Google Shape;284;p22"/>
          <p:cNvGrpSpPr/>
          <p:nvPr/>
        </p:nvGrpSpPr>
        <p:grpSpPr>
          <a:xfrm>
            <a:off x="1049227" y="2775084"/>
            <a:ext cx="12531943" cy="2856054"/>
            <a:chOff x="1518225" y="2327475"/>
            <a:chExt cx="6654600" cy="2679225"/>
          </a:xfrm>
        </p:grpSpPr>
        <p:sp>
          <p:nvSpPr>
            <p:cNvPr id="285" name="Google Shape;285;p22"/>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Why FutureProofing Uses DataCamp</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86" name="Google Shape;286;p22"/>
            <p:cNvSpPr txBox="1"/>
            <p:nvPr/>
          </p:nvSpPr>
          <p:spPr>
            <a:xfrm>
              <a:off x="1518225" y="2894100"/>
              <a:ext cx="6654600" cy="2112600"/>
            </a:xfrm>
            <a:prstGeom prst="rect">
              <a:avLst/>
            </a:prstGeom>
            <a:noFill/>
            <a:ln>
              <a:noFill/>
            </a:ln>
          </p:spPr>
          <p:txBody>
            <a:bodyPr spcFirstLastPara="1" wrap="square" lIns="97450" tIns="97450" rIns="97450" bIns="97450" anchor="t" anchorCtr="0">
              <a:spAutoFit/>
            </a:bodyPr>
            <a:lstStyle/>
            <a:p>
              <a:pPr marL="457200" marR="0" lvl="0" indent="-330200" algn="l" rtl="0">
                <a:lnSpc>
                  <a:spcPct val="115000"/>
                </a:lnSpc>
                <a:spcBef>
                  <a:spcPts val="120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Ensures candidates have real foundations in AI, ML, and data workflows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0200" algn="l" rtl="0">
                <a:lnSpc>
                  <a:spcPct val="115000"/>
                </a:lnSpc>
                <a:spcBef>
                  <a:spcPts val="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Widely recognized and trusted by engineering teams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0200" algn="l" rtl="0">
                <a:lnSpc>
                  <a:spcPct val="115000"/>
                </a:lnSpc>
                <a:spcBef>
                  <a:spcPts val="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Allows apples-to-apples comparison between global talent</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0200" algn="l" rtl="0">
                <a:lnSpc>
                  <a:spcPct val="115000"/>
                </a:lnSpc>
                <a:spcBef>
                  <a:spcPts val="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Complements HackerRank by evaluating the AI side of engineering</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205"/>
                <a:buFont typeface="Arial" panose="020B0604020202020204"/>
                <a:buNone/>
              </a:pP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87" name="Google Shape;287;p22"/>
          <p:cNvSpPr txBox="1"/>
          <p:nvPr/>
        </p:nvSpPr>
        <p:spPr>
          <a:xfrm>
            <a:off x="980825" y="1838350"/>
            <a:ext cx="12795000" cy="9114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258"/>
              <a:buFont typeface="Arial" panose="020B0604020202020204"/>
              <a:buNone/>
            </a:pPr>
            <a:r>
              <a:rPr lang="en-US" sz="22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DataCamp is a leading global platform for validating data, machine learning, and AI engineering skills..</a:t>
            </a:r>
            <a:endParaRPr sz="24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258"/>
              <a:buFont typeface="Arial" panose="020B0604020202020204"/>
              <a:buNone/>
            </a:pPr>
            <a:endParaRPr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292" name="Shape 292"/>
        <p:cNvGrpSpPr/>
        <p:nvPr/>
      </p:nvGrpSpPr>
      <p:grpSpPr>
        <a:xfrm>
          <a:off x="0" y="0"/>
          <a:ext cx="0" cy="0"/>
          <a:chOff x="0" y="0"/>
          <a:chExt cx="0" cy="0"/>
        </a:xfrm>
      </p:grpSpPr>
      <p:sp>
        <p:nvSpPr>
          <p:cNvPr id="293" name="Google Shape;293;p23"/>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94" name="Google Shape;294;p23"/>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grpSp>
        <p:nvGrpSpPr>
          <p:cNvPr id="295" name="Google Shape;295;p23"/>
          <p:cNvGrpSpPr/>
          <p:nvPr/>
        </p:nvGrpSpPr>
        <p:grpSpPr>
          <a:xfrm>
            <a:off x="980827" y="2438631"/>
            <a:ext cx="12531943" cy="1365466"/>
            <a:chOff x="1518225" y="2327475"/>
            <a:chExt cx="6654600" cy="1280925"/>
          </a:xfrm>
        </p:grpSpPr>
        <p:sp>
          <p:nvSpPr>
            <p:cNvPr id="296" name="Google Shape;296;p23"/>
            <p:cNvSpPr txBox="1"/>
            <p:nvPr/>
          </p:nvSpPr>
          <p:spPr>
            <a:xfrm>
              <a:off x="1518225" y="2327475"/>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Assessment Overview</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97" name="Google Shape;297;p23"/>
            <p:cNvSpPr txBox="1"/>
            <p:nvPr/>
          </p:nvSpPr>
          <p:spPr>
            <a:xfrm>
              <a:off x="1518225" y="2894100"/>
              <a:ext cx="6654600" cy="7143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855"/>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DataCamp assessments validate foundational and applied skills in statistics, data manipulation, AI concepts, and machine learning using Python. Each assessment measures practical abilities required in modern AI engineering workflows.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98" name="Google Shape;298;p23"/>
          <p:cNvGrpSpPr/>
          <p:nvPr/>
        </p:nvGrpSpPr>
        <p:grpSpPr>
          <a:xfrm>
            <a:off x="980815" y="4056672"/>
            <a:ext cx="7093804" cy="3156190"/>
            <a:chOff x="-3583229" y="2426185"/>
            <a:chExt cx="6654600" cy="2960779"/>
          </a:xfrm>
        </p:grpSpPr>
        <p:sp>
          <p:nvSpPr>
            <p:cNvPr id="299" name="Google Shape;299;p23"/>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Statistic Fundamentals with Python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00" name="Google Shape;300;p23"/>
            <p:cNvSpPr txBox="1"/>
            <p:nvPr/>
          </p:nvSpPr>
          <p:spPr>
            <a:xfrm>
              <a:off x="-3583229" y="2949764"/>
              <a:ext cx="6654600" cy="24372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70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Descriptive statistics and distributions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Probability concepts and events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Hypothesis testing foundations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Statistical interpretation</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01" name="Google Shape;301;p23"/>
          <p:cNvGrpSpPr/>
          <p:nvPr/>
        </p:nvGrpSpPr>
        <p:grpSpPr>
          <a:xfrm>
            <a:off x="7176432" y="4056672"/>
            <a:ext cx="7093804" cy="4024603"/>
            <a:chOff x="1518225" y="2327475"/>
            <a:chExt cx="6654600" cy="3775425"/>
          </a:xfrm>
        </p:grpSpPr>
        <p:sp>
          <p:nvSpPr>
            <p:cNvPr id="302" name="Google Shape;302;p23"/>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Data Manipulation with Python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03" name="Google Shape;303;p23"/>
            <p:cNvSpPr txBox="1"/>
            <p:nvPr/>
          </p:nvSpPr>
          <p:spPr>
            <a:xfrm>
              <a:off x="1518225" y="2894100"/>
              <a:ext cx="6654600" cy="32088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15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Pandas for data operations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 cleaning and transformations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Grouping and aggregating data</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Preparing data for ML workflows</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304" name="Google Shape;304;p23"/>
          <p:cNvSpPr txBox="1"/>
          <p:nvPr/>
        </p:nvSpPr>
        <p:spPr>
          <a:xfrm>
            <a:off x="980825" y="1838350"/>
            <a:ext cx="12795000" cy="347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258"/>
              <a:buFont typeface="Arial" panose="020B0604020202020204"/>
              <a:buNone/>
            </a:pPr>
            <a:r>
              <a:rPr lang="en-US" sz="22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DataCamp is a leading global platform for validating data, machine learning, and AI engineering skills..</a:t>
            </a:r>
            <a:endParaRPr sz="24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309" name="Shape 309"/>
        <p:cNvGrpSpPr/>
        <p:nvPr/>
      </p:nvGrpSpPr>
      <p:grpSpPr>
        <a:xfrm>
          <a:off x="0" y="0"/>
          <a:ext cx="0" cy="0"/>
          <a:chOff x="0" y="0"/>
          <a:chExt cx="0" cy="0"/>
        </a:xfrm>
      </p:grpSpPr>
      <p:sp>
        <p:nvSpPr>
          <p:cNvPr id="310" name="Google Shape;310;p24"/>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11" name="Google Shape;311;p24"/>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grpSp>
        <p:nvGrpSpPr>
          <p:cNvPr id="312" name="Google Shape;312;p24"/>
          <p:cNvGrpSpPr/>
          <p:nvPr/>
        </p:nvGrpSpPr>
        <p:grpSpPr>
          <a:xfrm>
            <a:off x="770352" y="4815056"/>
            <a:ext cx="12531943" cy="2899547"/>
            <a:chOff x="1518225" y="2327475"/>
            <a:chExt cx="6654600" cy="2720025"/>
          </a:xfrm>
        </p:grpSpPr>
        <p:sp>
          <p:nvSpPr>
            <p:cNvPr id="313" name="Google Shape;313;p24"/>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Complete AI &amp; Engineering Foundation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14" name="Google Shape;314;p24"/>
            <p:cNvSpPr txBox="1"/>
            <p:nvPr/>
          </p:nvSpPr>
          <p:spPr>
            <a:xfrm>
              <a:off x="1518225" y="2894100"/>
              <a:ext cx="6654600" cy="21534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1704"/>
                <a:buFont typeface="Arial" panose="020B0604020202020204"/>
                <a:buNone/>
              </a:pPr>
              <a:r>
                <a:rPr lang="en-US" sz="1705">
                  <a:solidFill>
                    <a:schemeClr val="dk1"/>
                  </a:solidFill>
                  <a:latin typeface="Urbanist Light" panose="020B0A04040200000203"/>
                  <a:ea typeface="Urbanist Light" panose="020B0A04040200000203"/>
                  <a:cs typeface="Urbanist Light" panose="020B0A04040200000203"/>
                  <a:sym typeface="Urbanist Light" panose="020B0A04040200000203"/>
                </a:rPr>
                <a:t>[Candidate Name]</a:t>
              </a: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 has successfully completed all four DataCamp skill assessments, demonstrating comprehensive proficiency across statistics, data manipulation, AI fundamentals, and machine learning. This validates his ability to work effectively across the entire data-to-AI pipeline and collaborate seamlessly with data science teams.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15" name="Google Shape;315;p24"/>
          <p:cNvGrpSpPr/>
          <p:nvPr/>
        </p:nvGrpSpPr>
        <p:grpSpPr>
          <a:xfrm>
            <a:off x="854552" y="2177023"/>
            <a:ext cx="7093804" cy="2744928"/>
            <a:chOff x="-3583229" y="2426185"/>
            <a:chExt cx="6654600" cy="2574979"/>
          </a:xfrm>
        </p:grpSpPr>
        <p:sp>
          <p:nvSpPr>
            <p:cNvPr id="316" name="Google Shape;316;p24"/>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AI Fundamentals</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17" name="Google Shape;317;p24"/>
            <p:cNvSpPr txBox="1"/>
            <p:nvPr/>
          </p:nvSpPr>
          <p:spPr>
            <a:xfrm>
              <a:off x="-3583229" y="2949764"/>
              <a:ext cx="6654600" cy="20514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70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AI terminology and concepts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ML vs DL distinctions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Model types and paradigms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Ethical AI considerations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18" name="Google Shape;318;p24"/>
          <p:cNvGrpSpPr/>
          <p:nvPr/>
        </p:nvGrpSpPr>
        <p:grpSpPr>
          <a:xfrm>
            <a:off x="7050170" y="2177022"/>
            <a:ext cx="7093804" cy="4017887"/>
            <a:chOff x="1518225" y="2327475"/>
            <a:chExt cx="6654600" cy="3769125"/>
          </a:xfrm>
        </p:grpSpPr>
        <p:sp>
          <p:nvSpPr>
            <p:cNvPr id="319" name="Google Shape;319;p24"/>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Machine Learning Fundamentals in Python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20" name="Google Shape;320;p24"/>
            <p:cNvSpPr txBox="1"/>
            <p:nvPr/>
          </p:nvSpPr>
          <p:spPr>
            <a:xfrm>
              <a:off x="1518225" y="2894100"/>
              <a:ext cx="6654600" cy="32025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15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Supervised learning concepts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Model training and evaluation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Performance metrics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Feature engineering with scikit-learn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325" name="Shape 325"/>
        <p:cNvGrpSpPr/>
        <p:nvPr/>
      </p:nvGrpSpPr>
      <p:grpSpPr>
        <a:xfrm>
          <a:off x="0" y="0"/>
          <a:ext cx="0" cy="0"/>
          <a:chOff x="0" y="0"/>
          <a:chExt cx="0" cy="0"/>
        </a:xfrm>
      </p:grpSpPr>
      <p:sp>
        <p:nvSpPr>
          <p:cNvPr id="326" name="Google Shape;326;p25"/>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27" name="Google Shape;327;p25"/>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sp>
        <p:nvSpPr>
          <p:cNvPr id="328" name="Google Shape;328;p25"/>
          <p:cNvSpPr txBox="1"/>
          <p:nvPr/>
        </p:nvSpPr>
        <p:spPr>
          <a:xfrm>
            <a:off x="980825" y="1838350"/>
            <a:ext cx="12795000" cy="7473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258"/>
              <a:buFont typeface="Arial" panose="020B0604020202020204"/>
              <a:buNone/>
            </a:pPr>
            <a:r>
              <a:rPr lang="en-US" sz="2260" b="1">
                <a:solidFill>
                  <a:schemeClr val="dk1"/>
                </a:solidFill>
                <a:latin typeface="Urbanist" panose="020B0A04040200000203"/>
                <a:ea typeface="Urbanist" panose="020B0A04040200000203"/>
                <a:cs typeface="Urbanist" panose="020B0A04040200000203"/>
                <a:sym typeface="Urbanist" panose="020B0A04040200000203"/>
              </a:rPr>
              <a:t>[Candidate Name] s</a:t>
            </a:r>
            <a:r>
              <a:rPr lang="en-US"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rPr>
              <a:t>cored 100% on DataCamp’s AI Assessment.</a:t>
            </a:r>
            <a:r>
              <a:rPr lang="en-US" sz="22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 This places him among the highest performers on a platform used globally to validate AI and ML engineering skills.</a:t>
            </a:r>
            <a:endParaRPr sz="22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329" name="Google Shape;329;p25"/>
          <p:cNvGrpSpPr/>
          <p:nvPr/>
        </p:nvGrpSpPr>
        <p:grpSpPr>
          <a:xfrm>
            <a:off x="980827" y="3104659"/>
            <a:ext cx="12531943" cy="3547461"/>
            <a:chOff x="1518225" y="2327475"/>
            <a:chExt cx="6654600" cy="3327825"/>
          </a:xfrm>
        </p:grpSpPr>
        <p:sp>
          <p:nvSpPr>
            <p:cNvPr id="330" name="Google Shape;330;p25"/>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in AI Fundamentals</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31" name="Google Shape;331;p25"/>
            <p:cNvSpPr txBox="1"/>
            <p:nvPr/>
          </p:nvSpPr>
          <p:spPr>
            <a:xfrm>
              <a:off x="1518225" y="2894100"/>
              <a:ext cx="6654600" cy="27612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2004"/>
                <a:buFont typeface="Arial" panose="020B0604020202020204"/>
                <a:buNone/>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 perfect score demonstrating fluency in:</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120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Core AI concepts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ML pipelines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Responsible AI</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Practical use cases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AI-assisted development workflows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005"/>
                <a:buFont typeface="Arial" panose="020B0604020202020204"/>
                <a:buNone/>
              </a:pP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336" name="Shape 336"/>
        <p:cNvGrpSpPr/>
        <p:nvPr/>
      </p:nvGrpSpPr>
      <p:grpSpPr>
        <a:xfrm>
          <a:off x="0" y="0"/>
          <a:ext cx="0" cy="0"/>
          <a:chOff x="0" y="0"/>
          <a:chExt cx="0" cy="0"/>
        </a:xfrm>
      </p:grpSpPr>
      <p:sp>
        <p:nvSpPr>
          <p:cNvPr id="337" name="Google Shape;337;p26"/>
          <p:cNvSpPr/>
          <p:nvPr/>
        </p:nvSpPr>
        <p:spPr>
          <a:xfrm>
            <a:off x="3953850" y="2777550"/>
            <a:ext cx="6722700" cy="41325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8" name="Google Shape;338;p26"/>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39" name="Google Shape;339;p26"/>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Executive Summary</a:t>
            </a:r>
            <a:endParaRPr lang="en-US"/>
          </a:p>
        </p:txBody>
      </p:sp>
      <p:sp>
        <p:nvSpPr>
          <p:cNvPr id="340" name="Google Shape;340;p26"/>
          <p:cNvSpPr txBox="1"/>
          <p:nvPr/>
        </p:nvSpPr>
        <p:spPr>
          <a:xfrm>
            <a:off x="984850" y="1957400"/>
            <a:ext cx="10682400" cy="3693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1200"/>
              </a:spcAft>
              <a:buClr>
                <a:srgbClr val="000000"/>
              </a:buClr>
              <a:buSzPts val="2400"/>
              <a:buFont typeface="Arial" panose="020B0604020202020204"/>
              <a:buNone/>
            </a:pPr>
            <a:r>
              <a:rPr lang="en-US" sz="24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Why We Recommend </a:t>
            </a:r>
            <a:r>
              <a:rPr lang="en-US" sz="2400">
                <a:solidFill>
                  <a:schemeClr val="dk1"/>
                </a:solidFill>
                <a:latin typeface="Urbanist Light" panose="020B0A04040200000203"/>
                <a:ea typeface="Urbanist Light" panose="020B0A04040200000203"/>
                <a:cs typeface="Urbanist Light" panose="020B0A04040200000203"/>
                <a:sym typeface="Urbanist Light" panose="020B0A04040200000203"/>
              </a:rPr>
              <a:t>[Candidate Name] </a:t>
            </a:r>
            <a:r>
              <a:rPr lang="en-US" sz="24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as a Top 0.01% AI-Native Engineer</a:t>
            </a:r>
            <a:endParaRPr sz="24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341" name="Google Shape;341;p26"/>
          <p:cNvSpPr txBox="1"/>
          <p:nvPr/>
        </p:nvSpPr>
        <p:spPr>
          <a:xfrm>
            <a:off x="4232350" y="3024561"/>
            <a:ext cx="3252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Technical Excellence</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42" name="Google Shape;342;p26"/>
          <p:cNvSpPr txBox="1"/>
          <p:nvPr/>
        </p:nvSpPr>
        <p:spPr>
          <a:xfrm>
            <a:off x="4110600" y="3614511"/>
            <a:ext cx="6409200" cy="2265600"/>
          </a:xfrm>
          <a:prstGeom prst="rect">
            <a:avLst/>
          </a:prstGeom>
          <a:noFill/>
          <a:ln>
            <a:noFill/>
          </a:ln>
        </p:spPr>
        <p:txBody>
          <a:bodyPr spcFirstLastPara="1" wrap="square" lIns="91425" tIns="91425" rIns="91425" bIns="91425" anchor="t" anchorCtr="0">
            <a:spAutoFit/>
          </a:bodyPr>
          <a:lstStyle/>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Built production backend systems used by real users</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Designed scalable infrastructure</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Implemented AI-powered backend pipelines</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Strong ownership and execution ability</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100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Excellent technical communication</a:t>
            </a:r>
            <a:endParaRPr sz="17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347" name="Shape 347"/>
        <p:cNvGrpSpPr/>
        <p:nvPr/>
      </p:nvGrpSpPr>
      <p:grpSpPr>
        <a:xfrm>
          <a:off x="0" y="0"/>
          <a:ext cx="0" cy="0"/>
          <a:chOff x="0" y="0"/>
          <a:chExt cx="0" cy="0"/>
        </a:xfrm>
      </p:grpSpPr>
      <p:sp>
        <p:nvSpPr>
          <p:cNvPr id="348" name="Google Shape;348;p27"/>
          <p:cNvSpPr/>
          <p:nvPr/>
        </p:nvSpPr>
        <p:spPr>
          <a:xfrm>
            <a:off x="9062425" y="2316375"/>
            <a:ext cx="3880800" cy="39249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49" name="Google Shape;349;p27"/>
          <p:cNvSpPr/>
          <p:nvPr/>
        </p:nvSpPr>
        <p:spPr>
          <a:xfrm>
            <a:off x="9376525" y="3003675"/>
            <a:ext cx="3252600" cy="2550300"/>
          </a:xfrm>
          <a:prstGeom prst="roundRect">
            <a:avLst>
              <a:gd name="adj" fmla="val 4810"/>
            </a:avLst>
          </a:prstGeom>
          <a:solidFill>
            <a:srgbClr val="F3F3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0" name="Google Shape;350;p27"/>
          <p:cNvSpPr/>
          <p:nvPr/>
        </p:nvSpPr>
        <p:spPr>
          <a:xfrm>
            <a:off x="1687175" y="2316375"/>
            <a:ext cx="6722700" cy="39249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1" name="Google Shape;351;p27"/>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52" name="Google Shape;352;p27"/>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Why We Recommend Hiring in Pairs</a:t>
            </a:r>
            <a:endParaRPr lang="en-US"/>
          </a:p>
        </p:txBody>
      </p:sp>
      <p:sp>
        <p:nvSpPr>
          <p:cNvPr id="353" name="Google Shape;353;p27"/>
          <p:cNvSpPr txBox="1"/>
          <p:nvPr/>
        </p:nvSpPr>
        <p:spPr>
          <a:xfrm>
            <a:off x="1919775" y="2550650"/>
            <a:ext cx="49461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Here’s our recommendation:</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54" name="Google Shape;354;p27"/>
          <p:cNvSpPr txBox="1"/>
          <p:nvPr/>
        </p:nvSpPr>
        <p:spPr>
          <a:xfrm>
            <a:off x="2000825" y="3429839"/>
            <a:ext cx="6548700" cy="2016300"/>
          </a:xfrm>
          <a:prstGeom prst="rect">
            <a:avLst/>
          </a:prstGeom>
          <a:noFill/>
          <a:ln>
            <a:noFill/>
          </a:ln>
        </p:spPr>
        <p:txBody>
          <a:bodyPr spcFirstLastPara="1" wrap="square" lIns="91425" tIns="91425" rIns="91425" bIns="91425" anchor="t" anchorCtr="0">
            <a:spAutoFit/>
          </a:bodyPr>
          <a:lstStyle/>
          <a:p>
            <a:pPr marL="457200" marR="0" lvl="0" indent="-355600" algn="l" rtl="0">
              <a:lnSpc>
                <a:spcPct val="115000"/>
              </a:lnSpc>
              <a:spcBef>
                <a:spcPts val="1200"/>
              </a:spcBef>
              <a:spcAft>
                <a:spcPts val="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Ensures continuity if one engineer is unavailable</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55600" algn="l" rtl="0">
              <a:lnSpc>
                <a:spcPct val="115000"/>
              </a:lnSpc>
              <a:spcBef>
                <a:spcPts val="1200"/>
              </a:spcBef>
              <a:spcAft>
                <a:spcPts val="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Faster onboarding &amp; higher output</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55600" algn="l" rtl="0">
              <a:lnSpc>
                <a:spcPct val="115000"/>
              </a:lnSpc>
              <a:spcBef>
                <a:spcPts val="1200"/>
              </a:spcBef>
              <a:spcAft>
                <a:spcPts val="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Shared context reduces risk for clients</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55600" algn="l" rtl="0">
              <a:lnSpc>
                <a:spcPct val="115000"/>
              </a:lnSpc>
              <a:spcBef>
                <a:spcPts val="1200"/>
              </a:spcBef>
              <a:spcAft>
                <a:spcPts val="100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Industry standard used by top tech agencies</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55" name="Google Shape;355;p27"/>
          <p:cNvSpPr txBox="1"/>
          <p:nvPr/>
        </p:nvSpPr>
        <p:spPr>
          <a:xfrm>
            <a:off x="9622100" y="3411050"/>
            <a:ext cx="3006900" cy="20904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rgbClr val="000000"/>
              </a:buClr>
              <a:buSzPts val="1800"/>
              <a:buFont typeface="Arial" panose="020B0604020202020204"/>
              <a:buNone/>
            </a:pPr>
            <a:r>
              <a:rPr lang="en-US" sz="1800" b="1" i="0" u="none" strike="noStrike" cap="none">
                <a:solidFill>
                  <a:schemeClr val="dk1"/>
                </a:solidFill>
                <a:latin typeface="Urbanist" panose="020B0A04040200000203"/>
                <a:ea typeface="Urbanist" panose="020B0A04040200000203"/>
                <a:cs typeface="Urbanist" panose="020B0A04040200000203"/>
                <a:sym typeface="Urbanist" panose="020B0A04040200000203"/>
              </a:rPr>
              <a:t>Ready to Move Forward?</a:t>
            </a:r>
            <a:endParaRPr sz="180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a:p>
            <a:pPr marL="0" marR="292100" lvl="0" indent="0" algn="l" rtl="0">
              <a:lnSpc>
                <a:spcPct val="115000"/>
              </a:lnSpc>
              <a:spcBef>
                <a:spcPts val="3000"/>
              </a:spcBef>
              <a:spcAft>
                <a:spcPts val="0"/>
              </a:spcAft>
              <a:buClr>
                <a:schemeClr val="dk1"/>
              </a:buClr>
              <a:buSzPts val="1100"/>
              <a:buFont typeface="Arial" panose="020B0604020202020204"/>
              <a:buNone/>
            </a:pPr>
            <a:r>
              <a:rPr lang="en-US"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Contact FutureProofing.Dev to schedule </a:t>
            </a: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the </a:t>
            </a:r>
            <a:r>
              <a:rPr lang="en-US"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final interview</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1200"/>
              </a:spcAft>
              <a:buClr>
                <a:srgbClr val="000000"/>
              </a:buClr>
              <a:buSzPts val="1800"/>
              <a:buFont typeface="Arial" panose="020B0604020202020204"/>
              <a:buNone/>
            </a:pP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EEFF5"/>
        </a:solidFill>
        <a:effectLst/>
      </p:bgPr>
    </p:bg>
    <p:spTree>
      <p:nvGrpSpPr>
        <p:cNvPr id="360" name="Shape 360"/>
        <p:cNvGrpSpPr/>
        <p:nvPr/>
      </p:nvGrpSpPr>
      <p:grpSpPr>
        <a:xfrm>
          <a:off x="0" y="0"/>
          <a:ext cx="0" cy="0"/>
          <a:chOff x="0" y="0"/>
          <a:chExt cx="0" cy="0"/>
        </a:xfrm>
      </p:grpSpPr>
      <p:sp>
        <p:nvSpPr>
          <p:cNvPr id="361" name="Google Shape;361;p28"/>
          <p:cNvSpPr txBox="1"/>
          <p:nvPr/>
        </p:nvSpPr>
        <p:spPr>
          <a:xfrm>
            <a:off x="1354250" y="1725600"/>
            <a:ext cx="9479700" cy="215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6400"/>
              <a:buFont typeface="Arial" panose="020B0604020202020204"/>
              <a:buNone/>
            </a:pPr>
            <a:r>
              <a:rPr lang="en-US" sz="6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Start Hiring Elite</a:t>
            </a:r>
            <a:endParaRPr sz="6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6400"/>
              <a:buFont typeface="Arial" panose="020B0604020202020204"/>
              <a:buNone/>
            </a:pPr>
            <a:r>
              <a:rPr lang="en-US" sz="6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AI Talent </a:t>
            </a:r>
            <a:r>
              <a:rPr lang="en-US" sz="6400" b="0" i="1"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Today.</a:t>
            </a:r>
            <a:endParaRPr sz="6400" b="0" i="1"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62" name="Google Shape;362;p28"/>
          <p:cNvSpPr txBox="1"/>
          <p:nvPr/>
        </p:nvSpPr>
        <p:spPr>
          <a:xfrm>
            <a:off x="1354250" y="6248975"/>
            <a:ext cx="9479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63" name="Google Shape;363;p28"/>
          <p:cNvSpPr txBox="1"/>
          <p:nvPr/>
        </p:nvSpPr>
        <p:spPr>
          <a:xfrm>
            <a:off x="10365350" y="6141275"/>
            <a:ext cx="2600400" cy="769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Contact Us</a:t>
            </a: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Urbanist Light" panose="020B0A04040200000203"/>
                <a:ea typeface="Urbanist Light" panose="020B0A04040200000203"/>
                <a:cs typeface="Urbanist Light" panose="020B0A04040200000203"/>
                <a:sym typeface="Urbanist Light" panose="020B0A04040200000203"/>
              </a:rPr>
              <a:t>info@futureproofing.dev</a:t>
            </a:r>
            <a:endParaRPr sz="1800" b="0" i="0" u="none" strike="noStrike" cap="none">
              <a:solidFill>
                <a:srgbClr val="000000"/>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364" name="Google Shape;364;p28"/>
          <p:cNvSpPr/>
          <p:nvPr/>
        </p:nvSpPr>
        <p:spPr>
          <a:xfrm>
            <a:off x="1469975" y="4255700"/>
            <a:ext cx="2245500" cy="4233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7068F4"/>
                </a:solidFill>
                <a:latin typeface="Urbanist Light" panose="020B0A04040200000203"/>
                <a:ea typeface="Urbanist Light" panose="020B0A04040200000203"/>
                <a:cs typeface="Urbanist Light" panose="020B0A04040200000203"/>
                <a:sym typeface="Urbanist Light" panose="020B0A04040200000203"/>
              </a:rPr>
              <a:t>Start hiring</a:t>
            </a:r>
            <a:endParaRPr sz="18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65" name="Google Shape;365;p28"/>
          <p:cNvSpPr/>
          <p:nvPr/>
        </p:nvSpPr>
        <p:spPr>
          <a:xfrm>
            <a:off x="3333500" y="4334300"/>
            <a:ext cx="266100" cy="266100"/>
          </a:xfrm>
          <a:prstGeom prst="ellipse">
            <a:avLst/>
          </a:prstGeom>
          <a:solidFill>
            <a:srgbClr val="EEEFF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66" name="Google Shape;366;p28"/>
          <p:cNvSpPr/>
          <p:nvPr/>
        </p:nvSpPr>
        <p:spPr>
          <a:xfrm>
            <a:off x="3262206" y="4334300"/>
            <a:ext cx="266100" cy="266100"/>
          </a:xfrm>
          <a:prstGeom prst="ellipse">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10576</Words>
  <Application>WPS 演示</Application>
  <PresentationFormat/>
  <Paragraphs>611</Paragraphs>
  <Slides>24</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24</vt:i4>
      </vt:variant>
    </vt:vector>
  </HeadingPairs>
  <TitlesOfParts>
    <vt:vector size="35" baseType="lpstr">
      <vt:lpstr>Arial</vt:lpstr>
      <vt:lpstr>SimSun</vt:lpstr>
      <vt:lpstr>Wingdings</vt:lpstr>
      <vt:lpstr>Arial</vt:lpstr>
      <vt:lpstr>Urbanist Light</vt:lpstr>
      <vt:lpstr>Urbanist Medium</vt:lpstr>
      <vt:lpstr>Urbanist</vt:lpstr>
      <vt:lpstr>Calibri</vt:lpstr>
      <vt:lpstr>Microsoft YaHei</vt:lpstr>
      <vt:lpstr>Arial Unicode MS</vt:lpstr>
      <vt:lpstr>Office Theme</vt:lpstr>
      <vt:lpstr>PowerPoint 演示文稿</vt:lpstr>
      <vt:lpstr>We Review Hundreds of Engineers - Only ~1% Make It This Far. [Candidate Name] Is One of Them.</vt:lpstr>
      <vt:lpstr>Why [Candidate Name] Beats 99.99% of Applicants</vt:lpstr>
      <vt:lpstr>[Candidate Name] Is a Back-End AI-Native Engineer With Production-Level Experience Across Modern Systems</vt:lpstr>
      <vt:lpstr>Deep AI Project Experience</vt:lpstr>
      <vt:lpstr>Deep AI Project Experience</vt:lpstr>
      <vt:lpstr>[Candidate Name]’s Track Record of High-Impact Engineering Work</vt:lpstr>
      <vt:lpstr>[Candidate Name]’s Track Record of High-Impact Engineering Work</vt:lpstr>
      <vt:lpstr>Where [Candidate Name] Has Delivered Impact</vt:lpstr>
      <vt:lpstr>Behavioral Assessment Framework</vt:lpstr>
      <vt:lpstr>Behavioral Assessment Framework</vt:lpstr>
      <vt:lpstr>Why [Candidate Name] Scores Exceptionally Across Behavioral Dimensions</vt:lpstr>
      <vt:lpstr>Why [Candidate Name] Scores Exceptionally Across Behavioral Dimensions</vt:lpstr>
      <vt:lpstr>HackerRank Full-Stack Tech Assessment</vt:lpstr>
      <vt:lpstr>HackerRank Full-Stack Tech Assessment</vt:lpstr>
      <vt:lpstr>HackerRank Full-Stack Tech Assessment</vt:lpstr>
      <vt:lpstr>HackerRank Full-Stack Tech Assessment</vt:lpstr>
      <vt:lpstr>DataCamp Skill Assessments</vt:lpstr>
      <vt:lpstr>DataCamp Skill Assessments</vt:lpstr>
      <vt:lpstr>DataCamp Skill Assessments</vt:lpstr>
      <vt:lpstr>DataCamp Skill Assessments</vt:lpstr>
      <vt:lpstr>Executive Summary</vt:lpstr>
      <vt:lpstr>Why We Recommend Hiring in Pairs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Administrator</cp:lastModifiedBy>
  <cp:revision>1</cp:revision>
  <dcterms:created xsi:type="dcterms:W3CDTF">2026-02-18T07:27:58Z</dcterms:created>
  <dcterms:modified xsi:type="dcterms:W3CDTF">2026-02-18T07:27:59Z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2052-11.1.0.9021</vt:lpwstr>
  </property>
</Properties>
</file>