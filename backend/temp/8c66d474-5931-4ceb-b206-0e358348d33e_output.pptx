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30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Lst>
  <p:sldSz cx="14630400" cy="8229600"/>
  <p:notesSz cx="8229600" cy="14630400"/>
  <p:embeddedFontLst>
    <p:embeddedFont>
      <p:font typeface="Urbanist Light" panose="020B0A04040200000203"/>
      <p:regular r:id="rId31"/>
      <p:italic r:id="rId32"/>
    </p:embeddedFont>
    <p:embeddedFont>
      <p:font typeface="Urbanist Medium" panose="020B0A04040200000203"/>
      <p:regular r:id="rId33"/>
    </p:embeddedFont>
    <p:embeddedFont>
      <p:font typeface="Urbanist" panose="020B0A04040200000203"/>
      <p:regular r:id="rId34"/>
      <p:bold r:id="rId35"/>
      <p:boldItalic r:id="rId36"/>
    </p:embeddedFont>
    <p:embeddedFont>
      <p:font typeface="Calibri" panose="020F0502020204030204"/>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9" d="100"/>
          <a:sy n="129" d="100"/>
        </p:scale>
        <p:origin x="510"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ableStyles" Target="tableStyles.xml"/><Relationship Id="rId31" Type="http://schemas.openxmlformats.org/officeDocument/2006/relationships/font" Target="fonts/font1.fntdata"/><Relationship Id="rId32" Type="http://schemas.openxmlformats.org/officeDocument/2006/relationships/font" Target="fonts/font2.fntdata"/><Relationship Id="rId33" Type="http://schemas.openxmlformats.org/officeDocument/2006/relationships/font" Target="fonts/font3.fntdata"/><Relationship Id="rId34" Type="http://schemas.openxmlformats.org/officeDocument/2006/relationships/font" Target="fonts/font4.fntdata"/><Relationship Id="rId35" Type="http://schemas.openxmlformats.org/officeDocument/2006/relationships/font" Target="fonts/font5.fntdata"/><Relationship Id="rId36" Type="http://schemas.openxmlformats.org/officeDocument/2006/relationships/font" Target="fonts/font6.fntdata"/><Relationship Id="rId37" Type="http://schemas.openxmlformats.org/officeDocument/2006/relationships/font" Target="fonts/font7.fntdata"/><Relationship Id="rId38" Type="http://schemas.openxmlformats.org/officeDocument/2006/relationships/font" Target="fonts/font8.fntdata"/><Relationship Id="rId39" Type="http://schemas.openxmlformats.org/officeDocument/2006/relationships/font" Target="fonts/font9.fntdata"/><Relationship Id="rId40"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rPr>
            </a:fld>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5"/>
        <p:cNvGrpSpPr/>
        <p:nvPr/>
      </p:nvGrpSpPr>
      <p:grpSpPr>
        <a:xfrm>
          <a:off x="0" y="0"/>
          <a:ext cx="0" cy="0"/>
          <a:chOff x="0" y="0"/>
          <a:chExt cx="0" cy="0"/>
        </a:xfrm>
      </p:grpSpPr>
      <p:sp>
        <p:nvSpPr>
          <p:cNvPr id="26" name="Google Shape;2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 name="Google Shape;27;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8" name="Google Shape;28;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0"/>
        <p:cNvGrpSpPr/>
        <p:nvPr/>
      </p:nvGrpSpPr>
      <p:grpSpPr>
        <a:xfrm>
          <a:off x="0" y="0"/>
          <a:ext cx="0" cy="0"/>
          <a:chOff x="0" y="0"/>
          <a:chExt cx="0" cy="0"/>
        </a:xfrm>
      </p:grpSpPr>
      <p:sp>
        <p:nvSpPr>
          <p:cNvPr id="41" name="Google Shape;4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 name="Google Shape;42;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43" name="Google Shape;43;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0"/>
        <p:cNvGrpSpPr/>
        <p:nvPr/>
      </p:nvGrpSpPr>
      <p:grpSpPr>
        <a:xfrm>
          <a:off x="0" y="0"/>
          <a:ext cx="0" cy="0"/>
          <a:chOff x="0" y="0"/>
          <a:chExt cx="0" cy="0"/>
        </a:xfrm>
      </p:grpSpPr>
      <p:sp>
        <p:nvSpPr>
          <p:cNvPr id="61" name="Google Shape;6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 name="Google Shape;62;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How we deliver differently - communication, behavioral assessment, team fit, culture fit, etc - AI tool to do advanced behavioral assessment</a:t>
            </a:r>
            <a:endParaRPr lang="en-US"/>
          </a:p>
        </p:txBody>
      </p:sp>
      <p:sp>
        <p:nvSpPr>
          <p:cNvPr id="63" name="Google Shape;63;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4"/>
        <p:cNvGrpSpPr/>
        <p:nvPr/>
      </p:nvGrpSpPr>
      <p:grpSpPr>
        <a:xfrm>
          <a:off x="0" y="0"/>
          <a:ext cx="0" cy="0"/>
          <a:chOff x="0" y="0"/>
          <a:chExt cx="0" cy="0"/>
        </a:xfrm>
      </p:grpSpPr>
      <p:sp>
        <p:nvSpPr>
          <p:cNvPr id="75" name="Google Shape;7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 name="Google Shape;76;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77" name="Google Shape;77;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9" name="Google Shape;99;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9" name="Google Shape;99;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4"/>
        <p:cNvGrpSpPr/>
        <p:nvPr/>
      </p:nvGrpSpPr>
      <p:grpSpPr>
        <a:xfrm>
          <a:off x="0" y="0"/>
          <a:ext cx="0" cy="0"/>
          <a:chOff x="0" y="0"/>
          <a:chExt cx="0" cy="0"/>
        </a:xfrm>
      </p:grpSpPr>
      <p:sp>
        <p:nvSpPr>
          <p:cNvPr id="125" name="Google Shape;12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27" name="Google Shape;127;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7"/>
        <p:cNvGrpSpPr/>
        <p:nvPr/>
      </p:nvGrpSpPr>
      <p:grpSpPr>
        <a:xfrm>
          <a:off x="0" y="0"/>
          <a:ext cx="0" cy="0"/>
          <a:chOff x="0" y="0"/>
          <a:chExt cx="0" cy="0"/>
        </a:xfrm>
      </p:grpSpPr>
      <p:sp>
        <p:nvSpPr>
          <p:cNvPr id="138" name="Google Shape;138;g3c80dd83587_0_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c80dd83587_0_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40" name="Google Shape;140;g3c80dd83587_0_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0"/>
        <p:cNvGrpSpPr/>
        <p:nvPr/>
      </p:nvGrpSpPr>
      <p:grpSpPr>
        <a:xfrm>
          <a:off x="0" y="0"/>
          <a:ext cx="0" cy="0"/>
          <a:chOff x="0" y="0"/>
          <a:chExt cx="0" cy="0"/>
        </a:xfrm>
      </p:grpSpPr>
      <p:sp>
        <p:nvSpPr>
          <p:cNvPr id="151" name="Google Shape;15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p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How we deliver differently - communication, behavioral assessment, team fit, culture fit, etc - AI tool to do advanced behavioral assessment</a:t>
            </a:r>
            <a:endParaRPr lang="en-US"/>
          </a:p>
        </p:txBody>
      </p:sp>
      <p:sp>
        <p:nvSpPr>
          <p:cNvPr id="153" name="Google Shape;153;p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2"/>
        <p:cNvGrpSpPr/>
        <p:nvPr/>
      </p:nvGrpSpPr>
      <p:grpSpPr>
        <a:xfrm>
          <a:off x="0" y="0"/>
          <a:ext cx="0" cy="0"/>
          <a:chOff x="0" y="0"/>
          <a:chExt cx="0" cy="0"/>
        </a:xfrm>
      </p:grpSpPr>
      <p:sp>
        <p:nvSpPr>
          <p:cNvPr id="163" name="Google Shape;16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4" name="Google Shape;164;p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65" name="Google Shape;165;p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9"/>
        <p:cNvGrpSpPr/>
        <p:nvPr/>
      </p:nvGrpSpPr>
      <p:grpSpPr>
        <a:xfrm>
          <a:off x="0" y="0"/>
          <a:ext cx="0" cy="0"/>
          <a:chOff x="0" y="0"/>
          <a:chExt cx="0" cy="0"/>
        </a:xfrm>
      </p:grpSpPr>
      <p:sp>
        <p:nvSpPr>
          <p:cNvPr id="180" name="Google Shape;180;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82" name="Google Shape;182;p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6"/>
        <p:cNvGrpSpPr/>
        <p:nvPr/>
      </p:nvGrpSpPr>
      <p:grpSpPr>
        <a:xfrm>
          <a:off x="0" y="0"/>
          <a:ext cx="0" cy="0"/>
          <a:chOff x="0" y="0"/>
          <a:chExt cx="0" cy="0"/>
        </a:xfrm>
      </p:grpSpPr>
      <p:sp>
        <p:nvSpPr>
          <p:cNvPr id="197" name="Google Shape;19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8" name="Google Shape;198;p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99" name="Google Shape;199;p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09"/>
        <p:cNvGrpSpPr/>
        <p:nvPr/>
      </p:nvGrpSpPr>
      <p:grpSpPr>
        <a:xfrm>
          <a:off x="0" y="0"/>
          <a:ext cx="0" cy="0"/>
          <a:chOff x="0" y="0"/>
          <a:chExt cx="0" cy="0"/>
        </a:xfrm>
      </p:grpSpPr>
      <p:sp>
        <p:nvSpPr>
          <p:cNvPr id="210" name="Google Shape;210;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1" name="Google Shape;211;p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12" name="Google Shape;212;p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22"/>
        <p:cNvGrpSpPr/>
        <p:nvPr/>
      </p:nvGrpSpPr>
      <p:grpSpPr>
        <a:xfrm>
          <a:off x="0" y="0"/>
          <a:ext cx="0" cy="0"/>
          <a:chOff x="0" y="0"/>
          <a:chExt cx="0" cy="0"/>
        </a:xfrm>
      </p:grpSpPr>
      <p:sp>
        <p:nvSpPr>
          <p:cNvPr id="223" name="Google Shape;223;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Google Shape;224;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25" name="Google Shape;225;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3"/>
        <p:cNvGrpSpPr/>
        <p:nvPr/>
      </p:nvGrpSpPr>
      <p:grpSpPr>
        <a:xfrm>
          <a:off x="0" y="0"/>
          <a:ext cx="0" cy="0"/>
          <a:chOff x="0" y="0"/>
          <a:chExt cx="0" cy="0"/>
        </a:xfrm>
      </p:grpSpPr>
      <p:sp>
        <p:nvSpPr>
          <p:cNvPr id="234" name="Google Shape;234;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5" name="Google Shape;235;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36" name="Google Shape;236;p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50"/>
        <p:cNvGrpSpPr/>
        <p:nvPr/>
      </p:nvGrpSpPr>
      <p:grpSpPr>
        <a:xfrm>
          <a:off x="0" y="0"/>
          <a:ext cx="0" cy="0"/>
          <a:chOff x="0" y="0"/>
          <a:chExt cx="0" cy="0"/>
        </a:xfrm>
      </p:grpSpPr>
      <p:sp>
        <p:nvSpPr>
          <p:cNvPr id="251" name="Google Shape;251;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2" name="Google Shape;252;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53" name="Google Shape;253;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66"/>
        <p:cNvGrpSpPr/>
        <p:nvPr/>
      </p:nvGrpSpPr>
      <p:grpSpPr>
        <a:xfrm>
          <a:off x="0" y="0"/>
          <a:ext cx="0" cy="0"/>
          <a:chOff x="0" y="0"/>
          <a:chExt cx="0" cy="0"/>
        </a:xfrm>
      </p:grpSpPr>
      <p:sp>
        <p:nvSpPr>
          <p:cNvPr id="267" name="Google Shape;267;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8" name="Google Shape;268;p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69" name="Google Shape;269;p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7"/>
        <p:cNvGrpSpPr/>
        <p:nvPr/>
      </p:nvGrpSpPr>
      <p:grpSpPr>
        <a:xfrm>
          <a:off x="0" y="0"/>
          <a:ext cx="0" cy="0"/>
          <a:chOff x="0" y="0"/>
          <a:chExt cx="0" cy="0"/>
        </a:xfrm>
      </p:grpSpPr>
      <p:sp>
        <p:nvSpPr>
          <p:cNvPr id="278" name="Google Shape;278;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9" name="Google Shape;279;p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80" name="Google Shape;280;p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88"/>
        <p:cNvGrpSpPr/>
        <p:nvPr/>
      </p:nvGrpSpPr>
      <p:grpSpPr>
        <a:xfrm>
          <a:off x="0" y="0"/>
          <a:ext cx="0" cy="0"/>
          <a:chOff x="0" y="0"/>
          <a:chExt cx="0" cy="0"/>
        </a:xfrm>
      </p:grpSpPr>
      <p:sp>
        <p:nvSpPr>
          <p:cNvPr id="289" name="Google Shape;289;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0" name="Google Shape;290;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91" name="Google Shape;291;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05"/>
        <p:cNvGrpSpPr/>
        <p:nvPr/>
      </p:nvGrpSpPr>
      <p:grpSpPr>
        <a:xfrm>
          <a:off x="0" y="0"/>
          <a:ext cx="0" cy="0"/>
          <a:chOff x="0" y="0"/>
          <a:chExt cx="0" cy="0"/>
        </a:xfrm>
      </p:grpSpPr>
      <p:sp>
        <p:nvSpPr>
          <p:cNvPr id="306" name="Google Shape;306;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08" name="Google Shape;308;p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21"/>
        <p:cNvGrpSpPr/>
        <p:nvPr/>
      </p:nvGrpSpPr>
      <p:grpSpPr>
        <a:xfrm>
          <a:off x="0" y="0"/>
          <a:ext cx="0" cy="0"/>
          <a:chOff x="0" y="0"/>
          <a:chExt cx="0" cy="0"/>
        </a:xfrm>
      </p:grpSpPr>
      <p:sp>
        <p:nvSpPr>
          <p:cNvPr id="322" name="Google Shape;322;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24" name="Google Shape;324;p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32"/>
        <p:cNvGrpSpPr/>
        <p:nvPr/>
      </p:nvGrpSpPr>
      <p:grpSpPr>
        <a:xfrm>
          <a:off x="0" y="0"/>
          <a:ext cx="0" cy="0"/>
          <a:chOff x="0" y="0"/>
          <a:chExt cx="0" cy="0"/>
        </a:xfrm>
      </p:grpSpPr>
      <p:sp>
        <p:nvSpPr>
          <p:cNvPr id="333" name="Google Shape;333;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4" name="Google Shape;334;p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35" name="Google Shape;335;p2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43"/>
        <p:cNvGrpSpPr/>
        <p:nvPr/>
      </p:nvGrpSpPr>
      <p:grpSpPr>
        <a:xfrm>
          <a:off x="0" y="0"/>
          <a:ext cx="0" cy="0"/>
          <a:chOff x="0" y="0"/>
          <a:chExt cx="0" cy="0"/>
        </a:xfrm>
      </p:grpSpPr>
      <p:sp>
        <p:nvSpPr>
          <p:cNvPr id="344" name="Google Shape;344;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5" name="Google Shape;345;p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46" name="Google Shape;346;p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56"/>
        <p:cNvGrpSpPr/>
        <p:nvPr/>
      </p:nvGrpSpPr>
      <p:grpSpPr>
        <a:xfrm>
          <a:off x="0" y="0"/>
          <a:ext cx="0" cy="0"/>
          <a:chOff x="0" y="0"/>
          <a:chExt cx="0" cy="0"/>
        </a:xfrm>
      </p:grpSpPr>
      <p:sp>
        <p:nvSpPr>
          <p:cNvPr id="357" name="Google Shape;357;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8" name="Google Shape;358;p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59" name="Google Shape;359;p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1">
  <p:cSld name="CUSTOM">
    <p:spTree>
      <p:nvGrpSpPr>
        <p:cNvPr id="1" name="Shape 10"/>
        <p:cNvGrpSpPr/>
        <p:nvPr/>
      </p:nvGrpSpPr>
      <p:grpSpPr>
        <a:xfrm>
          <a:off x="0" y="0"/>
          <a:ext cx="0" cy="0"/>
          <a:chOff x="0" y="0"/>
          <a:chExt cx="0" cy="0"/>
        </a:xfrm>
      </p:grpSpPr>
      <p:sp>
        <p:nvSpPr>
          <p:cNvPr id="11" name="Google Shape;11;p2"/>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lide 1 master 1">
  <p:cSld name="Slide 1 master_1">
    <p:bg>
      <p:bgPr>
        <a:solidFill>
          <a:srgbClr val="000000"/>
        </a:solidFill>
        <a:effectLst/>
      </p:bgPr>
    </p:bg>
    <p:spTree>
      <p:nvGrpSpPr>
        <p:cNvPr id="1" name="Shape 12"/>
        <p:cNvGrpSpPr/>
        <p:nvPr/>
      </p:nvGrpSpPr>
      <p:grpSpPr>
        <a:xfrm>
          <a:off x="0" y="0"/>
          <a:ext cx="0" cy="0"/>
          <a:chOff x="0" y="0"/>
          <a:chExt cx="0" cy="0"/>
        </a:xfrm>
      </p:grpSpPr>
      <p:pic>
        <p:nvPicPr>
          <p:cNvPr id="13" name="Google Shape;13;p3" descr="preencoded.png"/>
          <p:cNvPicPr preferRelativeResize="0"/>
          <p:nvPr/>
        </p:nvPicPr>
        <p:blipFill rotWithShape="1">
          <a:blip r:embed="rId2"/>
          <a:srcRect/>
          <a:stretch>
            <a:fillRect/>
          </a:stretch>
        </p:blipFill>
        <p:spPr>
          <a:xfrm>
            <a:off x="0" y="0"/>
            <a:ext cx="14630397" cy="8229601"/>
          </a:xfrm>
          <a:prstGeom prst="rect">
            <a:avLst/>
          </a:prstGeom>
          <a:noFill/>
          <a:ln>
            <a:noFill/>
          </a:ln>
        </p:spPr>
      </p:pic>
      <p:sp>
        <p:nvSpPr>
          <p:cNvPr id="14" name="Google Shape;14;p3"/>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 name="Google Shape;15;p3"/>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1pPr>
            <a:lvl2pPr marL="0" marR="0" lvl="1"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2pPr>
            <a:lvl3pPr marL="0" marR="0" lvl="2"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3pPr>
            <a:lvl4pPr marL="0" marR="0" lvl="3"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4pPr>
            <a:lvl5pPr marL="0" marR="0" lvl="4"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5pPr>
            <a:lvl6pPr marL="0" marR="0" lvl="5"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6pPr>
            <a:lvl7pPr marL="0" marR="0" lvl="6"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7pPr>
            <a:lvl8pPr marL="0" marR="0" lvl="7"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8pPr>
            <a:lvl9pPr marL="0" marR="0" lvl="8"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9pPr>
          </a:lstStyle>
          <a:p>
            <a:pPr marL="0" lvl="0" indent="0" algn="l" rtl="0">
              <a:spcBef>
                <a:spcPts val="0"/>
              </a:spcBef>
              <a:spcAft>
                <a:spcPts val="0"/>
              </a:spcAft>
              <a:buNone/>
            </a:pPr>
            <a:fld id="{00000000-1234-1234-1234-123412341234}" type="slidenum">
              <a:rPr lang="en-US"/>
            </a:fld>
            <a:endParaRPr lang="en-US"/>
          </a:p>
        </p:txBody>
      </p:sp>
      <p:sp>
        <p:nvSpPr>
          <p:cNvPr id="16" name="Google Shape;16;p3"/>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1pPr>
            <a:lvl2pPr marR="0" lvl="1"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2pPr>
            <a:lvl3pPr marR="0" lvl="2"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3pPr>
            <a:lvl4pPr marR="0" lvl="3"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4pPr>
            <a:lvl5pPr marR="0" lvl="4"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5pPr>
            <a:lvl6pPr marR="0" lvl="5"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6pPr>
            <a:lvl7pPr marR="0" lvl="6"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7pPr>
            <a:lvl8pPr marR="0" lvl="7"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8pPr>
            <a:lvl9pPr marR="0" lvl="8"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9pPr>
          </a:lstStyle>
          <a:p/>
        </p:txBody>
      </p:sp>
      <p:sp>
        <p:nvSpPr>
          <p:cNvPr id="17" name="Google Shape;17;p3"/>
          <p:cNvSpPr txBox="1"/>
          <p:nvPr/>
        </p:nvSpPr>
        <p:spPr>
          <a:xfrm>
            <a:off x="12697450" y="430175"/>
            <a:ext cx="15162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12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12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8" name="Google Shape;18;p3"/>
          <p:cNvSpPr txBox="1"/>
          <p:nvPr/>
        </p:nvSpPr>
        <p:spPr>
          <a:xfrm>
            <a:off x="6478950" y="7608400"/>
            <a:ext cx="16725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999999"/>
                </a:solidFill>
                <a:latin typeface="Urbanist" panose="020B0A04040200000203"/>
                <a:ea typeface="Urbanist" panose="020B0A04040200000203"/>
                <a:cs typeface="Urbanist" panose="020B0A04040200000203"/>
                <a:sym typeface="Urbanist" panose="020B0A04040200000203"/>
              </a:rPr>
              <a:t>Private &amp; Confidential</a:t>
            </a:r>
            <a:endParaRPr sz="1200" b="0" i="1" u="none" strike="noStrike" cap="none">
              <a:solidFill>
                <a:srgbClr val="999999"/>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lide 1 master">
  <p:cSld name="Slide 1 master">
    <p:bg>
      <p:bgPr>
        <a:solidFill>
          <a:srgbClr val="000000"/>
        </a:solidFill>
        <a:effectLst/>
      </p:bgPr>
    </p:bg>
    <p:spTree>
      <p:nvGrpSpPr>
        <p:cNvPr id="1" name="Shape 19"/>
        <p:cNvGrpSpPr/>
        <p:nvPr/>
      </p:nvGrpSpPr>
      <p:grpSpPr>
        <a:xfrm>
          <a:off x="0" y="0"/>
          <a:ext cx="0" cy="0"/>
          <a:chOff x="0" y="0"/>
          <a:chExt cx="0" cy="0"/>
        </a:xfrm>
      </p:grpSpPr>
      <p:pic>
        <p:nvPicPr>
          <p:cNvPr id="20" name="Google Shape;20;p4" descr="preencoded.png"/>
          <p:cNvPicPr preferRelativeResize="0"/>
          <p:nvPr/>
        </p:nvPicPr>
        <p:blipFill rotWithShape="1">
          <a:blip r:embed="rId2"/>
          <a:srcRect/>
          <a:stretch>
            <a:fillRect/>
          </a:stretch>
        </p:blipFill>
        <p:spPr>
          <a:xfrm>
            <a:off x="0" y="0"/>
            <a:ext cx="14630400" cy="8229600"/>
          </a:xfrm>
          <a:prstGeom prst="rect">
            <a:avLst/>
          </a:prstGeom>
          <a:noFill/>
          <a:ln>
            <a:noFill/>
          </a:ln>
        </p:spPr>
      </p:pic>
      <p:sp>
        <p:nvSpPr>
          <p:cNvPr id="21" name="Google Shape;21;p4"/>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2" name="Google Shape;22;p4"/>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1pPr>
            <a:lvl2pPr marL="0" marR="0" lvl="1"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2pPr>
            <a:lvl3pPr marL="0" marR="0" lvl="2"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3pPr>
            <a:lvl4pPr marL="0" marR="0" lvl="3"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4pPr>
            <a:lvl5pPr marL="0" marR="0" lvl="4"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5pPr>
            <a:lvl6pPr marL="0" marR="0" lvl="5"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6pPr>
            <a:lvl7pPr marL="0" marR="0" lvl="6"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7pPr>
            <a:lvl8pPr marL="0" marR="0" lvl="7"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8pPr>
            <a:lvl9pPr marL="0" marR="0" lvl="8"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9pPr>
          </a:lstStyle>
          <a:p>
            <a:pPr marL="0" lvl="0" indent="0" algn="l" rtl="0">
              <a:spcBef>
                <a:spcPts val="0"/>
              </a:spcBef>
              <a:spcAft>
                <a:spcPts val="0"/>
              </a:spcAft>
              <a:buNone/>
            </a:pPr>
            <a:fld id="{00000000-1234-1234-1234-123412341234}" type="slidenum">
              <a:rPr lang="en-US"/>
            </a:fld>
            <a:endParaRPr lang="en-US"/>
          </a:p>
        </p:txBody>
      </p:sp>
      <p:sp>
        <p:nvSpPr>
          <p:cNvPr id="23" name="Google Shape;23;p4"/>
          <p:cNvSpPr txBox="1"/>
          <p:nvPr/>
        </p:nvSpPr>
        <p:spPr>
          <a:xfrm>
            <a:off x="12697450" y="430175"/>
            <a:ext cx="15162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12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12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24" name="Google Shape;24;p4"/>
          <p:cNvSpPr txBox="1"/>
          <p:nvPr/>
        </p:nvSpPr>
        <p:spPr>
          <a:xfrm>
            <a:off x="6478950" y="7608400"/>
            <a:ext cx="16725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999999"/>
                </a:solidFill>
                <a:latin typeface="Urbanist" panose="020B0A04040200000203"/>
                <a:ea typeface="Urbanist" panose="020B0A04040200000203"/>
                <a:cs typeface="Urbanist" panose="020B0A04040200000203"/>
                <a:sym typeface="Urbanist" panose="020B0A04040200000203"/>
              </a:rPr>
              <a:t>Private &amp; Confidential</a:t>
            </a:r>
            <a:endParaRPr sz="1200" b="0" i="1" u="none" strike="noStrike" cap="none">
              <a:solidFill>
                <a:srgbClr val="999999"/>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9"/>
        <p:cNvGrpSpPr/>
        <p:nvPr/>
      </p:nvGrpSpPr>
      <p:grpSpPr>
        <a:xfrm>
          <a:off x="0" y="0"/>
          <a:ext cx="0" cy="0"/>
          <a:chOff x="0" y="0"/>
          <a:chExt cx="0" cy="0"/>
        </a:xfrm>
      </p:grpSpPr>
      <p:sp>
        <p:nvSpPr>
          <p:cNvPr id="30" name="Google Shape;30;p5"/>
          <p:cNvSpPr txBox="1"/>
          <p:nvPr/>
        </p:nvSpPr>
        <p:spPr>
          <a:xfrm>
            <a:off x="801350" y="490725"/>
            <a:ext cx="9926700" cy="116649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6400"/>
              <a:buFont typeface="Arial" panose="020B0604020202020204"/>
              <a:buNone/>
            </a:pPr>
            <a:r>
              <a:rPr lang="en-US" sz="4400">
                <a:solidFill/>
                <a:latin typeface="Urbanist Medium" panose="020B0A04040200000203"/>
                <a:ea typeface="Urbanist Medium" panose="020B0A04040200000203"/>
                <a:cs typeface="Urbanist Medium" panose="020B0A04040200000203"/>
                <a:sym typeface="Urbanist Medium" panose="020B0A04040200000203"/>
              </a:rPr>
              <a:t/>
            </a:r>
            <a:r>
              <a:rPr sz="4400">
                <a:solidFill>
                  <a:srgbClr val="0066CC"/>
                </a:solidFill>
                <a:latin typeface="Urbanist Medium"/>
              </a:rPr>
              <a:t>Marcelo Pacheco Alvaro</a:t>
            </a:r>
            <a:r>
              <a:rPr lang="en-US" sz="4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’s </a:t>
            </a:r>
            <a:r>
              <a:rPr lang="en-US" sz="4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Deck</a:t>
            </a:r>
            <a:endParaRPr sz="6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 name="Google Shape;31;p5"/>
          <p:cNvSpPr txBox="1"/>
          <p:nvPr/>
        </p:nvSpPr>
        <p:spPr>
          <a:xfrm>
            <a:off x="803100" y="7514200"/>
            <a:ext cx="9479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2" name="Google Shape;32;p5"/>
          <p:cNvSpPr/>
          <p:nvPr/>
        </p:nvSpPr>
        <p:spPr>
          <a:xfrm>
            <a:off x="3344000" y="5537188"/>
            <a:ext cx="266100" cy="266100"/>
          </a:xfrm>
          <a:prstGeom prst="ellipse">
            <a:avLst/>
          </a:prstGeom>
          <a:solidFill>
            <a:srgbClr val="EEEFF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 name="Google Shape;33;p5"/>
          <p:cNvSpPr txBox="1"/>
          <p:nvPr/>
        </p:nvSpPr>
        <p:spPr>
          <a:xfrm>
            <a:off x="885550" y="1601100"/>
            <a:ext cx="12943500" cy="2693558"/>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000"/>
              </a:spcBef>
              <a:spcAft>
                <a:spcPts val="0"/>
              </a:spcAft>
              <a:buClr>
                <a:srgbClr val="000000"/>
              </a:buClr>
              <a:buSzPts val="1800"/>
              <a:buFont typeface="Arial" panose="020B0604020202020204"/>
              <a:buNone/>
            </a:pPr>
            <a:r>
              <a:rPr lang="en-US" sz="1800" b="1" dirty="0">
                <a:solidFill>
                  <a:schemeClr val="dk1"/>
                </a:solidFill>
                <a:latin typeface="Urbanist" panose="020B0A04040200000203"/>
                <a:ea typeface="Urbanist" panose="020B0A04040200000203"/>
                <a:cs typeface="Urbanist" panose="020B0A04040200000203"/>
                <a:sym typeface="Urbanist" panose="020B0A04040200000203"/>
              </a:rPr>
              <a:t>Backend AI Engineer &amp; Software Engineer</a:t>
            </a:r>
            <a:endParaRPr sz="1800" b="1" dirty="0">
              <a:solidFill>
                <a:schemeClr val="dk1"/>
              </a:solidFill>
              <a:latin typeface="Urbanist" panose="020B0A04040200000203"/>
              <a:ea typeface="Urbanist" panose="020B0A04040200000203"/>
              <a:cs typeface="Urbanist" panose="020B0A04040200000203"/>
              <a:sym typeface="Urbanist" panose="020B0A04040200000203"/>
            </a:endParaRPr>
          </a:p>
          <a:p>
            <a:pPr marR="3505200" lvl="0">
              <a:lnSpc>
                <a:spcPct val="115000"/>
              </a:lnSpc>
              <a:buSzPts val="1800"/>
            </a:pPr>
            <a:r>
              <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rPr>
              <a:t>AI-native security-focused engineer with strong experience building AI-powered agents and automating security workflows across AWS environments. Combines cybersecurity depth with hands-on software engineering and AI integrations.</a:t>
            </a:r>
            <a:r>
              <a:rPr lang="en-US" sz="1800"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lvl="0">
              <a:lnSpc>
                <a:spcPct val="115000"/>
              </a:lnSpc>
              <a:spcBef>
                <a:spcPts val="1200"/>
              </a:spcBef>
              <a:buClr>
                <a:schemeClr val="dk1"/>
              </a:buClr>
              <a:buSzPts val="1100"/>
            </a:pPr>
            <a:r>
              <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sz="1800">
                <a:solidFill>
                  <a:srgbClr val="0066CC"/>
                </a:solidFill>
                <a:latin typeface="Urbanist Light"/>
              </a:rPr>
              <a:t>Marcelo Pacheco Alvaro</a:t>
            </a:r>
            <a:r>
              <a:rPr sz="1800">
                <a:latin typeface="Urbanist Light"/>
              </a:rPr>
              <a:t> is continuing to grow across diverse industries partnered with Futureproofing.</a:t>
            </a:r>
            <a:r>
              <a:rPr lang="en-US" sz="1800"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1100" dirty="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20204"/>
              <a:buNone/>
            </a:pPr>
            <a:endParaRPr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3505200" lvl="0" indent="0" algn="l" rtl="0">
              <a:lnSpc>
                <a:spcPct val="115000"/>
              </a:lnSpc>
              <a:spcBef>
                <a:spcPts val="1200"/>
              </a:spcBef>
              <a:spcAft>
                <a:spcPts val="0"/>
              </a:spcAft>
              <a:buClr>
                <a:srgbClr val="000000"/>
              </a:buClr>
              <a:buSzPts val="1800"/>
              <a:buFont typeface="Arial" panose="020B0604020202020204"/>
              <a:buNone/>
            </a:pPr>
            <a:endParaRPr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3505200" lvl="0" indent="0" algn="l" rtl="0">
              <a:lnSpc>
                <a:spcPct val="115000"/>
              </a:lnSpc>
              <a:spcBef>
                <a:spcPts val="1500"/>
              </a:spcBef>
              <a:spcAft>
                <a:spcPts val="0"/>
              </a:spcAft>
              <a:buClr>
                <a:srgbClr val="000000"/>
              </a:buClr>
              <a:buSzPts val="1800"/>
              <a:buFont typeface="Arial" panose="020B0604020202020204"/>
              <a:buNone/>
            </a:pPr>
            <a:endParaRPr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34" name="Google Shape;34;p5"/>
          <p:cNvGrpSpPr/>
          <p:nvPr/>
        </p:nvGrpSpPr>
        <p:grpSpPr>
          <a:xfrm>
            <a:off x="803100" y="2903449"/>
            <a:ext cx="7914730" cy="2734426"/>
            <a:chOff x="1518223" y="2327475"/>
            <a:chExt cx="7424700" cy="2565126"/>
          </a:xfrm>
        </p:grpSpPr>
        <p:sp>
          <p:nvSpPr>
            <p:cNvPr id="35" name="Google Shape;35;p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Deep AI Experience</a:t>
              </a:r>
              <a:endParaRPr sz="1440" b="1" i="0" u="none" strike="noStrike" cap="none">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6" name="Google Shape;36;p5"/>
            <p:cNvSpPr txBox="1"/>
            <p:nvPr/>
          </p:nvSpPr>
          <p:spPr>
            <a:xfrm>
              <a:off x="1518223" y="2894094"/>
              <a:ext cx="7424700" cy="1998507"/>
            </a:xfrm>
            <a:prstGeom prst="rect">
              <a:avLst/>
            </a:prstGeom>
            <a:noFill/>
            <a:ln>
              <a:noFill/>
            </a:ln>
          </p:spPr>
          <p:txBody>
            <a:bodyPr spcFirstLastPara="1" wrap="square" lIns="97450" tIns="97450" rIns="97450" bIns="97450" anchor="t" anchorCtr="0">
              <a:spAutoFit/>
            </a:bodyPr>
            <a:lstStyle/>
            <a:p>
              <a:pPr marL="487680" lvl="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AI-powered Penetration Testing Agent</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Automation of Security Workflows with ChatGPT API</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Python-based Security Tooling &amp; Scripting</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AI-assisted Vulnerability Analysis &amp; Detection</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lvl="0" indent="-351790">
                <a:lnSpc>
                  <a:spcPct val="115000"/>
                </a:lnSpc>
                <a:buClr>
                  <a:schemeClr val="dk1"/>
                </a:buClr>
                <a:buSzPts val="1706"/>
                <a:buFont typeface="Urbanist Light" panose="020B0A04040200000203"/>
                <a:buChar char="●"/>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48768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7" name="Google Shape;37;p5"/>
          <p:cNvGrpSpPr/>
          <p:nvPr/>
        </p:nvGrpSpPr>
        <p:grpSpPr>
          <a:xfrm>
            <a:off x="803100" y="4872698"/>
            <a:ext cx="9198727" cy="2308925"/>
            <a:chOff x="1518223" y="2327475"/>
            <a:chExt cx="8629200" cy="2165969"/>
          </a:xfrm>
        </p:grpSpPr>
        <p:sp>
          <p:nvSpPr>
            <p:cNvPr id="38" name="Google Shape;38;p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Key Achievements</a:t>
              </a:r>
              <a:endParaRPr sz="1440" b="1" i="0" u="none" strike="noStrike" cap="none">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9" name="Google Shape;39;p5"/>
            <p:cNvSpPr txBox="1"/>
            <p:nvPr/>
          </p:nvSpPr>
          <p:spPr>
            <a:xfrm>
              <a:off x="1518223" y="2894094"/>
              <a:ext cx="8629200" cy="1599350"/>
            </a:xfrm>
            <a:prstGeom prst="rect">
              <a:avLst/>
            </a:prstGeom>
            <a:noFill/>
            <a:ln>
              <a:noFill/>
            </a:ln>
          </p:spPr>
          <p:txBody>
            <a:bodyPr spcFirstLastPara="1" wrap="square" lIns="97450" tIns="97450" rIns="97450" bIns="97450" anchor="t" anchorCtr="0">
              <a:spAutoFit/>
            </a:bodyPr>
            <a:lstStyle/>
            <a:p>
              <a:pPr marL="487680" lvl="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Cloud Security Architecture (AWS, GCP, Azure)</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DevSecOps &amp; CI/CD Automation (GitHub Actions, Jenkins)</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Python &amp; JavaScript Development (Node, React, TS)</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Ethical Hacking &amp; Threat Modeling</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lvl="0" indent="-351790">
                <a:lnSpc>
                  <a:spcPct val="115000"/>
                </a:lnSpc>
                <a:buClr>
                  <a:schemeClr val="dk1"/>
                </a:buClr>
                <a:buSzPts val="1706"/>
                <a:buFont typeface="Urbanist Light" panose="020B0A04040200000203"/>
                <a:buChar char="●"/>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6"/>
          <p:cNvSpPr txBox="1"/>
          <p:nvPr/>
        </p:nvSpPr>
        <p:spPr>
          <a:xfrm>
            <a:off x="984825" y="2252075"/>
            <a:ext cx="10682400" cy="1735860"/>
          </a:xfrm>
          <a:prstGeom prst="rect">
            <a:avLst/>
          </a:prstGeom>
          <a:noFill/>
          <a:ln>
            <a:noFill/>
          </a:ln>
        </p:spPr>
        <p:txBody>
          <a:bodyPr spcFirstLastPara="1" wrap="square" lIns="0" tIns="0" rIns="0" bIns="0" anchor="t" anchorCtr="0">
            <a:spAutoFit/>
          </a:bodyPr>
          <a:lstStyle/>
          <a:p>
            <a:pPr lvl="0">
              <a:lnSpc>
                <a:spcPct val="115000"/>
              </a:lnSpc>
              <a:spcBef>
                <a:spcPts val="1200"/>
              </a:spcBef>
              <a:buSzPts val="2400"/>
            </a:pPr>
            <a:r>
              <a:rPr lang="en-US" sz="24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sz="2400">
                <a:solidFill>
                  <a:srgbClr val="0066CC"/>
                </a:solidFill>
                <a:latin typeface="Urbanist Light"/>
              </a:rPr>
              <a:t>Marcelo Pacheco Alvaro</a:t>
            </a:r>
            <a:r>
              <a:rPr sz="2400">
                <a:latin typeface="Urbanist Light"/>
              </a:rPr>
              <a:t> represents the convergence of versatility, strong communication, real 0→1 execution, and AI-native development practices.</a:t>
            </a:r>
            <a:r>
              <a:rPr lang="en-US" sz="2400"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2400"/>
              <a:buFont typeface="Arial" panose="020B0604020202020204"/>
              <a:buNone/>
            </a:pP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46" name="Google Shape;46;p6"/>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47" name="Google Shape;47;p6"/>
          <p:cNvSpPr txBox="1">
            <a:spLocks noGrp="1"/>
          </p:cNvSpPr>
          <p:nvPr>
            <p:ph type="title"/>
          </p:nvPr>
        </p:nvSpPr>
        <p:spPr>
          <a:xfrm>
            <a:off x="854550" y="875000"/>
            <a:ext cx="12921300" cy="1208700"/>
          </a:xfrm>
          <a:prstGeom prst="rect">
            <a:avLst/>
          </a:prstGeom>
          <a:noFill/>
          <a:ln>
            <a:noFill/>
          </a:ln>
        </p:spPr>
        <p:txBody>
          <a:bodyPr spcFirstLastPara="1" wrap="square" lIns="91425" tIns="91425" rIns="91425" bIns="91425" anchor="t" anchorCtr="0">
            <a:noAutofit/>
          </a:bodyPr>
          <a:lstStyle/>
          <a:p>
            <a:pPr lvl="0"/>
            <a:r>
              <a:rPr lang="en-US" sz="3600" dirty="0">
                <a:solidFill/>
              </a:rPr>
              <a:t>We Review Hundreds of Engineers - Only ~1% Make It This Far. </a:t>
            </a:r>
            <a:r>
              <a:rPr sz="3600">
                <a:solidFill>
                  <a:srgbClr val="0066CC"/>
                </a:solidFill>
              </a:rPr>
              <a:t>Marcelo Pacheco Alvaro</a:t>
            </a:r>
            <a:r>
              <a:rPr sz="3600"/>
              <a:t> Is One of Them.</a:t>
            </a:r>
            <a:r>
              <a:rPr lang="en-US" sz="3600" dirty="0" err="1"/>
              <a:t/>
            </a:r>
            <a:r>
              <a:rPr lang="en-US" sz="3600" dirty="0"/>
              <a:t/>
            </a:r>
            <a:endParaRPr sz="3600" dirty="0"/>
          </a:p>
        </p:txBody>
      </p:sp>
      <p:grpSp>
        <p:nvGrpSpPr>
          <p:cNvPr id="48" name="Google Shape;48;p6"/>
          <p:cNvGrpSpPr/>
          <p:nvPr/>
        </p:nvGrpSpPr>
        <p:grpSpPr>
          <a:xfrm>
            <a:off x="984825" y="3381850"/>
            <a:ext cx="3981600" cy="3190359"/>
            <a:chOff x="1518225" y="2592750"/>
            <a:chExt cx="3981600" cy="3190359"/>
          </a:xfrm>
        </p:grpSpPr>
        <p:sp>
          <p:nvSpPr>
            <p:cNvPr id="49" name="Google Shape;49;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0" name="Google Shape;50;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AI-Driven Builder</a:t>
              </a:r>
              <a:endParaRPr sz="24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1" name="Google Shape;51;p6"/>
            <p:cNvSpPr txBox="1"/>
            <p:nvPr/>
          </p:nvSpPr>
          <p:spPr>
            <a:xfrm>
              <a:off x="1518225" y="4570500"/>
              <a:ext cx="3981600" cy="1212609"/>
            </a:xfrm>
            <a:prstGeom prst="rect">
              <a:avLst/>
            </a:prstGeom>
            <a:noFill/>
            <a:ln>
              <a:noFill/>
            </a:ln>
          </p:spPr>
          <p:txBody>
            <a:bodyPr spcFirstLastPara="1" wrap="square" lIns="91425" tIns="91425" rIns="91425" bIns="91425" anchor="t" anchorCtr="0">
              <a:spAutoFit/>
            </a:bodyPr>
            <a:lstStyle/>
            <a:p>
              <a:pPr lvl="0">
                <a:lnSpc>
                  <a:spcPct val="115000"/>
                </a:lnSpc>
                <a:spcBef>
                  <a:spcPts val="1200"/>
                </a:spcBef>
                <a:buSzPts val="1600"/>
              </a:pPr>
              <a:r>
                <a:rPr lang="en-US" sz="1600" dirty="0">
                  <a:solidFill>
                    <a:schemeClr val="dk1"/>
                  </a:solidFill>
                  <a:latin typeface="Urbanist Light" panose="020B0A04040200000203"/>
                  <a:ea typeface="Urbanist Light" panose="020B0A04040200000203"/>
                  <a:cs typeface="Urbanist Light" panose="020B0A04040200000203"/>
                  <a:sym typeface="Urbanist Light" panose="020B0A04040200000203"/>
                </a:rPr>
                <a:t>Built and deployed an AI-powered penetration testing agent and automated multiple security tasks using AI APIs, demonstrating real-world AI integration beyond experimentation.</a:t>
              </a:r>
              <a:endParaRPr sz="1150" b="0" i="0" u="none" strike="noStrike" cap="none" dirty="0">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200"/>
                </a:spcBef>
                <a:spcAft>
                  <a:spcPts val="1200"/>
                </a:spcAft>
                <a:buClr>
                  <a:srgbClr val="000000"/>
                </a:buClr>
                <a:buSzPts val="1600"/>
                <a:buFont typeface="Arial" panose="020B0604020202020204"/>
                <a:buNone/>
              </a:pPr>
              <a:endParaRPr sz="1600" b="1" i="0" u="none" strike="noStrike" cap="none" dirty="0">
                <a:solidFill>
                  <a:schemeClr val="dk1"/>
                </a:solidFill>
                <a:latin typeface="Urbanist" panose="020B0A04040200000203"/>
                <a:ea typeface="Urbanist" panose="020B0A04040200000203"/>
                <a:cs typeface="Urbanist" panose="020B0A04040200000203"/>
                <a:sym typeface="Urbanist" panose="020B0A04040200000203"/>
              </a:endParaRPr>
            </a:p>
          </p:txBody>
        </p:sp>
      </p:grpSp>
      <p:grpSp>
        <p:nvGrpSpPr>
          <p:cNvPr id="52" name="Google Shape;52;p6"/>
          <p:cNvGrpSpPr/>
          <p:nvPr/>
        </p:nvGrpSpPr>
        <p:grpSpPr>
          <a:xfrm>
            <a:off x="5586263" y="3381850"/>
            <a:ext cx="3981600" cy="2728695"/>
            <a:chOff x="1518225" y="2592750"/>
            <a:chExt cx="3981600" cy="2728695"/>
          </a:xfrm>
        </p:grpSpPr>
        <p:sp>
          <p:nvSpPr>
            <p:cNvPr id="53" name="Google Shape;53;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2</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4" name="Google Shape;54;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Strong Business Perspective</a:t>
              </a:r>
              <a:endParaRPr sz="24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5" name="Google Shape;55;p6"/>
            <p:cNvSpPr txBox="1"/>
            <p:nvPr/>
          </p:nvSpPr>
          <p:spPr>
            <a:xfrm>
              <a:off x="1518225" y="4570500"/>
              <a:ext cx="3981600" cy="750945"/>
            </a:xfrm>
            <a:prstGeom prst="rect">
              <a:avLst/>
            </a:prstGeom>
            <a:noFill/>
            <a:ln>
              <a:noFill/>
            </a:ln>
          </p:spPr>
          <p:txBody>
            <a:bodyPr spcFirstLastPara="1" wrap="square" lIns="91425" tIns="91425" rIns="91425" bIns="91425" anchor="t" anchorCtr="0">
              <a:spAutoFit/>
            </a:bodyPr>
            <a:lstStyle/>
            <a:p>
              <a:pPr lvl="0">
                <a:lnSpc>
                  <a:spcPct val="115000"/>
                </a:lnSpc>
                <a:buSzPts val="1600"/>
              </a:pPr>
              <a:r>
                <a:rPr lang="en-US" sz="1600" dirty="0">
                  <a:solidFill>
                    <a:schemeClr val="dk1"/>
                  </a:solidFill>
                  <a:latin typeface="Urbanist Light" panose="020B0A04040200000203"/>
                  <a:ea typeface="Urbanist Light" panose="020B0A04040200000203"/>
                  <a:cs typeface="Urbanist Light" panose="020B0A04040200000203"/>
                  <a:sym typeface="Urbanist Light" panose="020B0A04040200000203"/>
                </a:rPr>
                <a:t>Understands how to design AI agents aligned with business impact, not just technical experimentation. Structured thinking around ROI and automation efficiency.</a:t>
              </a:r>
              <a:endParaRPr sz="1150" b="0" i="0" u="none" strike="noStrike" cap="none" dirty="0">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600"/>
                <a:buFont typeface="Arial" panose="020B0604020202020204"/>
                <a:buNone/>
              </a:pPr>
              <a:endParaRPr sz="16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56" name="Google Shape;56;p6"/>
          <p:cNvGrpSpPr/>
          <p:nvPr/>
        </p:nvGrpSpPr>
        <p:grpSpPr>
          <a:xfrm>
            <a:off x="10187700" y="3381850"/>
            <a:ext cx="3981600" cy="2445540"/>
            <a:chOff x="1518225" y="2592750"/>
            <a:chExt cx="3981600" cy="2445540"/>
          </a:xfrm>
        </p:grpSpPr>
        <p:sp>
          <p:nvSpPr>
            <p:cNvPr id="57" name="Google Shape;57;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3</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8" name="Google Shape;58;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lvl="0">
                <a:buClr>
                  <a:schemeClr val="dk1"/>
                </a:buClr>
                <a:buSzPts val="1100"/>
              </a:pPr>
              <a:r>
                <a:rPr lang="en-US" sz="240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Structured Communicator</a:t>
              </a:r>
              <a:endParaRPr sz="24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9" name="Google Shape;59;p6"/>
            <p:cNvSpPr txBox="1"/>
            <p:nvPr/>
          </p:nvSpPr>
          <p:spPr>
            <a:xfrm>
              <a:off x="1518225" y="4570500"/>
              <a:ext cx="3981600" cy="467790"/>
            </a:xfrm>
            <a:prstGeom prst="rect">
              <a:avLst/>
            </a:prstGeom>
            <a:noFill/>
            <a:ln>
              <a:noFill/>
            </a:ln>
          </p:spPr>
          <p:txBody>
            <a:bodyPr spcFirstLastPara="1" wrap="square" lIns="91425" tIns="91425" rIns="91425" bIns="91425" anchor="t" anchorCtr="0">
              <a:spAutoFit/>
            </a:bodyPr>
            <a:lstStyle/>
            <a:p>
              <a:pPr lvl="0">
                <a:lnSpc>
                  <a:spcPct val="115000"/>
                </a:lnSpc>
                <a:buClr>
                  <a:schemeClr val="dk1"/>
                </a:buClr>
                <a:buSzPts val="1100"/>
              </a:pPr>
              <a:r>
                <a:rPr lang="en-US" sz="1600" dirty="0">
                  <a:solidFill>
                    <a:schemeClr val="dk1"/>
                  </a:solidFill>
                  <a:latin typeface="Urbanist Light" panose="020B0A04040200000203"/>
                  <a:ea typeface="Urbanist Light" panose="020B0A04040200000203"/>
                  <a:cs typeface="Urbanist Light" panose="020B0A04040200000203"/>
                  <a:sym typeface="Urbanist Light" panose="020B0A04040200000203"/>
                </a:rPr>
                <a:t>Clear, organized, and concise in explanations. Demonstrates strong communication even when discussing complex security and AI topics.</a:t>
              </a:r>
              <a:endParaRPr sz="16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7"/>
          <p:cNvSpPr/>
          <p:nvPr/>
        </p:nvSpPr>
        <p:spPr>
          <a:xfrm>
            <a:off x="804025" y="2584350"/>
            <a:ext cx="9651900" cy="50154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6" name="Google Shape;66;p7"/>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67" name="Google Shape;67;p7"/>
          <p:cNvSpPr txBox="1">
            <a:spLocks noGrp="1"/>
          </p:cNvSpPr>
          <p:nvPr>
            <p:ph type="title"/>
          </p:nvPr>
        </p:nvSpPr>
        <p:spPr>
          <a:xfrm>
            <a:off x="854550" y="715353"/>
            <a:ext cx="12921300" cy="1208700"/>
          </a:xfrm>
          <a:prstGeom prst="rect">
            <a:avLst/>
          </a:prstGeom>
          <a:noFill/>
          <a:ln>
            <a:noFill/>
          </a:ln>
        </p:spPr>
        <p:txBody>
          <a:bodyPr spcFirstLastPara="1" wrap="square" lIns="91425" tIns="91425" rIns="91425" bIns="91425" anchor="t" anchorCtr="0">
            <a:noAutofit/>
          </a:bodyPr>
          <a:lstStyle/>
          <a:p>
            <a:pPr lvl="0"/>
            <a:r>
              <a:rPr lang="en-US" dirty="0">
                <a:solidFill/>
              </a:rPr>
              <a:t>Why </a:t>
            </a:r>
            <a:r>
              <a:rPr>
                <a:solidFill>
                  <a:srgbClr val="0066CC"/>
                </a:solidFill>
              </a:rPr>
              <a:t>Marcelo Pacheco Alvaro</a:t>
            </a:r>
            <a:r>
              <a:rPr/>
              <a:t> Beats 99.99% of Applicants</a:t>
            </a:r>
            <a:r>
              <a:rPr lang="en-US" dirty="0" err="1"/>
              <a:t/>
            </a:r>
            <a:r>
              <a:rPr lang="en-US" dirty="0"/>
              <a:t/>
            </a:r>
            <a:endParaRPr dirty="0"/>
          </a:p>
        </p:txBody>
      </p:sp>
      <p:sp>
        <p:nvSpPr>
          <p:cNvPr id="68" name="Google Shape;68;p7"/>
          <p:cNvSpPr txBox="1"/>
          <p:nvPr/>
        </p:nvSpPr>
        <p:spPr>
          <a:xfrm>
            <a:off x="1314250" y="2847250"/>
            <a:ext cx="4541400" cy="2370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Clear Communicator</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Extremely organized thinking — often answers follow-ups before being asked. Communicates technical tradeoffs with clarity.</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69" name="Google Shape;69;p7"/>
          <p:cNvSpPr txBox="1"/>
          <p:nvPr/>
        </p:nvSpPr>
        <p:spPr>
          <a:xfrm>
            <a:off x="1314175" y="5169500"/>
            <a:ext cx="4541400" cy="2047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300"/>
              <a:buFont typeface="Arial" panose="020B0604020202020204"/>
              <a:buNone/>
            </a:pPr>
            <a:r>
              <a:rPr lang="en-US" sz="23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Problem-Solver First</a:t>
            </a:r>
            <a:endParaRPr sz="23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Approaches ambiguity with structured reasoning, methodical debugging, and strong ownership over outcomes.</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0" name="Google Shape;70;p7"/>
          <p:cNvSpPr txBox="1"/>
          <p:nvPr/>
        </p:nvSpPr>
        <p:spPr>
          <a:xfrm>
            <a:off x="5757925" y="2847250"/>
            <a:ext cx="4647600" cy="2062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Fast Moving Ownership</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Thrives in environments where he can ship quickly, validate with users, iterate, and scale systems based on real data.</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1" name="Google Shape;71;p7"/>
          <p:cNvSpPr txBox="1"/>
          <p:nvPr/>
        </p:nvSpPr>
        <p:spPr>
          <a:xfrm>
            <a:off x="5855575" y="5161850"/>
            <a:ext cx="4260900" cy="2370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AI-Native Developer</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Uses Cursor, GPT, and generative AI to automate documentation, boilerplate, prompts, and analysis. Demonstrates real applied AI usage</a:t>
            </a:r>
            <a:r>
              <a:rPr lang="en-US" sz="2000">
                <a:solidFill>
                  <a:srgbClr val="7068F4"/>
                </a:solidFill>
                <a:latin typeface="Urbanist Medium" panose="020B0A04040200000203"/>
                <a:ea typeface="Urbanist Medium" panose="020B0A04040200000203"/>
                <a:cs typeface="Urbanist Medium" panose="020B0A04040200000203"/>
                <a:sym typeface="Urbanist Medium" panose="020B0A04040200000203"/>
              </a:rPr>
              <a:t>.</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2" name="Google Shape;72;p7"/>
          <p:cNvSpPr/>
          <p:nvPr/>
        </p:nvSpPr>
        <p:spPr>
          <a:xfrm>
            <a:off x="11331850" y="3698550"/>
            <a:ext cx="2633700" cy="23550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3" name="Google Shape;73;p7"/>
          <p:cNvSpPr txBox="1"/>
          <p:nvPr/>
        </p:nvSpPr>
        <p:spPr>
          <a:xfrm>
            <a:off x="11682700" y="3952500"/>
            <a:ext cx="1932000" cy="1847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We review hundreds of developers for every </a:t>
            </a:r>
            <a:r>
              <a:rPr lang="en-US"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r>
              <a:rPr lang="en-US"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 that makes it to our team</a:t>
            </a: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8"/>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80" name="Google Shape;80;p8"/>
          <p:cNvSpPr txBox="1">
            <a:spLocks noGrp="1"/>
          </p:cNvSpPr>
          <p:nvPr>
            <p:ph type="title"/>
          </p:nvPr>
        </p:nvSpPr>
        <p:spPr>
          <a:xfrm>
            <a:off x="854550" y="667575"/>
            <a:ext cx="12921300" cy="1208700"/>
          </a:xfrm>
          <a:prstGeom prst="rect">
            <a:avLst/>
          </a:prstGeom>
          <a:noFill/>
          <a:ln>
            <a:noFill/>
          </a:ln>
        </p:spPr>
        <p:txBody>
          <a:bodyPr spcFirstLastPara="1" wrap="square" lIns="91425" tIns="91425" rIns="91425" bIns="91425" anchor="t" anchorCtr="0">
            <a:noAutofit/>
          </a:bodyPr>
          <a:lstStyle/>
          <a:p>
            <a:pPr lvl="0"/>
            <a:r>
              <a:rPr lang="en-US" sz="4000" dirty="0">
                <a:solidFill/>
              </a:rPr>
              <a:t/>
            </a:r>
            <a:r>
              <a:rPr sz="4000">
                <a:solidFill>
                  <a:srgbClr val="0066CC"/>
                </a:solidFill>
              </a:rPr>
              <a:t>Marcelo Pacheco Alvaro</a:t>
            </a:r>
            <a:r>
              <a:rPr sz="4000"/>
              <a:t> Is a Back-End AI-Native Engineer With Production-Level Experience Across Modern Systems</a:t>
            </a:r>
            <a:r>
              <a:rPr lang="en-US" sz="4000" dirty="0" err="1"/>
              <a:t/>
            </a:r>
            <a:r>
              <a:rPr lang="en-US" sz="4000" dirty="0"/>
              <a:t/>
            </a:r>
            <a:endParaRPr sz="4000" dirty="0"/>
          </a:p>
        </p:txBody>
      </p:sp>
      <p:grpSp>
        <p:nvGrpSpPr>
          <p:cNvPr id="81" name="Google Shape;81;p8"/>
          <p:cNvGrpSpPr/>
          <p:nvPr/>
        </p:nvGrpSpPr>
        <p:grpSpPr>
          <a:xfrm>
            <a:off x="956125" y="2573600"/>
            <a:ext cx="3981600" cy="4908182"/>
            <a:chOff x="1518225" y="2592750"/>
            <a:chExt cx="3981600" cy="4908182"/>
          </a:xfrm>
        </p:grpSpPr>
        <p:sp>
          <p:nvSpPr>
            <p:cNvPr id="82" name="Google Shape;82;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83" name="Google Shape;83;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Backend &amp; Infrastructure</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84" name="Google Shape;84;p8"/>
            <p:cNvSpPr txBox="1"/>
            <p:nvPr/>
          </p:nvSpPr>
          <p:spPr>
            <a:xfrm>
              <a:off x="1518225" y="4176975"/>
              <a:ext cx="3981600" cy="3323957"/>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backend_1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backend_2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backend_3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backend_4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backend_5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backend_6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42900" algn="l" rtl="0">
                <a:lnSpc>
                  <a:spcPct val="115000"/>
                </a:lnSpc>
                <a:spcBef>
                  <a:spcPts val="0"/>
                </a:spcBef>
                <a:spcAft>
                  <a:spcPts val="0"/>
                </a:spcAft>
                <a:buClr>
                  <a:schemeClr val="dk1"/>
                </a:buClr>
                <a:buSzPts val="1800"/>
                <a:buFont typeface="Urbanist Light" panose="020B0A04040200000203"/>
                <a:buChar char="-"/>
              </a:pPr>
              <a:endParaRPr sz="18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1600"/>
                <a:buFont typeface="Arial" panose="020B0604020202020204"/>
                <a:buNone/>
              </a:pPr>
              <a:endParaRPr sz="1600" b="1" i="0" u="none" strike="noStrike" cap="none" dirty="0">
                <a:solidFill>
                  <a:schemeClr val="dk1"/>
                </a:solidFill>
                <a:latin typeface="Urbanist" panose="020B0A04040200000203"/>
                <a:ea typeface="Urbanist" panose="020B0A04040200000203"/>
                <a:cs typeface="Urbanist" panose="020B0A04040200000203"/>
                <a:sym typeface="Urbanist" panose="020B0A04040200000203"/>
              </a:endParaRPr>
            </a:p>
          </p:txBody>
        </p:sp>
      </p:grpSp>
      <p:grpSp>
        <p:nvGrpSpPr>
          <p:cNvPr id="85" name="Google Shape;85;p8"/>
          <p:cNvGrpSpPr/>
          <p:nvPr/>
        </p:nvGrpSpPr>
        <p:grpSpPr>
          <a:xfrm>
            <a:off x="5565213" y="2573600"/>
            <a:ext cx="3981600" cy="4623360"/>
            <a:chOff x="1518225" y="2592750"/>
            <a:chExt cx="3981600" cy="4623360"/>
          </a:xfrm>
        </p:grpSpPr>
        <p:sp>
          <p:nvSpPr>
            <p:cNvPr id="86" name="Google Shape;86;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2</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87" name="Google Shape;87;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Full-Stack</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88" name="Google Shape;88;p8"/>
            <p:cNvSpPr txBox="1"/>
            <p:nvPr/>
          </p:nvSpPr>
          <p:spPr>
            <a:xfrm>
              <a:off x="1518225" y="4176975"/>
              <a:ext cx="3981600" cy="3039135"/>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full-stack_1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full-stack_2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full-stack_3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full-stack_4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full-stack_5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full-stack_6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endParaRPr sz="18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0"/>
                </a:spcBef>
                <a:spcAft>
                  <a:spcPts val="0"/>
                </a:spcAft>
                <a:buClr>
                  <a:srgbClr val="000000"/>
                </a:buClr>
                <a:buSzPts val="1350"/>
                <a:buFont typeface="Arial" panose="020B0604020202020204"/>
                <a:buNone/>
              </a:pPr>
              <a:endParaRPr sz="1350" b="0" i="0" u="none" strike="noStrike" cap="none" dirty="0">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800"/>
                </a:spcBef>
                <a:spcAft>
                  <a:spcPts val="0"/>
                </a:spcAft>
                <a:buClr>
                  <a:srgbClr val="000000"/>
                </a:buClr>
                <a:buSzPts val="1600"/>
                <a:buFont typeface="Arial" panose="020B0604020202020204"/>
                <a:buNone/>
              </a:pPr>
              <a:endParaRPr sz="16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89" name="Google Shape;89;p8"/>
          <p:cNvGrpSpPr/>
          <p:nvPr/>
        </p:nvGrpSpPr>
        <p:grpSpPr>
          <a:xfrm>
            <a:off x="9386700" y="2573600"/>
            <a:ext cx="3981600" cy="4384448"/>
            <a:chOff x="1518225" y="2592750"/>
            <a:chExt cx="3981600" cy="4384448"/>
          </a:xfrm>
        </p:grpSpPr>
        <p:sp>
          <p:nvSpPr>
            <p:cNvPr id="90" name="Google Shape;90;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3</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91" name="Google Shape;91;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AI &amp; Development Tools</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92" name="Google Shape;92;p8"/>
            <p:cNvSpPr txBox="1"/>
            <p:nvPr/>
          </p:nvSpPr>
          <p:spPr>
            <a:xfrm>
              <a:off x="1518225" y="4176975"/>
              <a:ext cx="3981600" cy="2800223"/>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ai_1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ai_2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ai_3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ai_4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ai_5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ai_6 field in excel</a:t>
              </a: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endParaRPr sz="18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00"/>
                </a:spcBef>
                <a:spcAft>
                  <a:spcPts val="0"/>
                </a:spcAft>
                <a:buClr>
                  <a:srgbClr val="000000"/>
                </a:buClr>
                <a:buSzPts val="1600"/>
                <a:buFont typeface="Arial" panose="020B0604020202020204"/>
                <a:buNone/>
              </a:pPr>
              <a:endParaRPr sz="16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pic>
        <p:nvPicPr>
          <p:cNvPr id="93" name="Google Shape;93;p8"/>
          <p:cNvPicPr preferRelativeResize="0"/>
          <p:nvPr/>
        </p:nvPicPr>
        <p:blipFill rotWithShape="1">
          <a:blip r:embed="rId1"/>
          <a:srcRect/>
          <a:stretch>
            <a:fillRect/>
          </a:stretch>
        </p:blipFill>
        <p:spPr>
          <a:xfrm>
            <a:off x="10174313" y="2573600"/>
            <a:ext cx="797650" cy="797650"/>
          </a:xfrm>
          <a:prstGeom prst="rect">
            <a:avLst/>
          </a:prstGeom>
          <a:noFill/>
          <a:ln>
            <a:noFill/>
          </a:ln>
        </p:spPr>
      </p:pic>
      <p:pic>
        <p:nvPicPr>
          <p:cNvPr id="94" name="Google Shape;94;p8"/>
          <p:cNvPicPr preferRelativeResize="0"/>
          <p:nvPr/>
        </p:nvPicPr>
        <p:blipFill rotWithShape="1">
          <a:blip r:embed="rId2"/>
          <a:srcRect/>
          <a:stretch>
            <a:fillRect/>
          </a:stretch>
        </p:blipFill>
        <p:spPr>
          <a:xfrm>
            <a:off x="11150050" y="2533526"/>
            <a:ext cx="877801" cy="877801"/>
          </a:xfrm>
          <a:prstGeom prst="rect">
            <a:avLst/>
          </a:prstGeom>
          <a:noFill/>
          <a:ln>
            <a:noFill/>
          </a:ln>
        </p:spPr>
      </p:pic>
      <p:pic>
        <p:nvPicPr>
          <p:cNvPr id="95" name="Google Shape;95;p8"/>
          <p:cNvPicPr preferRelativeResize="0"/>
          <p:nvPr/>
        </p:nvPicPr>
        <p:blipFill rotWithShape="1">
          <a:blip r:embed="rId3"/>
          <a:srcRect/>
          <a:stretch>
            <a:fillRect/>
          </a:stretch>
        </p:blipFill>
        <p:spPr>
          <a:xfrm>
            <a:off x="12125505" y="2573600"/>
            <a:ext cx="797625" cy="7976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9"/>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02" name="Google Shape;102;p9"/>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Deep </a:t>
            </a:r>
            <a:r>
              <a:rPr lang="en-US">
                <a:solidFill>
                  <a:srgbClr val="7068F4"/>
                </a:solidFill>
              </a:rPr>
              <a:t>AI</a:t>
            </a:r>
            <a:r>
              <a:rPr lang="en-US"/>
              <a:t> Project Experience</a:t>
            </a:r>
            <a:endParaRPr lang="en-US"/>
          </a:p>
        </p:txBody>
      </p:sp>
      <p:sp>
        <p:nvSpPr>
          <p:cNvPr id="104" name="Google Shape;104;p9"/>
          <p:cNvSpPr txBox="1"/>
          <p:nvPr/>
        </p:nvSpPr>
        <p:spPr>
          <a:xfrm>
            <a:off x="854710" y="2708910"/>
            <a:ext cx="12531725" cy="2174240"/>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AI-Powered Pentest Agent</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grpSp>
        <p:nvGrpSpPr>
          <p:cNvPr id="106" name="Google Shape;106;p9"/>
          <p:cNvGrpSpPr/>
          <p:nvPr/>
        </p:nvGrpSpPr>
        <p:grpSpPr>
          <a:xfrm>
            <a:off x="874233" y="4062730"/>
            <a:ext cx="11814666" cy="2782820"/>
            <a:chOff x="-3583232" y="2407754"/>
            <a:chExt cx="11083176" cy="2610526"/>
          </a:xfrm>
        </p:grpSpPr>
        <p:sp>
          <p:nvSpPr>
            <p:cNvPr id="107" name="Google Shape;107;p9"/>
            <p:cNvSpPr txBox="1"/>
            <p:nvPr/>
          </p:nvSpPr>
          <p:spPr>
            <a:xfrm>
              <a:off x="-3583232" y="2407754"/>
              <a:ext cx="6654600" cy="2039400"/>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project_2_name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08" name="Google Shape;108;p9"/>
            <p:cNvSpPr txBox="1"/>
            <p:nvPr/>
          </p:nvSpPr>
          <p:spPr>
            <a:xfrm>
              <a:off x="-3497456" y="2949757"/>
              <a:ext cx="10997400" cy="2068523"/>
            </a:xfrm>
            <a:prstGeom prst="rect">
              <a:avLst/>
            </a:prstGeom>
            <a:noFill/>
            <a:ln>
              <a:noFill/>
            </a:ln>
          </p:spPr>
          <p:txBody>
            <a:bodyPr spcFirstLastPara="1" wrap="square" lIns="97450" tIns="97450" rIns="97450" bIns="97450" anchor="t" anchorCtr="0">
              <a:spAutoFit/>
            </a:bodyPr>
            <a:lstStyle/>
            <a:p>
              <a:pPr marL="457200" lvl="0" indent="-298450">
                <a:lnSpc>
                  <a:spcPct val="115000"/>
                </a:lnSpc>
                <a:buClr>
                  <a:schemeClr val="dk1"/>
                </a:buClr>
                <a:buSzPts val="1100"/>
                <a:buFont typeface="Arial" panose="020B0604020202020204"/>
                <a:buChar char="●"/>
              </a:pPr>
              <a:r>
                <a:rPr lang="en-US" sz="17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project_2_context field in excel</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158750" marR="0" lvl="0" algn="l" rtl="0">
                <a:lnSpc>
                  <a:spcPct val="115000"/>
                </a:lnSpc>
                <a:spcBef>
                  <a:spcPts val="0"/>
                </a:spcBef>
                <a:spcAft>
                  <a:spcPts val="0"/>
                </a:spcAft>
                <a:buClr>
                  <a:schemeClr val="dk1"/>
                </a:buClr>
                <a:buSzPts val="1100"/>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109" name="Google Shape;109;p9"/>
          <p:cNvSpPr txBox="1"/>
          <p:nvPr/>
        </p:nvSpPr>
        <p:spPr>
          <a:xfrm>
            <a:off x="942850" y="1767975"/>
            <a:ext cx="10682400" cy="7941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chemeClr val="dk1"/>
              </a:buClr>
              <a:buSzPts val="1100"/>
              <a:buFont typeface="Arial" panose="020B0604020202020204"/>
              <a:buNone/>
            </a:pPr>
            <a:r>
              <a:rPr lang="en-US" sz="2400" b="0"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This shows he’s not just using AI - he’s </a:t>
            </a:r>
            <a:r>
              <a:rPr lang="en-US" sz="2400" b="0" i="1"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designing</a:t>
            </a:r>
            <a:r>
              <a:rPr lang="en-US" sz="2400" b="0"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 systems where AI is a core component.</a:t>
            </a: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2" name="Google Shape;108;p9"/>
          <p:cNvSpPr txBox="1"/>
          <p:nvPr/>
        </p:nvSpPr>
        <p:spPr>
          <a:xfrm>
            <a:off x="942975" y="3297555"/>
            <a:ext cx="6560820" cy="2077085"/>
          </a:xfrm>
          <a:prstGeom prst="rect">
            <a:avLst/>
          </a:prstGeom>
          <a:noFill/>
          <a:ln>
            <a:noFill/>
          </a:ln>
        </p:spPr>
        <p:txBody>
          <a:bodyPr spcFirstLastPara="1" wrap="square" lIns="97450" tIns="97450" rIns="97450" bIns="97450" anchor="t" anchorCtr="0">
            <a:spAutoFit/>
          </a:bodyPr>
          <a:p>
            <a:pPr marL="457200" lvl="0" indent="-298450">
              <a:lnSpc>
                <a:spcPct val="115000"/>
              </a:lnSpc>
              <a:buClr>
                <a:schemeClr val="dk1"/>
              </a:buClr>
              <a:buSzPts val="1100"/>
              <a:buFont typeface="Arial" panose="020B0604020202020204"/>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Designed and implemented an AI-driven penetration testing agent to automate vulnerability identification and reporting.</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158750" marR="0" lvl="0" algn="l" rtl="0">
              <a:lnSpc>
                <a:spcPct val="115000"/>
              </a:lnSpc>
              <a:spcBef>
                <a:spcPts val="0"/>
              </a:spcBef>
              <a:spcAft>
                <a:spcPts val="0"/>
              </a:spcAft>
              <a:buClr>
                <a:schemeClr val="dk1"/>
              </a:buClr>
              <a:buSzPts val="1100"/>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9"/>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02" name="Google Shape;102;p9"/>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Deep </a:t>
            </a:r>
            <a:r>
              <a:rPr lang="en-US">
                <a:solidFill>
                  <a:srgbClr val="7068F4"/>
                </a:solidFill>
              </a:rPr>
              <a:t>AI</a:t>
            </a:r>
            <a:r>
              <a:rPr lang="en-US"/>
              <a:t> Project Experience</a:t>
            </a:r>
            <a:endParaRPr lang="en-US"/>
          </a:p>
        </p:txBody>
      </p:sp>
      <p:sp>
        <p:nvSpPr>
          <p:cNvPr id="104" name="Google Shape;104;p9"/>
          <p:cNvSpPr txBox="1"/>
          <p:nvPr/>
        </p:nvSpPr>
        <p:spPr>
          <a:xfrm>
            <a:off x="854710" y="2708910"/>
            <a:ext cx="12531725" cy="2169795"/>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project_3_name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grpSp>
        <p:nvGrpSpPr>
          <p:cNvPr id="106" name="Google Shape;106;p9"/>
          <p:cNvGrpSpPr/>
          <p:nvPr/>
        </p:nvGrpSpPr>
        <p:grpSpPr>
          <a:xfrm>
            <a:off x="874233" y="4062730"/>
            <a:ext cx="11826096" cy="2654860"/>
            <a:chOff x="-3583232" y="2407754"/>
            <a:chExt cx="11093898" cy="2490488"/>
          </a:xfrm>
        </p:grpSpPr>
        <p:sp>
          <p:nvSpPr>
            <p:cNvPr id="107" name="Google Shape;107;p9"/>
            <p:cNvSpPr txBox="1"/>
            <p:nvPr/>
          </p:nvSpPr>
          <p:spPr>
            <a:xfrm>
              <a:off x="-3583232" y="2407754"/>
              <a:ext cx="6654600" cy="2035455"/>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project_4_name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08" name="Google Shape;108;p9"/>
            <p:cNvSpPr txBox="1"/>
            <p:nvPr/>
          </p:nvSpPr>
          <p:spPr>
            <a:xfrm>
              <a:off x="-3486734" y="2949757"/>
              <a:ext cx="10997400" cy="1948485"/>
            </a:xfrm>
            <a:prstGeom prst="rect">
              <a:avLst/>
            </a:prstGeom>
            <a:noFill/>
            <a:ln>
              <a:noFill/>
            </a:ln>
          </p:spPr>
          <p:txBody>
            <a:bodyPr spcFirstLastPara="1" wrap="square" lIns="97450" tIns="97450" rIns="97450" bIns="97450" anchor="t" anchorCtr="0">
              <a:spAutoFit/>
            </a:bodyPr>
            <a:lstStyle/>
            <a:p>
              <a:pPr marL="457200" lvl="0" indent="-298450">
                <a:lnSpc>
                  <a:spcPct val="115000"/>
                </a:lnSpc>
                <a:buClr>
                  <a:schemeClr val="dk1"/>
                </a:buClr>
                <a:buSzPts val="1100"/>
                <a:buFont typeface="Arial" panose="020B0604020202020204"/>
                <a:buChar char="●"/>
              </a:pPr>
              <a:r>
                <a:rPr lang="en-US" sz="17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project_4_context field in excel</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158750" marR="0" lvl="0" algn="l" rtl="0">
                <a:lnSpc>
                  <a:spcPct val="115000"/>
                </a:lnSpc>
                <a:spcBef>
                  <a:spcPts val="0"/>
                </a:spcBef>
                <a:spcAft>
                  <a:spcPts val="0"/>
                </a:spcAft>
                <a:buClr>
                  <a:schemeClr val="dk1"/>
                </a:buClr>
                <a:buSzPts val="1100"/>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109" name="Google Shape;109;p9"/>
          <p:cNvSpPr txBox="1"/>
          <p:nvPr/>
        </p:nvSpPr>
        <p:spPr>
          <a:xfrm>
            <a:off x="942850" y="1767975"/>
            <a:ext cx="10682400" cy="7941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chemeClr val="dk1"/>
              </a:buClr>
              <a:buSzPts val="1100"/>
              <a:buFont typeface="Arial" panose="020B0604020202020204"/>
              <a:buNone/>
            </a:pPr>
            <a:r>
              <a:rPr lang="en-US" sz="2400" b="0"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This shows he’s not just using AI - he’s </a:t>
            </a:r>
            <a:r>
              <a:rPr lang="en-US" sz="2400" b="0" i="1"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designing</a:t>
            </a:r>
            <a:r>
              <a:rPr lang="en-US" sz="2400" b="0"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 systems where AI is a core component.</a:t>
            </a: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2" name="Google Shape;108;p9"/>
          <p:cNvSpPr txBox="1"/>
          <p:nvPr/>
        </p:nvSpPr>
        <p:spPr>
          <a:xfrm>
            <a:off x="942975" y="3297555"/>
            <a:ext cx="6560820" cy="2077085"/>
          </a:xfrm>
          <a:prstGeom prst="rect">
            <a:avLst/>
          </a:prstGeom>
          <a:noFill/>
          <a:ln>
            <a:noFill/>
          </a:ln>
        </p:spPr>
        <p:txBody>
          <a:bodyPr spcFirstLastPara="1" wrap="square" lIns="97450" tIns="97450" rIns="97450" bIns="97450" anchor="t" anchorCtr="0">
            <a:spAutoFit/>
          </a:bodyPr>
          <a:p>
            <a:pPr marL="457200" lvl="0" indent="-298450">
              <a:lnSpc>
                <a:spcPct val="115000"/>
              </a:lnSpc>
              <a:buClr>
                <a:schemeClr val="dk1"/>
              </a:buClr>
              <a:buSzPts val="1100"/>
              <a:buFont typeface="Arial" panose="020B0604020202020204"/>
              <a:buChar char="●"/>
            </a:pPr>
            <a:r>
              <a:rPr lang="en-US" sz="17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project_3_context field in excel</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158750" marR="0" lvl="0" algn="l" rtl="0">
              <a:lnSpc>
                <a:spcPct val="115000"/>
              </a:lnSpc>
              <a:spcBef>
                <a:spcPts val="0"/>
              </a:spcBef>
              <a:spcAft>
                <a:spcPts val="0"/>
              </a:spcAft>
              <a:buClr>
                <a:schemeClr val="dk1"/>
              </a:buClr>
              <a:buSzPts val="1100"/>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1"/>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30" name="Google Shape;130;p11"/>
          <p:cNvSpPr txBox="1">
            <a:spLocks noGrp="1"/>
          </p:cNvSpPr>
          <p:nvPr>
            <p:ph type="title"/>
          </p:nvPr>
        </p:nvSpPr>
        <p:spPr>
          <a:xfrm>
            <a:off x="886688" y="1089450"/>
            <a:ext cx="12921300" cy="1208700"/>
          </a:xfrm>
          <a:prstGeom prst="rect">
            <a:avLst/>
          </a:prstGeom>
          <a:noFill/>
          <a:ln>
            <a:noFill/>
          </a:ln>
        </p:spPr>
        <p:txBody>
          <a:bodyPr spcFirstLastPara="1" wrap="square" lIns="91425" tIns="91425" rIns="91425" bIns="91425" anchor="t" anchorCtr="0">
            <a:noAutofit/>
          </a:bodyPr>
          <a:lstStyle/>
          <a:p>
            <a:pPr lvl="0"/>
            <a:r>
              <a:rPr lang="en-US" sz="3900" dirty="0">
                <a:solidFill/>
              </a:rPr>
              <a:t/>
            </a:r>
            <a:r>
              <a:rPr sz="3900">
                <a:solidFill>
                  <a:srgbClr val="0066CC"/>
                </a:solidFill>
              </a:rPr>
              <a:t>Marcelo Pacheco Alvaro</a:t>
            </a:r>
            <a:r>
              <a:rPr sz="3900"/>
              <a:t>’s Track Record of High-Impact Engineering Work</a:t>
            </a:r>
            <a:r>
              <a:rPr lang="en-US" sz="3900" dirty="0" err="1"/>
              <a:t/>
            </a:r>
            <a:r>
              <a:rPr lang="en-US" sz="3900" dirty="0"/>
              <a:t/>
            </a:r>
            <a:r>
              <a:rPr lang="en-US" sz="3900" dirty="0">
                <a:solidFill>
                  <a:srgbClr val="7068F4"/>
                </a:solidFill>
              </a:rPr>
              <a:t/>
            </a:r>
            <a:endParaRPr sz="3900" dirty="0"/>
          </a:p>
        </p:txBody>
      </p:sp>
      <p:grpSp>
        <p:nvGrpSpPr>
          <p:cNvPr id="131" name="Google Shape;131;p11"/>
          <p:cNvGrpSpPr/>
          <p:nvPr/>
        </p:nvGrpSpPr>
        <p:grpSpPr>
          <a:xfrm>
            <a:off x="886690" y="2435832"/>
            <a:ext cx="12531943" cy="1073475"/>
            <a:chOff x="1518225" y="2456626"/>
            <a:chExt cx="6654600" cy="1007012"/>
          </a:xfrm>
        </p:grpSpPr>
        <p:sp>
          <p:nvSpPr>
            <p:cNvPr id="132" name="Google Shape;132;p11"/>
            <p:cNvSpPr txBox="1"/>
            <p:nvPr/>
          </p:nvSpPr>
          <p:spPr>
            <a:xfrm>
              <a:off x="1518225" y="2456626"/>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project_impact_1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33" name="Google Shape;133;p11"/>
            <p:cNvSpPr txBox="1"/>
            <p:nvPr/>
          </p:nvSpPr>
          <p:spPr>
            <a:xfrm>
              <a:off x="1518225" y="2980193"/>
              <a:ext cx="6654600" cy="483445"/>
            </a:xfrm>
            <a:prstGeom prst="rect">
              <a:avLst/>
            </a:prstGeom>
            <a:noFill/>
            <a:ln>
              <a:noFill/>
            </a:ln>
          </p:spPr>
          <p:txBody>
            <a:bodyPr spcFirstLastPara="1" wrap="square" lIns="97450" tIns="97450" rIns="97450" bIns="97450" anchor="t" anchorCtr="0">
              <a:spAutoFit/>
            </a:bodyPr>
            <a:lstStyle/>
            <a:p>
              <a:pPr marL="457200" lvl="0" indent="-342900">
                <a:lnSpc>
                  <a:spcPct val="115000"/>
                </a:lnSpc>
                <a:buClr>
                  <a:schemeClr val="dk1"/>
                </a:buClr>
                <a:buSzPts val="1800"/>
                <a:buFont typeface="Urbanist" panose="020B0A04040200000203"/>
                <a:buChar char="●"/>
              </a:pPr>
              <a:r>
                <a:rPr lang="en-US" sz="1800" dirty="0">
                  <a:solidFill>
                    <a:srgbClr val="DC3545"/>
                  </a:solidFill>
                  <a:latin typeface="Urbanist" panose="020B0A04040200000203"/>
                  <a:ea typeface="Urbanist" panose="020B0A04040200000203"/>
                  <a:cs typeface="Urbanist" panose="020B0A04040200000203"/>
                  <a:sym typeface="Urbanist" panose="020B0A04040200000203"/>
                </a:rPr>
                <a:t>No project_1_business_impact field in excel</a:t>
              </a:r>
              <a:endParaRPr sz="18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34" name="Google Shape;134;p11"/>
          <p:cNvGrpSpPr/>
          <p:nvPr/>
        </p:nvGrpSpPr>
        <p:grpSpPr>
          <a:xfrm>
            <a:off x="886688" y="4626070"/>
            <a:ext cx="12531943" cy="3156106"/>
            <a:chOff x="1518225" y="2413591"/>
            <a:chExt cx="6654600" cy="2960700"/>
          </a:xfrm>
        </p:grpSpPr>
        <p:sp>
          <p:nvSpPr>
            <p:cNvPr id="135" name="Google Shape;135;p11"/>
            <p:cNvSpPr txBox="1"/>
            <p:nvPr/>
          </p:nvSpPr>
          <p:spPr>
            <a:xfrm>
              <a:off x="1518225" y="2413591"/>
              <a:ext cx="6654600" cy="2960700"/>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project_impact_2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36" name="Google Shape;136;p11"/>
            <p:cNvSpPr txBox="1"/>
            <p:nvPr/>
          </p:nvSpPr>
          <p:spPr>
            <a:xfrm>
              <a:off x="1518225" y="2894100"/>
              <a:ext cx="6654600" cy="1266600"/>
            </a:xfrm>
            <a:prstGeom prst="rect">
              <a:avLst/>
            </a:prstGeom>
            <a:noFill/>
            <a:ln>
              <a:noFill/>
            </a:ln>
          </p:spPr>
          <p:txBody>
            <a:bodyPr spcFirstLastPara="1" wrap="square" lIns="97450" tIns="97450" rIns="97450" bIns="97450" anchor="t" anchorCtr="0">
              <a:spAutoFit/>
            </a:bodyPr>
            <a:lstStyle/>
            <a:p>
              <a:pPr marL="457200" marR="241300" lvl="0" indent="-342900">
                <a:lnSpc>
                  <a:spcPct val="115000"/>
                </a:lnSpc>
                <a:buClr>
                  <a:schemeClr val="dk1"/>
                </a:buClr>
                <a:buSzPts val="1804"/>
                <a:buFont typeface="Urbanist Light" panose="020B0A04040200000203"/>
                <a:buChar char="●"/>
              </a:pPr>
              <a:r>
                <a:rPr lang="en-US" sz="18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project_2_business_impact field in excel</a:t>
              </a:r>
              <a:endParaRPr sz="18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0"/>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12"/>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43" name="Google Shape;143;p12"/>
          <p:cNvSpPr txBox="1">
            <a:spLocks noGrp="1"/>
          </p:cNvSpPr>
          <p:nvPr>
            <p:ph type="title"/>
          </p:nvPr>
        </p:nvSpPr>
        <p:spPr>
          <a:xfrm>
            <a:off x="886688" y="1089450"/>
            <a:ext cx="12921300" cy="1208700"/>
          </a:xfrm>
          <a:prstGeom prst="rect">
            <a:avLst/>
          </a:prstGeom>
          <a:noFill/>
          <a:ln>
            <a:noFill/>
          </a:ln>
        </p:spPr>
        <p:txBody>
          <a:bodyPr spcFirstLastPara="1" wrap="square" lIns="91425" tIns="91425" rIns="91425" bIns="91425" anchor="t" anchorCtr="0">
            <a:noAutofit/>
          </a:bodyPr>
          <a:lstStyle/>
          <a:p>
            <a:pPr lvl="0"/>
            <a:r>
              <a:rPr lang="en-US" sz="3900" dirty="0">
                <a:solidFill/>
              </a:rPr>
              <a:t/>
            </a:r>
            <a:r>
              <a:rPr sz="3900">
                <a:solidFill>
                  <a:srgbClr val="0066CC"/>
                </a:solidFill>
              </a:rPr>
              <a:t>Marcelo Pacheco Alvaro</a:t>
            </a:r>
            <a:r>
              <a:rPr sz="3900"/>
              <a:t>’s Track Record of High-Impact Engineering Work</a:t>
            </a:r>
            <a:r>
              <a:rPr lang="en-US" sz="3900" dirty="0" err="1"/>
              <a:t/>
            </a:r>
            <a:r>
              <a:rPr lang="en-US" sz="3900" dirty="0"/>
              <a:t/>
            </a:r>
            <a:r>
              <a:rPr lang="en-US" sz="3900" dirty="0">
                <a:solidFill>
                  <a:srgbClr val="7068F4"/>
                </a:solidFill>
              </a:rPr>
              <a:t/>
            </a:r>
            <a:endParaRPr sz="3900" dirty="0"/>
          </a:p>
        </p:txBody>
      </p:sp>
      <p:grpSp>
        <p:nvGrpSpPr>
          <p:cNvPr id="144" name="Google Shape;144;p12"/>
          <p:cNvGrpSpPr/>
          <p:nvPr/>
        </p:nvGrpSpPr>
        <p:grpSpPr>
          <a:xfrm>
            <a:off x="886690" y="2435831"/>
            <a:ext cx="12531943" cy="1069932"/>
            <a:chOff x="1518225" y="2456626"/>
            <a:chExt cx="6654600" cy="1003689"/>
          </a:xfrm>
        </p:grpSpPr>
        <p:sp>
          <p:nvSpPr>
            <p:cNvPr id="145" name="Google Shape;145;p12"/>
            <p:cNvSpPr txBox="1"/>
            <p:nvPr/>
          </p:nvSpPr>
          <p:spPr>
            <a:xfrm>
              <a:off x="1518225" y="2456626"/>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AI-Powered Pentest Agent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46" name="Google Shape;146;p12"/>
            <p:cNvSpPr txBox="1"/>
            <p:nvPr/>
          </p:nvSpPr>
          <p:spPr>
            <a:xfrm>
              <a:off x="1518225" y="2980193"/>
              <a:ext cx="6654600" cy="480122"/>
            </a:xfrm>
            <a:prstGeom prst="rect">
              <a:avLst/>
            </a:prstGeom>
            <a:noFill/>
            <a:ln>
              <a:noFill/>
            </a:ln>
          </p:spPr>
          <p:txBody>
            <a:bodyPr spcFirstLastPara="1" wrap="square" lIns="97450" tIns="97450" rIns="97450" bIns="97450" anchor="t" anchorCtr="0">
              <a:spAutoFit/>
            </a:bodyPr>
            <a:lstStyle/>
            <a:p>
              <a:pPr marL="457200" marR="0" lvl="0" indent="-342900" algn="l" rtl="0">
                <a:lnSpc>
                  <a:spcPct val="115000"/>
                </a:lnSpc>
                <a:spcBef>
                  <a:spcPts val="0"/>
                </a:spcBef>
                <a:spcAft>
                  <a:spcPts val="0"/>
                </a:spcAft>
                <a:buClr>
                  <a:schemeClr val="dk1"/>
                </a:buClr>
                <a:buSzPts val="1800"/>
                <a:buFont typeface="Urbanist" panose="020B0A04040200000203"/>
                <a:buChar char="●"/>
              </a:pPr>
              <a:r>
                <a:rPr lang="en-US" sz="1800">
                  <a:solidFill>
                    <a:schemeClr val="dk1"/>
                  </a:solidFill>
                  <a:latin typeface="Urbanist" panose="020B0A04040200000203"/>
                  <a:ea typeface="Urbanist" panose="020B0A04040200000203"/>
                  <a:cs typeface="Urbanist" panose="020B0A04040200000203"/>
                  <a:sym typeface="Urbanist" panose="020B0A04040200000203"/>
                </a:rPr>
                <a:t>Designed and implemented an AI-driven penetration testing agent to automate vulnerability identification and reporting.</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47" name="Google Shape;147;p12"/>
          <p:cNvGrpSpPr/>
          <p:nvPr/>
        </p:nvGrpSpPr>
        <p:grpSpPr>
          <a:xfrm>
            <a:off x="886688" y="4626070"/>
            <a:ext cx="12531943" cy="3156106"/>
            <a:chOff x="1518225" y="2413591"/>
            <a:chExt cx="6654600" cy="2960700"/>
          </a:xfrm>
        </p:grpSpPr>
        <p:sp>
          <p:nvSpPr>
            <p:cNvPr id="148" name="Google Shape;148;p12"/>
            <p:cNvSpPr txBox="1"/>
            <p:nvPr/>
          </p:nvSpPr>
          <p:spPr>
            <a:xfrm>
              <a:off x="1518225" y="2413591"/>
              <a:ext cx="6654600" cy="2960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 2 field in excel</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49" name="Google Shape;149;p12"/>
            <p:cNvSpPr txBox="1"/>
            <p:nvPr/>
          </p:nvSpPr>
          <p:spPr>
            <a:xfrm>
              <a:off x="1518225" y="2894100"/>
              <a:ext cx="6654600" cy="1151459"/>
            </a:xfrm>
            <a:prstGeom prst="rect">
              <a:avLst/>
            </a:prstGeom>
            <a:noFill/>
            <a:ln>
              <a:noFill/>
            </a:ln>
          </p:spPr>
          <p:txBody>
            <a:bodyPr spcFirstLastPara="1" wrap="square" lIns="97450" tIns="97450" rIns="97450" bIns="97450" anchor="t" anchorCtr="0">
              <a:spAutoFit/>
            </a:bodyPr>
            <a:lstStyle/>
            <a:p>
              <a:pPr marL="457200" marR="241300" lvl="0" indent="-342900" algn="l" rtl="0">
                <a:lnSpc>
                  <a:spcPct val="115000"/>
                </a:lnSpc>
                <a:spcBef>
                  <a:spcPts val="0"/>
                </a:spcBef>
                <a:spcAft>
                  <a:spcPts val="0"/>
                </a:spcAft>
                <a:buClr>
                  <a:schemeClr val="dk1"/>
                </a:buClr>
                <a:buSzPts val="1804"/>
                <a:buFont typeface="Urbanist Light" panose="020B0A04040200000203"/>
                <a:buChar char="●"/>
              </a:pPr>
              <a:r>
                <a:rPr lang="en-US" sz="1805">
                  <a:solidFill>
                    <a:srgbClr val="DC3545"/>
                  </a:solidFill>
                  <a:latin typeface="Urbanist Light" panose="020B0A04040200000203"/>
                  <a:ea typeface="Urbanist Light" panose="020B0A04040200000203"/>
                  <a:cs typeface="Urbanist Light" panose="020B0A04040200000203"/>
                  <a:sym typeface="Urbanist Light" panose="020B0A04040200000203"/>
                </a:rPr>
                <a:t>No Description_p2 field in excel</a:t>
              </a:r>
              <a:endParaRPr sz="18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3"/>
          <p:cNvSpPr/>
          <p:nvPr/>
        </p:nvSpPr>
        <p:spPr>
          <a:xfrm>
            <a:off x="2489250" y="2584361"/>
            <a:ext cx="9651900" cy="50154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6" name="Google Shape;156;p13"/>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57" name="Google Shape;157;p13"/>
          <p:cNvSpPr txBox="1">
            <a:spLocks noGrp="1"/>
          </p:cNvSpPr>
          <p:nvPr>
            <p:ph type="title"/>
          </p:nvPr>
        </p:nvSpPr>
        <p:spPr>
          <a:xfrm>
            <a:off x="1044250" y="858225"/>
            <a:ext cx="12921300" cy="1208700"/>
          </a:xfrm>
          <a:prstGeom prst="rect">
            <a:avLst/>
          </a:prstGeom>
          <a:noFill/>
          <a:ln>
            <a:noFill/>
          </a:ln>
        </p:spPr>
        <p:txBody>
          <a:bodyPr spcFirstLastPara="1" wrap="square" lIns="91425" tIns="91425" rIns="91425" bIns="91425" anchor="t" anchorCtr="0">
            <a:noAutofit/>
          </a:bodyPr>
          <a:lstStyle/>
          <a:p>
            <a:pPr lvl="0"/>
            <a:r>
              <a:rPr lang="en-US" dirty="0">
                <a:solidFill/>
              </a:rPr>
              <a:t>Where </a:t>
            </a:r>
            <a:r>
              <a:rPr>
                <a:solidFill>
                  <a:srgbClr val="0066CC"/>
                </a:solidFill>
              </a:rPr>
              <a:t>Marcelo Pacheco Alvaro</a:t>
            </a:r>
            <a:r>
              <a:rPr/>
              <a:t> Has Delivered Impact</a:t>
            </a:r>
            <a:r>
              <a:rPr lang="en-US" dirty="0" err="1"/>
              <a:t/>
            </a:r>
            <a:r>
              <a:rPr lang="en-US" dirty="0"/>
              <a:t/>
            </a:r>
            <a:endParaRPr dirty="0"/>
          </a:p>
        </p:txBody>
      </p:sp>
      <p:sp>
        <p:nvSpPr>
          <p:cNvPr id="158" name="Google Shape;158;p13"/>
          <p:cNvSpPr txBox="1"/>
          <p:nvPr/>
        </p:nvSpPr>
        <p:spPr>
          <a:xfrm>
            <a:off x="2999475" y="2863454"/>
            <a:ext cx="4647600" cy="17547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industry_1 field in excel</a:t>
            </a:r>
            <a:endParaRPr sz="24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lvl="0">
              <a:buSzPts val="2000"/>
            </a:pPr>
            <a:r>
              <a:rPr lang="en-US" sz="20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industry_1_impact field in excel</a:t>
            </a:r>
            <a:endParaRPr sz="20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59" name="Google Shape;159;p13"/>
          <p:cNvSpPr txBox="1"/>
          <p:nvPr/>
        </p:nvSpPr>
        <p:spPr>
          <a:xfrm>
            <a:off x="2999400" y="5185704"/>
            <a:ext cx="4541400" cy="1739400"/>
          </a:xfrm>
          <a:prstGeom prst="rect">
            <a:avLst/>
          </a:prstGeom>
          <a:noFill/>
          <a:ln>
            <a:noFill/>
          </a:ln>
        </p:spPr>
        <p:txBody>
          <a:bodyPr spcFirstLastPara="1" wrap="square" lIns="91425" tIns="91425" rIns="91425" bIns="91425" anchor="t" anchorCtr="0">
            <a:spAutoFit/>
          </a:bodyPr>
          <a:lstStyle/>
          <a:p>
            <a:pPr lvl="0">
              <a:buSzPts val="2300"/>
            </a:pPr>
            <a:r>
              <a:rPr lang="en-US" sz="23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industry_3 field in excel</a:t>
            </a:r>
            <a:endParaRPr sz="23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lvl="0">
              <a:buSzPts val="2000"/>
            </a:pPr>
            <a:r>
              <a:rPr lang="en-US" sz="20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industry_3_impact field in excel</a:t>
            </a:r>
            <a:endParaRPr sz="20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60" name="Google Shape;160;p13"/>
          <p:cNvSpPr txBox="1"/>
          <p:nvPr/>
        </p:nvSpPr>
        <p:spPr>
          <a:xfrm>
            <a:off x="7443150" y="2863454"/>
            <a:ext cx="4647600" cy="17547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industry_2 field in excel</a:t>
            </a:r>
            <a:endParaRPr sz="24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lvl="0">
              <a:buSzPts val="2000"/>
            </a:pPr>
            <a:r>
              <a:rPr lang="en-US" sz="20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industry_2_impact field in excel</a:t>
            </a:r>
            <a:endParaRPr sz="20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61" name="Google Shape;161;p13"/>
          <p:cNvSpPr txBox="1"/>
          <p:nvPr/>
        </p:nvSpPr>
        <p:spPr>
          <a:xfrm>
            <a:off x="7540800" y="5185704"/>
            <a:ext cx="4260900" cy="14469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industry_4 field in excel</a:t>
            </a:r>
            <a:endParaRPr sz="24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lvl="0">
              <a:buSzPts val="2000"/>
            </a:pPr>
            <a:r>
              <a:rPr lang="en-US" sz="20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industry_4_impact field in excel</a:t>
            </a:r>
            <a:endParaRPr sz="20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4"/>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68" name="Google Shape;168;p14"/>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Behavioral Assessment Framework</a:t>
            </a:r>
            <a:endParaRPr lang="en-US"/>
          </a:p>
        </p:txBody>
      </p:sp>
      <p:sp>
        <p:nvSpPr>
          <p:cNvPr id="169" name="Google Shape;169;p14"/>
          <p:cNvSpPr txBox="1"/>
          <p:nvPr/>
        </p:nvSpPr>
        <p:spPr>
          <a:xfrm>
            <a:off x="984850" y="1957400"/>
            <a:ext cx="9499800" cy="1010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FutureProofing's Comprehensive Talent Evaluation Model</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170" name="Google Shape;170;p14"/>
          <p:cNvGrpSpPr/>
          <p:nvPr/>
        </p:nvGrpSpPr>
        <p:grpSpPr>
          <a:xfrm>
            <a:off x="984850" y="2550736"/>
            <a:ext cx="12279361" cy="2161440"/>
            <a:chOff x="1518223" y="2327475"/>
            <a:chExt cx="11519100" cy="2027617"/>
          </a:xfrm>
        </p:grpSpPr>
        <p:sp>
          <p:nvSpPr>
            <p:cNvPr id="171" name="Google Shape;171;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Communication &amp; Collaboration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2" name="Google Shape;172;p14"/>
            <p:cNvSpPr txBox="1"/>
            <p:nvPr/>
          </p:nvSpPr>
          <p:spPr>
            <a:xfrm>
              <a:off x="1518223" y="2894092"/>
              <a:ext cx="11519100" cy="14610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Assesses clarity in conveying complex ideas, quality of documentation, comfort with cross-functional dialogue, ability to navigate interpersonal dynamics, and how the candidate builds shared understanding in teams. Looks for active listening, structured updates, and a collaborative tone even in disagreement.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73" name="Google Shape;173;p14"/>
          <p:cNvGrpSpPr/>
          <p:nvPr/>
        </p:nvGrpSpPr>
        <p:grpSpPr>
          <a:xfrm>
            <a:off x="984850" y="4260661"/>
            <a:ext cx="12279361" cy="2655851"/>
            <a:chOff x="1518223" y="2327475"/>
            <a:chExt cx="11519100" cy="2491417"/>
          </a:xfrm>
        </p:grpSpPr>
        <p:sp>
          <p:nvSpPr>
            <p:cNvPr id="174" name="Google Shape;174;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Problem-Solving &amp; Critical Thinking</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5" name="Google Shape;175;p14"/>
            <p:cNvSpPr txBox="1"/>
            <p:nvPr/>
          </p:nvSpPr>
          <p:spPr>
            <a:xfrm>
              <a:off x="1518223" y="2894092"/>
              <a:ext cx="11519100" cy="19248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depth and structure of analytical approaches, debugging rigor, comfort with trade-offs, and how reasoning is articulated under constraints. Prioritizes individuals who approach ambiguity methodically, break down complex issues, and learn from iterative refinement.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76" name="Google Shape;176;p14"/>
          <p:cNvGrpSpPr/>
          <p:nvPr/>
        </p:nvGrpSpPr>
        <p:grpSpPr>
          <a:xfrm>
            <a:off x="984850" y="5994861"/>
            <a:ext cx="12279361" cy="3150262"/>
            <a:chOff x="1518223" y="2327475"/>
            <a:chExt cx="11519100" cy="2955217"/>
          </a:xfrm>
        </p:grpSpPr>
        <p:sp>
          <p:nvSpPr>
            <p:cNvPr id="177" name="Google Shape;177;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Ownership &amp; Accountability</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8" name="Google Shape;178;p14"/>
            <p:cNvSpPr txBox="1"/>
            <p:nvPr/>
          </p:nvSpPr>
          <p:spPr>
            <a:xfrm>
              <a:off x="1518223" y="2894092"/>
              <a:ext cx="11519100" cy="23886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Focuses on personal responsibility for outcomes, proactive flagging of risks, ability to deliver autonomously, and evidence of pride in work quality. Looks for signs of initiative, task follow-through, and a reputation for dependability without over-indexing on control.</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5"/>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85" name="Google Shape;185;p15"/>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Behavioral Assessment Framework</a:t>
            </a:r>
            <a:endParaRPr lang="en-US"/>
          </a:p>
        </p:txBody>
      </p:sp>
      <p:sp>
        <p:nvSpPr>
          <p:cNvPr id="186" name="Google Shape;186;p15"/>
          <p:cNvSpPr txBox="1"/>
          <p:nvPr/>
        </p:nvSpPr>
        <p:spPr>
          <a:xfrm>
            <a:off x="984850" y="1957400"/>
            <a:ext cx="9499800" cy="1010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FutureProofing's Comprehensive Talent Evaluation Model</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187" name="Google Shape;187;p15"/>
          <p:cNvGrpSpPr/>
          <p:nvPr/>
        </p:nvGrpSpPr>
        <p:grpSpPr>
          <a:xfrm>
            <a:off x="984850" y="2550736"/>
            <a:ext cx="12279361" cy="2655851"/>
            <a:chOff x="1518223" y="2327475"/>
            <a:chExt cx="11519100" cy="2491417"/>
          </a:xfrm>
        </p:grpSpPr>
        <p:sp>
          <p:nvSpPr>
            <p:cNvPr id="188" name="Google Shape;188;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Learning Agility &amp; Adaptability</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89" name="Google Shape;189;p15"/>
            <p:cNvSpPr txBox="1"/>
            <p:nvPr/>
          </p:nvSpPr>
          <p:spPr>
            <a:xfrm>
              <a:off x="1518223" y="2894092"/>
              <a:ext cx="11519100" cy="19248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Measures how quickly someone absorbs new tools or domains, how they incorporate feedback, and how effectively they operate in changing contexts. Assesses comfort with experimentation, ability to reframe problems, and intellectual curiosity under shifting priorities.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90" name="Google Shape;190;p15"/>
          <p:cNvGrpSpPr/>
          <p:nvPr/>
        </p:nvGrpSpPr>
        <p:grpSpPr>
          <a:xfrm>
            <a:off x="984850" y="4260661"/>
            <a:ext cx="12279361" cy="3150262"/>
            <a:chOff x="1518223" y="2327475"/>
            <a:chExt cx="11519100" cy="2955217"/>
          </a:xfrm>
        </p:grpSpPr>
        <p:sp>
          <p:nvSpPr>
            <p:cNvPr id="191" name="Google Shape;191;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Resilience &amp; Growth Mindset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92" name="Google Shape;192;p15"/>
            <p:cNvSpPr txBox="1"/>
            <p:nvPr/>
          </p:nvSpPr>
          <p:spPr>
            <a:xfrm>
              <a:off x="1518223" y="2894092"/>
              <a:ext cx="11519100" cy="23886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Assesses response to setbacks, emotional recovery time, and whether the candidate seeks learning in failure. Looks for persistence under pressure, ability to maintain output when challenged, and language that reflects a constructive view of adversity.</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93" name="Google Shape;193;p15"/>
          <p:cNvGrpSpPr/>
          <p:nvPr/>
        </p:nvGrpSpPr>
        <p:grpSpPr>
          <a:xfrm>
            <a:off x="984850" y="5994861"/>
            <a:ext cx="12279361" cy="3342461"/>
            <a:chOff x="1518223" y="2327475"/>
            <a:chExt cx="11519100" cy="3135517"/>
          </a:xfrm>
        </p:grpSpPr>
        <p:sp>
          <p:nvSpPr>
            <p:cNvPr id="194" name="Google Shape;194;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Cultural Fit &amp; Values Alignment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95" name="Google Shape;195;p15"/>
            <p:cNvSpPr txBox="1"/>
            <p:nvPr/>
          </p:nvSpPr>
          <p:spPr>
            <a:xfrm>
              <a:off x="1518223" y="2894092"/>
              <a:ext cx="11519100" cy="25689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compatibility with team values, collaboration style, inclusiveness, and ethical orientation. Focuses on intrinsic motivation, self-awareness, and the behavioral alignment between what the candidate values and how the team operates.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6"/>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02" name="Google Shape;202;p16"/>
          <p:cNvSpPr txBox="1">
            <a:spLocks noGrp="1"/>
          </p:cNvSpPr>
          <p:nvPr>
            <p:ph type="title"/>
          </p:nvPr>
        </p:nvSpPr>
        <p:spPr>
          <a:xfrm>
            <a:off x="854550" y="672678"/>
            <a:ext cx="12921300" cy="1208700"/>
          </a:xfrm>
          <a:prstGeom prst="rect">
            <a:avLst/>
          </a:prstGeom>
          <a:noFill/>
          <a:ln>
            <a:noFill/>
          </a:ln>
        </p:spPr>
        <p:txBody>
          <a:bodyPr spcFirstLastPara="1" wrap="square" lIns="91425" tIns="91425" rIns="91425" bIns="91425" anchor="t" anchorCtr="0">
            <a:noAutofit/>
          </a:bodyPr>
          <a:lstStyle/>
          <a:p>
            <a:pPr lvl="0"/>
            <a:r>
              <a:rPr lang="en-US" sz="3500" dirty="0">
                <a:solidFill/>
              </a:rPr>
              <a:t>Why </a:t>
            </a:r>
            <a:r>
              <a:rPr sz="3500">
                <a:solidFill>
                  <a:srgbClr val="0066CC"/>
                </a:solidFill>
              </a:rPr>
              <a:t>Marcelo Pacheco Alvaro</a:t>
            </a:r>
            <a:r>
              <a:rPr sz="3500"/>
              <a:t> Scores Exceptionally Across Behavioral Dimensions</a:t>
            </a:r>
            <a:r>
              <a:rPr lang="en-US" sz="3500" dirty="0" err="1"/>
              <a:t/>
            </a:r>
            <a:r>
              <a:rPr lang="en-US" sz="3500" dirty="0"/>
              <a:t/>
            </a:r>
            <a:endParaRPr sz="3500" dirty="0"/>
          </a:p>
        </p:txBody>
      </p:sp>
      <p:sp>
        <p:nvSpPr>
          <p:cNvPr id="203" name="Google Shape;203;p16"/>
          <p:cNvSpPr txBox="1"/>
          <p:nvPr/>
        </p:nvSpPr>
        <p:spPr>
          <a:xfrm>
            <a:off x="984850" y="1787743"/>
            <a:ext cx="12921300" cy="16275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Based on AI-powered behavioral assessment and structured interviews</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204" name="Google Shape;204;p16"/>
          <p:cNvGrpSpPr/>
          <p:nvPr/>
        </p:nvGrpSpPr>
        <p:grpSpPr>
          <a:xfrm>
            <a:off x="984850" y="5994861"/>
            <a:ext cx="12279361" cy="3342461"/>
            <a:chOff x="1518223" y="2327475"/>
            <a:chExt cx="11519100" cy="3135517"/>
          </a:xfrm>
        </p:grpSpPr>
        <p:sp>
          <p:nvSpPr>
            <p:cNvPr id="205" name="Google Shape;205;p16"/>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Overall Assessment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06" name="Google Shape;206;p16"/>
            <p:cNvSpPr txBox="1"/>
            <p:nvPr/>
          </p:nvSpPr>
          <p:spPr>
            <a:xfrm>
              <a:off x="1518223" y="2894092"/>
              <a:ext cx="11519100" cy="25689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compatibility with team values, collaboration style, inclusiveness, and ethical orientation. Focuses on intrinsic motivation, self-awareness, and the behavioral alignment between what the candidate values and how the team operates.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07" name="Google Shape;207;p16"/>
          <p:cNvSpPr/>
          <p:nvPr/>
        </p:nvSpPr>
        <p:spPr>
          <a:xfrm>
            <a:off x="1077800" y="2500150"/>
            <a:ext cx="12502200" cy="49803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208" name="Google Shape;208;p16"/>
          <p:cNvPicPr preferRelativeResize="0"/>
          <p:nvPr/>
        </p:nvPicPr>
        <p:blipFill rotWithShape="1">
          <a:blip r:embed="rId1"/>
          <a:srcRect/>
          <a:stretch>
            <a:fillRect/>
          </a:stretch>
        </p:blipFill>
        <p:spPr>
          <a:xfrm>
            <a:off x="1398060" y="2665712"/>
            <a:ext cx="11834279" cy="46491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17"/>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grpSp>
        <p:nvGrpSpPr>
          <p:cNvPr id="215" name="Google Shape;215;p17"/>
          <p:cNvGrpSpPr/>
          <p:nvPr/>
        </p:nvGrpSpPr>
        <p:grpSpPr>
          <a:xfrm>
            <a:off x="984850" y="5926036"/>
            <a:ext cx="12279361" cy="1869626"/>
            <a:chOff x="1518223" y="2262911"/>
            <a:chExt cx="11519100" cy="1753870"/>
          </a:xfrm>
        </p:grpSpPr>
        <p:sp>
          <p:nvSpPr>
            <p:cNvPr id="216" name="Google Shape;216;p17"/>
            <p:cNvSpPr txBox="1"/>
            <p:nvPr/>
          </p:nvSpPr>
          <p:spPr>
            <a:xfrm>
              <a:off x="1518225" y="2262911"/>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Overall Assessment: Exceptional Candidate</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17" name="Google Shape;217;p17"/>
            <p:cNvSpPr txBox="1"/>
            <p:nvPr/>
          </p:nvSpPr>
          <p:spPr>
            <a:xfrm>
              <a:off x="1518223" y="2700377"/>
              <a:ext cx="11519100" cy="1316404"/>
            </a:xfrm>
            <a:prstGeom prst="rect">
              <a:avLst/>
            </a:prstGeom>
            <a:noFill/>
            <a:ln>
              <a:noFill/>
            </a:ln>
          </p:spPr>
          <p:txBody>
            <a:bodyPr spcFirstLastPara="1" wrap="square" lIns="97450" tIns="97450" rIns="97450" bIns="97450" anchor="t" anchorCtr="0">
              <a:spAutoFit/>
            </a:bodyPr>
            <a:lstStyle/>
            <a:p>
              <a:pPr marR="241300" lvl="0">
                <a:lnSpc>
                  <a:spcPct val="115000"/>
                </a:lnSpc>
                <a:buSzPts val="1704"/>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sz="1705">
                  <a:solidFill>
                    <a:srgbClr val="0066CC"/>
                  </a:solidFill>
                  <a:latin typeface="Urbanist Light"/>
                </a:rPr>
                <a:t>Marcelo Pacheco Alvaro</a:t>
              </a:r>
              <a:r>
                <a:rPr sz="1705">
                  <a:latin typeface="Urbanist Light"/>
                </a:rPr>
                <a:t> shows outstanding learning agility, strong structured communication, and a high-ownership mindset uncommon for his experience level. His versatility across backend, DevOps, AI workflows, and ML fundamentals demonstrates rapid skill growth and real adaptability. He operates with clarity, emotional intelligence, and strong execution in fast-moving environments — making him a high-potential AI-native engineer ready to contribute immediately.</a:t>
              </a:r>
              <a:r>
                <a:rPr lang="en-US" sz="1705"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18" name="Google Shape;218;p17"/>
          <p:cNvSpPr/>
          <p:nvPr/>
        </p:nvSpPr>
        <p:spPr>
          <a:xfrm>
            <a:off x="1077800" y="2500150"/>
            <a:ext cx="12502200" cy="33426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219" name="Google Shape;219;p17"/>
          <p:cNvPicPr preferRelativeResize="0"/>
          <p:nvPr/>
        </p:nvPicPr>
        <p:blipFill rotWithShape="1">
          <a:blip r:embed="rId1"/>
          <a:srcRect/>
          <a:stretch>
            <a:fillRect/>
          </a:stretch>
        </p:blipFill>
        <p:spPr>
          <a:xfrm>
            <a:off x="1064100" y="2839900"/>
            <a:ext cx="12502200" cy="2549791"/>
          </a:xfrm>
          <a:prstGeom prst="rect">
            <a:avLst/>
          </a:prstGeom>
          <a:noFill/>
          <a:ln>
            <a:noFill/>
          </a:ln>
        </p:spPr>
      </p:pic>
      <p:sp>
        <p:nvSpPr>
          <p:cNvPr id="220" name="Google Shape;220;p17"/>
          <p:cNvSpPr txBox="1">
            <a:spLocks noGrp="1"/>
          </p:cNvSpPr>
          <p:nvPr>
            <p:ph type="title"/>
          </p:nvPr>
        </p:nvSpPr>
        <p:spPr>
          <a:xfrm>
            <a:off x="854550" y="631210"/>
            <a:ext cx="12921300" cy="1208700"/>
          </a:xfrm>
          <a:prstGeom prst="rect">
            <a:avLst/>
          </a:prstGeom>
          <a:noFill/>
          <a:ln>
            <a:noFill/>
          </a:ln>
        </p:spPr>
        <p:txBody>
          <a:bodyPr spcFirstLastPara="1" wrap="square" lIns="91425" tIns="91425" rIns="91425" bIns="91425" anchor="t" anchorCtr="0">
            <a:noAutofit/>
          </a:bodyPr>
          <a:lstStyle/>
          <a:p>
            <a:pPr lvl="0"/>
            <a:r>
              <a:rPr lang="en-US" sz="3500" dirty="0">
                <a:solidFill/>
              </a:rPr>
              <a:t>Why </a:t>
            </a:r>
            <a:r>
              <a:rPr sz="3500">
                <a:solidFill>
                  <a:srgbClr val="0066CC"/>
                </a:solidFill>
              </a:rPr>
              <a:t>Marcelo Pacheco Alvaro</a:t>
            </a:r>
            <a:r>
              <a:rPr sz="3500"/>
              <a:t> Scores Exceptionally Across Behavioral Dimensions</a:t>
            </a:r>
            <a:r>
              <a:rPr lang="en-US" sz="3500" dirty="0" err="1"/>
              <a:t/>
            </a:r>
            <a:r>
              <a:rPr lang="en-US" sz="3500" dirty="0"/>
              <a:t/>
            </a:r>
            <a:endParaRPr sz="3500" dirty="0"/>
          </a:p>
        </p:txBody>
      </p:sp>
      <p:sp>
        <p:nvSpPr>
          <p:cNvPr id="221" name="Google Shape;221;p17"/>
          <p:cNvSpPr txBox="1"/>
          <p:nvPr/>
        </p:nvSpPr>
        <p:spPr>
          <a:xfrm>
            <a:off x="984850" y="1787743"/>
            <a:ext cx="12921300" cy="16275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Based on AI-powered behavioral assessment and structured interviews</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18"/>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28" name="Google Shape;228;p18"/>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panose="020B0604020202020204"/>
              <a:buNone/>
            </a:pPr>
            <a:r>
              <a:rPr lang="en-US">
                <a:solidFill>
                  <a:schemeClr val="dk1"/>
                </a:solidFill>
              </a:rPr>
              <a:t>HackerRank </a:t>
            </a:r>
            <a:r>
              <a:rPr lang="en-US">
                <a:solidFill>
                  <a:srgbClr val="7068F4"/>
                </a:solidFill>
              </a:rPr>
              <a:t>Full-Stack</a:t>
            </a:r>
            <a:r>
              <a:rPr lang="en-US">
                <a:solidFill>
                  <a:schemeClr val="dk1"/>
                </a:solidFill>
              </a:rPr>
              <a:t> Tech Assessment</a:t>
            </a:r>
            <a:endParaRPr>
              <a:solidFill>
                <a:schemeClr val="dk1"/>
              </a:solidFill>
            </a:endParaRPr>
          </a:p>
          <a:p>
            <a:pPr marL="0" lvl="0" indent="0" algn="l" rtl="0">
              <a:lnSpc>
                <a:spcPct val="100000"/>
              </a:lnSpc>
              <a:spcBef>
                <a:spcPts val="0"/>
              </a:spcBef>
              <a:spcAft>
                <a:spcPts val="0"/>
              </a:spcAft>
              <a:buSzPts val="5200"/>
              <a:buNone/>
            </a:pPr>
          </a:p>
        </p:txBody>
      </p:sp>
      <p:grpSp>
        <p:nvGrpSpPr>
          <p:cNvPr id="229" name="Google Shape;229;p18"/>
          <p:cNvGrpSpPr/>
          <p:nvPr/>
        </p:nvGrpSpPr>
        <p:grpSpPr>
          <a:xfrm>
            <a:off x="1049227" y="2775084"/>
            <a:ext cx="12531943" cy="3246210"/>
            <a:chOff x="1518225" y="2327475"/>
            <a:chExt cx="6654600" cy="3045225"/>
          </a:xfrm>
        </p:grpSpPr>
        <p:sp>
          <p:nvSpPr>
            <p:cNvPr id="230" name="Google Shape;230;p18"/>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Why FutureProofing Uses HackerRank</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31" name="Google Shape;231;p18"/>
            <p:cNvSpPr txBox="1"/>
            <p:nvPr/>
          </p:nvSpPr>
          <p:spPr>
            <a:xfrm>
              <a:off x="1518225" y="2894100"/>
              <a:ext cx="6654600" cy="2478600"/>
            </a:xfrm>
            <a:prstGeom prst="rect">
              <a:avLst/>
            </a:prstGeom>
            <a:noFill/>
            <a:ln>
              <a:noFill/>
            </a:ln>
          </p:spPr>
          <p:txBody>
            <a:bodyPr spcFirstLastPara="1" wrap="square" lIns="97450" tIns="97450" rIns="97450" bIns="97450" anchor="t" anchorCtr="0">
              <a:spAutoFit/>
            </a:bodyPr>
            <a:lstStyle/>
            <a:p>
              <a:pPr marL="457200" marR="0" lvl="0" indent="-298450" algn="l" rtl="0">
                <a:lnSpc>
                  <a:spcPct val="115000"/>
                </a:lnSpc>
                <a:spcBef>
                  <a:spcPts val="120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Validates candidates’ ability to solve real engineering problems under real constraints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Measures practical coding ability across backend, frontend, full-stack, and algorithmic challenges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Provides global benchmarking to compare candidates fairly and consistently</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Ensures engineering hires meet a high technical bar before interviewing with clients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Complements DataCamp by evaluating the software engineering side of AI-native development</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205"/>
                <a:buFont typeface="Arial" panose="020B0604020202020204"/>
                <a:buNone/>
              </a:pP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32" name="Google Shape;232;p18"/>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rPr lang="en-US" sz="23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HackerRank is the global standard for assessing real engineering skills used by Google, Amazon, and Microsoft.</a:t>
            </a: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19"/>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39" name="Google Shape;239;p19"/>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HackerRank </a:t>
            </a:r>
            <a:r>
              <a:rPr lang="en-US">
                <a:solidFill>
                  <a:srgbClr val="7068F4"/>
                </a:solidFill>
              </a:rPr>
              <a:t>Full-Stack</a:t>
            </a:r>
            <a:r>
              <a:rPr lang="en-US"/>
              <a:t> Tech Assessment</a:t>
            </a:r>
            <a:endParaRPr lang="en-US"/>
          </a:p>
        </p:txBody>
      </p:sp>
      <p:grpSp>
        <p:nvGrpSpPr>
          <p:cNvPr id="240" name="Google Shape;240;p19"/>
          <p:cNvGrpSpPr/>
          <p:nvPr/>
        </p:nvGrpSpPr>
        <p:grpSpPr>
          <a:xfrm>
            <a:off x="854550" y="2791681"/>
            <a:ext cx="12531943" cy="2174320"/>
            <a:chOff x="1518225" y="2327475"/>
            <a:chExt cx="6654600" cy="2039700"/>
          </a:xfrm>
        </p:grpSpPr>
        <p:sp>
          <p:nvSpPr>
            <p:cNvPr id="241" name="Google Shape;241;p19"/>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Assessment Overview</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2" name="Google Shape;242;p19"/>
            <p:cNvSpPr txBox="1"/>
            <p:nvPr/>
          </p:nvSpPr>
          <p:spPr>
            <a:xfrm>
              <a:off x="1518225" y="2894100"/>
              <a:ext cx="6654600" cy="13833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The HackerRank Full-Stack Developer Test measures an engineer's ability to build an end-to-end application including front-end, back-end, and database layers. It simulates real production constraints and evaluates both technical execution and engineering judgment.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43" name="Google Shape;243;p19"/>
          <p:cNvGrpSpPr/>
          <p:nvPr/>
        </p:nvGrpSpPr>
        <p:grpSpPr>
          <a:xfrm>
            <a:off x="854550" y="4564822"/>
            <a:ext cx="7093804" cy="3047778"/>
            <a:chOff x="-3583229" y="2426185"/>
            <a:chExt cx="6654600" cy="2859079"/>
          </a:xfrm>
        </p:grpSpPr>
        <p:sp>
          <p:nvSpPr>
            <p:cNvPr id="244" name="Google Shape;244;p19"/>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Back End Development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5" name="Google Shape;245;p19"/>
            <p:cNvSpPr txBox="1"/>
            <p:nvPr/>
          </p:nvSpPr>
          <p:spPr>
            <a:xfrm>
              <a:off x="-3583229" y="2949764"/>
              <a:ext cx="6654600" cy="23355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REST API design and implementation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CRUD functionality and routing logic</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Input validation and error handling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Service and controller architecture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Security and defensive programming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46" name="Google Shape;246;p19"/>
          <p:cNvGrpSpPr/>
          <p:nvPr/>
        </p:nvGrpSpPr>
        <p:grpSpPr>
          <a:xfrm>
            <a:off x="7159520" y="4451222"/>
            <a:ext cx="7093804" cy="3504928"/>
            <a:chOff x="1518225" y="2327475"/>
            <a:chExt cx="6654600" cy="3287925"/>
          </a:xfrm>
        </p:grpSpPr>
        <p:sp>
          <p:nvSpPr>
            <p:cNvPr id="247" name="Google Shape;247;p19"/>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Front End Development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8" name="Google Shape;248;p19"/>
            <p:cNvSpPr txBox="1"/>
            <p:nvPr/>
          </p:nvSpPr>
          <p:spPr>
            <a:xfrm>
              <a:off x="1518225" y="2894100"/>
              <a:ext cx="6654600" cy="27213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Dynamic component rendering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API consumption and state management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Loading and error state handling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Responsive layouts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Clean, modular UI code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49" name="Google Shape;249;p19"/>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rPr lang="en-US" sz="23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HackerRank is the global standard for assessing real engineering skills used by Google, Amazon, and Microsoft. </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20"/>
          <p:cNvSpPr txBox="1">
            <a:spLocks noGrp="1"/>
          </p:cNvSpPr>
          <p:nvPr>
            <p:ph type="sldNum" idx="12"/>
          </p:nvPr>
        </p:nvSpPr>
        <p:spPr>
          <a:xfrm>
            <a:off x="8611604" y="6694723"/>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grpSp>
        <p:nvGrpSpPr>
          <p:cNvPr id="256" name="Google Shape;256;p20"/>
          <p:cNvGrpSpPr/>
          <p:nvPr/>
        </p:nvGrpSpPr>
        <p:grpSpPr>
          <a:xfrm>
            <a:off x="854552" y="4834831"/>
            <a:ext cx="12531943" cy="2489883"/>
            <a:chOff x="1518225" y="2327475"/>
            <a:chExt cx="6654600" cy="2335725"/>
          </a:xfrm>
        </p:grpSpPr>
        <p:sp>
          <p:nvSpPr>
            <p:cNvPr id="257" name="Google Shape;257;p20"/>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What Strong Performance Indicates</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58" name="Google Shape;258;p20"/>
            <p:cNvSpPr txBox="1"/>
            <p:nvPr/>
          </p:nvSpPr>
          <p:spPr>
            <a:xfrm>
              <a:off x="1518225" y="2894100"/>
              <a:ext cx="6654600" cy="17691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Demonstrates ability to deliver independently in real environments without needing senior oversight. Shows confidence creating reliable backend logic, functional UI, and proper data architecture. Proves capability to ship complete features from database to user interface.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59" name="Google Shape;259;p20"/>
          <p:cNvGrpSpPr/>
          <p:nvPr/>
        </p:nvGrpSpPr>
        <p:grpSpPr>
          <a:xfrm>
            <a:off x="938752" y="2196797"/>
            <a:ext cx="7093804" cy="2745887"/>
            <a:chOff x="-3583229" y="2426185"/>
            <a:chExt cx="6654600" cy="2575879"/>
          </a:xfrm>
        </p:grpSpPr>
        <p:sp>
          <p:nvSpPr>
            <p:cNvPr id="260" name="Google Shape;260;p20"/>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Database &amp; Data Modeling</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61" name="Google Shape;261;p20"/>
            <p:cNvSpPr txBox="1"/>
            <p:nvPr/>
          </p:nvSpPr>
          <p:spPr>
            <a:xfrm>
              <a:off x="-3583229" y="2949764"/>
              <a:ext cx="6654600" cy="20523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Schema design and relationships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 integrity and constraints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Efficient query patterns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Migrations and indexes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62" name="Google Shape;262;p20"/>
          <p:cNvGrpSpPr/>
          <p:nvPr/>
        </p:nvGrpSpPr>
        <p:grpSpPr>
          <a:xfrm>
            <a:off x="7134370" y="2196797"/>
            <a:ext cx="7093804" cy="3614300"/>
            <a:chOff x="1518225" y="2327475"/>
            <a:chExt cx="6654600" cy="3390525"/>
          </a:xfrm>
        </p:grpSpPr>
        <p:sp>
          <p:nvSpPr>
            <p:cNvPr id="263" name="Google Shape;263;p20"/>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Code Quality &amp; System Integration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64" name="Google Shape;264;p20"/>
            <p:cNvSpPr txBox="1"/>
            <p:nvPr/>
          </p:nvSpPr>
          <p:spPr>
            <a:xfrm>
              <a:off x="1518225" y="2894100"/>
              <a:ext cx="6654600" cy="28239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Modularity and maintainability</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Clear naming and documentation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End-to-end system implementation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Production-ready patterns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65" name="Google Shape;265;p20"/>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HackerRank </a:t>
            </a:r>
            <a:r>
              <a:rPr lang="en-US">
                <a:solidFill>
                  <a:srgbClr val="7068F4"/>
                </a:solidFill>
              </a:rPr>
              <a:t>Full-Stack</a:t>
            </a:r>
            <a:r>
              <a:rPr lang="en-US"/>
              <a:t> Tech Assessment</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21"/>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72" name="Google Shape;272;p21"/>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panose="020B0604020202020204"/>
              <a:buNone/>
            </a:pPr>
            <a:r>
              <a:rPr lang="en-US">
                <a:solidFill>
                  <a:schemeClr val="dk1"/>
                </a:solidFill>
              </a:rPr>
              <a:t>HackerRank </a:t>
            </a:r>
            <a:r>
              <a:rPr lang="en-US">
                <a:solidFill>
                  <a:srgbClr val="7068F4"/>
                </a:solidFill>
              </a:rPr>
              <a:t>Full-Stack</a:t>
            </a:r>
            <a:r>
              <a:rPr lang="en-US">
                <a:solidFill>
                  <a:schemeClr val="dk1"/>
                </a:solidFill>
              </a:rPr>
              <a:t> Tech Assessment</a:t>
            </a:r>
            <a:endParaRPr>
              <a:solidFill>
                <a:schemeClr val="dk1"/>
              </a:solidFill>
            </a:endParaRPr>
          </a:p>
          <a:p>
            <a:pPr marL="0" lvl="0" indent="0" algn="l" rtl="0">
              <a:lnSpc>
                <a:spcPct val="100000"/>
              </a:lnSpc>
              <a:spcBef>
                <a:spcPts val="0"/>
              </a:spcBef>
              <a:spcAft>
                <a:spcPts val="0"/>
              </a:spcAft>
              <a:buSzPts val="5200"/>
              <a:buNone/>
            </a:pPr>
          </a:p>
        </p:txBody>
      </p:sp>
      <p:sp>
        <p:nvSpPr>
          <p:cNvPr id="273" name="Google Shape;273;p21"/>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rPr lang="en-US" sz="23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HackerRank is the global standard for assessing real engineering skills used by Google, Amazon, and Microsoft. </a:t>
            </a: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grpSp>
        <p:nvGrpSpPr>
          <p:cNvPr id="274" name="Google Shape;274;p21"/>
          <p:cNvGrpSpPr/>
          <p:nvPr/>
        </p:nvGrpSpPr>
        <p:grpSpPr>
          <a:xfrm>
            <a:off x="980827" y="3104659"/>
            <a:ext cx="12531943" cy="3547461"/>
            <a:chOff x="1518225" y="2327475"/>
            <a:chExt cx="6654600" cy="3327825"/>
          </a:xfrm>
        </p:grpSpPr>
        <p:sp>
          <p:nvSpPr>
            <p:cNvPr id="275" name="Google Shape;275;p21"/>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lvl="0">
                <a:buSzPts val="2858"/>
              </a:pPr>
              <a:r>
                <a:rPr lang="en-US" sz="28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 </a:t>
              </a:r>
              <a:r>
                <a:rPr sz="2860" b="0" i="0" u="none">
                  <a:solidFill>
                    <a:srgbClr val="0066CC"/>
                  </a:solidFill>
                  <a:latin typeface="Urbanist Medium"/>
                </a:rPr>
                <a:t>Marcelo Pacheco Alvaro</a:t>
              </a:r>
              <a:r>
                <a:rPr sz="2860" b="0" i="0" u="none">
                  <a:solidFill>
                    <a:srgbClr val="7068F4"/>
                  </a:solidFill>
                  <a:latin typeface="Urbanist Medium"/>
                </a:rPr>
                <a:t> scored in the top decile</a:t>
              </a:r>
              <a:r>
                <a:rPr lang="en-US" sz="286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
              </a:r>
              <a:r>
                <a:rPr lang="en-US" sz="2860" dirty="0" err="1">
                  <a:solidFill>
                    <a:srgbClr val="7068F4"/>
                  </a:solidFill>
                  <a:latin typeface="Urbanist Medium" panose="020B0A04040200000203"/>
                  <a:ea typeface="Urbanist Medium" panose="020B0A04040200000203"/>
                  <a:cs typeface="Urbanist Medium" panose="020B0A04040200000203"/>
                  <a:sym typeface="Urbanist Medium" panose="020B0A04040200000203"/>
                </a:rPr>
                <a:t/>
              </a:r>
              <a:r>
                <a:rPr lang="en-US" sz="286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
              </a:r>
              <a:r>
                <a:rPr lang="en-US" sz="28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
              </a:r>
              <a:endParaRPr sz="28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76" name="Google Shape;276;p21"/>
            <p:cNvSpPr txBox="1"/>
            <p:nvPr/>
          </p:nvSpPr>
          <p:spPr>
            <a:xfrm>
              <a:off x="1518225" y="2894100"/>
              <a:ext cx="6654600" cy="27612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2004"/>
                <a:buFont typeface="Arial" panose="020B0604020202020204"/>
                <a:buNone/>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 perfect score demonstrating fluency in:</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120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Core data structures and algorithms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Optimizing code for performance and scalability</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Building real-world backend and full-stack solutions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Problem-solving under time and constraint conditions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Writing clean, maintainable, production-ready code</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005"/>
                <a:buFont typeface="Arial" panose="020B0604020202020204"/>
                <a:buNone/>
              </a:pP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22"/>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83" name="Google Shape;283;p22"/>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grpSp>
        <p:nvGrpSpPr>
          <p:cNvPr id="284" name="Google Shape;284;p22"/>
          <p:cNvGrpSpPr/>
          <p:nvPr/>
        </p:nvGrpSpPr>
        <p:grpSpPr>
          <a:xfrm>
            <a:off x="1049227" y="2775084"/>
            <a:ext cx="12531943" cy="2856054"/>
            <a:chOff x="1518225" y="2327475"/>
            <a:chExt cx="6654600" cy="2679225"/>
          </a:xfrm>
        </p:grpSpPr>
        <p:sp>
          <p:nvSpPr>
            <p:cNvPr id="285" name="Google Shape;285;p22"/>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Why FutureProofing Uses DataCamp</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86" name="Google Shape;286;p22"/>
            <p:cNvSpPr txBox="1"/>
            <p:nvPr/>
          </p:nvSpPr>
          <p:spPr>
            <a:xfrm>
              <a:off x="1518225" y="2894100"/>
              <a:ext cx="6654600" cy="2112600"/>
            </a:xfrm>
            <a:prstGeom prst="rect">
              <a:avLst/>
            </a:prstGeom>
            <a:noFill/>
            <a:ln>
              <a:noFill/>
            </a:ln>
          </p:spPr>
          <p:txBody>
            <a:bodyPr spcFirstLastPara="1" wrap="square" lIns="97450" tIns="97450" rIns="97450" bIns="97450" anchor="t" anchorCtr="0">
              <a:spAutoFit/>
            </a:bodyPr>
            <a:lstStyle/>
            <a:p>
              <a:pPr marL="457200" marR="0" lvl="0" indent="-330200" algn="l" rtl="0">
                <a:lnSpc>
                  <a:spcPct val="115000"/>
                </a:lnSpc>
                <a:spcBef>
                  <a:spcPts val="120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Ensures candidates have real foundations in AI, ML, and data workflows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Widely recognized and trusted by engineering teams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Allows apples-to-apples comparison between global talent</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Complements HackerRank by evaluating the AI side of engineering</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205"/>
                <a:buFont typeface="Arial" panose="020B0604020202020204"/>
                <a:buNone/>
              </a:pP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87" name="Google Shape;287;p22"/>
          <p:cNvSpPr txBox="1"/>
          <p:nvPr/>
        </p:nvSpPr>
        <p:spPr>
          <a:xfrm>
            <a:off x="980825" y="1838350"/>
            <a:ext cx="12795000" cy="911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258"/>
              <a:buFont typeface="Arial" panose="020B0604020202020204"/>
              <a:buNone/>
            </a:pPr>
            <a:r>
              <a:rPr lang="en-US" sz="22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is a leading global platform for validating data, machine learning, and AI engineering skills..</a:t>
            </a:r>
            <a:endParaRPr sz="24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258"/>
              <a:buFont typeface="Arial" panose="020B0604020202020204"/>
              <a:buNone/>
            </a:pP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23"/>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94" name="Google Shape;294;p23"/>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grpSp>
        <p:nvGrpSpPr>
          <p:cNvPr id="295" name="Google Shape;295;p23"/>
          <p:cNvGrpSpPr/>
          <p:nvPr/>
        </p:nvGrpSpPr>
        <p:grpSpPr>
          <a:xfrm>
            <a:off x="980827" y="2438631"/>
            <a:ext cx="12531943" cy="1365466"/>
            <a:chOff x="1518225" y="2327475"/>
            <a:chExt cx="6654600" cy="1280925"/>
          </a:xfrm>
        </p:grpSpPr>
        <p:sp>
          <p:nvSpPr>
            <p:cNvPr id="296" name="Google Shape;296;p23"/>
            <p:cNvSpPr txBox="1"/>
            <p:nvPr/>
          </p:nvSpPr>
          <p:spPr>
            <a:xfrm>
              <a:off x="1518225" y="2327475"/>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Assessment Overview</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97" name="Google Shape;297;p23"/>
            <p:cNvSpPr txBox="1"/>
            <p:nvPr/>
          </p:nvSpPr>
          <p:spPr>
            <a:xfrm>
              <a:off x="1518225" y="2894100"/>
              <a:ext cx="6654600" cy="7143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855"/>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assessments validate foundational and applied skills in statistics, data manipulation, AI concepts, and machine learning using Python. Each assessment measures practical abilities required in modern AI engineering workflows.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98" name="Google Shape;298;p23"/>
          <p:cNvGrpSpPr/>
          <p:nvPr/>
        </p:nvGrpSpPr>
        <p:grpSpPr>
          <a:xfrm>
            <a:off x="980815" y="4056672"/>
            <a:ext cx="7093804" cy="3156190"/>
            <a:chOff x="-3583229" y="2426185"/>
            <a:chExt cx="6654600" cy="2960779"/>
          </a:xfrm>
        </p:grpSpPr>
        <p:sp>
          <p:nvSpPr>
            <p:cNvPr id="299" name="Google Shape;299;p23"/>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Statistic Fundamentals with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00" name="Google Shape;300;p23"/>
            <p:cNvSpPr txBox="1"/>
            <p:nvPr/>
          </p:nvSpPr>
          <p:spPr>
            <a:xfrm>
              <a:off x="-3583229" y="2949764"/>
              <a:ext cx="6654600" cy="24372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70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Descriptive statistics and distributions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Probability concepts and events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Hypothesis testing foundations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Statistical interpretation</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01" name="Google Shape;301;p23"/>
          <p:cNvGrpSpPr/>
          <p:nvPr/>
        </p:nvGrpSpPr>
        <p:grpSpPr>
          <a:xfrm>
            <a:off x="7176432" y="4056672"/>
            <a:ext cx="7093804" cy="4024603"/>
            <a:chOff x="1518225" y="2327475"/>
            <a:chExt cx="6654600" cy="3775425"/>
          </a:xfrm>
        </p:grpSpPr>
        <p:sp>
          <p:nvSpPr>
            <p:cNvPr id="302" name="Google Shape;302;p23"/>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Data Manipulation with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03" name="Google Shape;303;p23"/>
            <p:cNvSpPr txBox="1"/>
            <p:nvPr/>
          </p:nvSpPr>
          <p:spPr>
            <a:xfrm>
              <a:off x="1518225" y="2894100"/>
              <a:ext cx="6654600" cy="32088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15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Pandas for data operations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 cleaning and transformations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Grouping and aggregating data</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Preparing data for ML workflows</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304" name="Google Shape;304;p23"/>
          <p:cNvSpPr txBox="1"/>
          <p:nvPr/>
        </p:nvSpPr>
        <p:spPr>
          <a:xfrm>
            <a:off x="980825" y="1838350"/>
            <a:ext cx="12795000" cy="347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258"/>
              <a:buFont typeface="Arial" panose="020B0604020202020204"/>
              <a:buNone/>
            </a:pPr>
            <a:r>
              <a:rPr lang="en-US" sz="22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is a leading global platform for validating data, machine learning, and AI engineering skills..</a:t>
            </a:r>
            <a:endParaRPr sz="24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24"/>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11" name="Google Shape;311;p24"/>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grpSp>
        <p:nvGrpSpPr>
          <p:cNvPr id="312" name="Google Shape;312;p24"/>
          <p:cNvGrpSpPr/>
          <p:nvPr/>
        </p:nvGrpSpPr>
        <p:grpSpPr>
          <a:xfrm>
            <a:off x="770352" y="4815056"/>
            <a:ext cx="12531943" cy="3072217"/>
            <a:chOff x="1518225" y="2327475"/>
            <a:chExt cx="6654600" cy="2882004"/>
          </a:xfrm>
        </p:grpSpPr>
        <p:sp>
          <p:nvSpPr>
            <p:cNvPr id="313" name="Google Shape;313;p24"/>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Complete AI &amp; Engineering Foundation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4" name="Google Shape;314;p24"/>
            <p:cNvSpPr txBox="1"/>
            <p:nvPr/>
          </p:nvSpPr>
          <p:spPr>
            <a:xfrm>
              <a:off x="1518225" y="2894100"/>
              <a:ext cx="6654600" cy="2315379"/>
            </a:xfrm>
            <a:prstGeom prst="rect">
              <a:avLst/>
            </a:prstGeom>
            <a:noFill/>
            <a:ln>
              <a:noFill/>
            </a:ln>
          </p:spPr>
          <p:txBody>
            <a:bodyPr spcFirstLastPara="1" wrap="square" lIns="97450" tIns="97450" rIns="97450" bIns="97450" anchor="t" anchorCtr="0">
              <a:spAutoFit/>
            </a:bodyPr>
            <a:lstStyle/>
            <a:p>
              <a:pPr lvl="0">
                <a:lnSpc>
                  <a:spcPct val="115000"/>
                </a:lnSpc>
                <a:buSzPts val="1704"/>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sz="1705">
                  <a:solidFill>
                    <a:srgbClr val="0066CC"/>
                  </a:solidFill>
                  <a:latin typeface="Urbanist Light"/>
                </a:rPr>
                <a:t>Marcelo Pacheco Alvaro</a:t>
              </a:r>
              <a:r>
                <a:rPr sz="1705">
                  <a:latin typeface="Urbanist Light"/>
                </a:rPr>
                <a:t> has successfully completed all four DataCamp skill assessments, demonstrating comprehensive proficiency across statistics, data manipulation, AI fundamentals, and machine learning. This validates his ability to work effectively across the entire data-to-AI pipeline and collaborate seamlessly with data science teams.</a:t>
              </a:r>
              <a:r>
                <a:rPr lang="en-US" sz="1705"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b="0" i="0" u="none" strike="noStrike" cap="none"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15" name="Google Shape;315;p24"/>
          <p:cNvGrpSpPr/>
          <p:nvPr/>
        </p:nvGrpSpPr>
        <p:grpSpPr>
          <a:xfrm>
            <a:off x="854552" y="2177023"/>
            <a:ext cx="7093804" cy="2744928"/>
            <a:chOff x="-3583229" y="2426185"/>
            <a:chExt cx="6654600" cy="2574979"/>
          </a:xfrm>
        </p:grpSpPr>
        <p:sp>
          <p:nvSpPr>
            <p:cNvPr id="316" name="Google Shape;316;p24"/>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AI Fundamentals</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7" name="Google Shape;317;p24"/>
            <p:cNvSpPr txBox="1"/>
            <p:nvPr/>
          </p:nvSpPr>
          <p:spPr>
            <a:xfrm>
              <a:off x="-3583229" y="2949764"/>
              <a:ext cx="6654600" cy="20514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70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AI terminology and concepts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ML vs DL distinctions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Model types and paradigms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Ethical AI considerations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18" name="Google Shape;318;p24"/>
          <p:cNvGrpSpPr/>
          <p:nvPr/>
        </p:nvGrpSpPr>
        <p:grpSpPr>
          <a:xfrm>
            <a:off x="7050170" y="2177022"/>
            <a:ext cx="7093804" cy="4017887"/>
            <a:chOff x="1518225" y="2327475"/>
            <a:chExt cx="6654600" cy="3769125"/>
          </a:xfrm>
        </p:grpSpPr>
        <p:sp>
          <p:nvSpPr>
            <p:cNvPr id="319" name="Google Shape;319;p24"/>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Machine Learning Fundamentals in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20" name="Google Shape;320;p24"/>
            <p:cNvSpPr txBox="1"/>
            <p:nvPr/>
          </p:nvSpPr>
          <p:spPr>
            <a:xfrm>
              <a:off x="1518225" y="2894100"/>
              <a:ext cx="6654600" cy="32025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15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Supervised learning concepts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Model training and evaluation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Performance metrics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Feature engineering with scikit-learn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25"/>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27" name="Google Shape;327;p25"/>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sp>
        <p:nvSpPr>
          <p:cNvPr id="328" name="Google Shape;328;p25"/>
          <p:cNvSpPr txBox="1"/>
          <p:nvPr/>
        </p:nvSpPr>
        <p:spPr>
          <a:xfrm>
            <a:off x="980825" y="1838350"/>
            <a:ext cx="12795000" cy="1132618"/>
          </a:xfrm>
          <a:prstGeom prst="rect">
            <a:avLst/>
          </a:prstGeom>
          <a:noFill/>
          <a:ln>
            <a:noFill/>
          </a:ln>
        </p:spPr>
        <p:txBody>
          <a:bodyPr spcFirstLastPara="1" wrap="square" lIns="0" tIns="0" rIns="0" bIns="0" anchor="t" anchorCtr="0">
            <a:spAutoFit/>
          </a:bodyPr>
          <a:lstStyle/>
          <a:p>
            <a:pPr lvl="0">
              <a:lnSpc>
                <a:spcPct val="115000"/>
              </a:lnSpc>
              <a:spcBef>
                <a:spcPts val="1280"/>
              </a:spcBef>
              <a:spcAft>
                <a:spcPts val="1280"/>
              </a:spcAft>
              <a:buSzPts val="2258"/>
            </a:pPr>
            <a:r>
              <a:rPr lang="en-US" sz="2260" b="1" dirty="0">
                <a:solidFill>
                  <a:schemeClr val="dk1"/>
                </a:solidFill>
                <a:latin typeface="Urbanist" panose="020B0A04040200000203"/>
                <a:ea typeface="Urbanist" panose="020B0A04040200000203"/>
                <a:cs typeface="Urbanist" panose="020B0A04040200000203"/>
                <a:sym typeface="Urbanist" panose="020B0A04040200000203"/>
              </a:rPr>
              <a:t/>
            </a:r>
            <a:r>
              <a:rPr sz="2260" b="1">
                <a:solidFill>
                  <a:srgbClr val="0066CC"/>
                </a:solidFill>
                <a:latin typeface="Urbanist"/>
              </a:rPr>
              <a:t>Marcelo Pacheco Alvaro</a:t>
            </a:r>
            <a:r>
              <a:rPr sz="2260" b="1">
                <a:latin typeface="Urbanist"/>
              </a:rPr>
              <a:t> scored 100% on DataCamp’s AI Assessment. This places him among the highest performers on a platform used globally to validate AI and ML engineering skills.</a:t>
            </a:r>
            <a:r>
              <a:rPr lang="en-US" sz="2260" b="1" dirty="0" err="1">
                <a:solidFill>
                  <a:schemeClr val="dk1"/>
                </a:solidFill>
                <a:latin typeface="Urbanist" panose="020B0A04040200000203"/>
                <a:ea typeface="Urbanist" panose="020B0A04040200000203"/>
                <a:cs typeface="Urbanist" panose="020B0A04040200000203"/>
                <a:sym typeface="Urbanist" panose="020B0A04040200000203"/>
              </a:rPr>
              <a:t/>
            </a:r>
            <a:r>
              <a:rPr lang="en-US" sz="2260" b="1" dirty="0">
                <a:solidFill>
                  <a:schemeClr val="dk1"/>
                </a:solidFill>
                <a:latin typeface="Urbanist" panose="020B0A04040200000203"/>
                <a:ea typeface="Urbanist" panose="020B0A04040200000203"/>
                <a:cs typeface="Urbanist" panose="020B0A04040200000203"/>
                <a:sym typeface="Urbanist" panose="020B0A04040200000203"/>
              </a:rPr>
              <a:t/>
            </a:r>
            <a:r>
              <a:rPr lang="en-US" sz="2260" b="1"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
            </a:r>
            <a:r>
              <a:rPr lang="en-US" sz="2260" b="1" i="0" u="none" strike="noStrike" cap="none" dirty="0" err="1">
                <a:solidFill>
                  <a:schemeClr val="dk1"/>
                </a:solidFill>
                <a:latin typeface="Urbanist" panose="020B0A04040200000203"/>
                <a:ea typeface="Urbanist" panose="020B0A04040200000203"/>
                <a:cs typeface="Urbanist" panose="020B0A04040200000203"/>
                <a:sym typeface="Urbanist" panose="020B0A04040200000203"/>
              </a:rPr>
              <a:t/>
            </a:r>
            <a:r>
              <a:rPr lang="en-US" sz="2260" b="1"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
            </a:r>
            <a:r>
              <a:rPr lang="en-US" sz="226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226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329" name="Google Shape;329;p25"/>
          <p:cNvGrpSpPr/>
          <p:nvPr/>
        </p:nvGrpSpPr>
        <p:grpSpPr>
          <a:xfrm>
            <a:off x="980827" y="3104659"/>
            <a:ext cx="12531943" cy="3547461"/>
            <a:chOff x="1518225" y="2327475"/>
            <a:chExt cx="6654600" cy="3327825"/>
          </a:xfrm>
        </p:grpSpPr>
        <p:sp>
          <p:nvSpPr>
            <p:cNvPr id="330" name="Google Shape;330;p25"/>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in AI Fundamentals</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31" name="Google Shape;331;p25"/>
            <p:cNvSpPr txBox="1"/>
            <p:nvPr/>
          </p:nvSpPr>
          <p:spPr>
            <a:xfrm>
              <a:off x="1518225" y="2894100"/>
              <a:ext cx="6654600" cy="27612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2004"/>
                <a:buFont typeface="Arial" panose="020B0604020202020204"/>
                <a:buNone/>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 perfect score demonstrating fluency in:</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120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Core AI concepts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ML pipelines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Responsible AI</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Practical use cases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AI-assisted development workflows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005"/>
                <a:buFont typeface="Arial" panose="020B0604020202020204"/>
                <a:buNone/>
              </a:pP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26"/>
          <p:cNvSpPr/>
          <p:nvPr/>
        </p:nvSpPr>
        <p:spPr>
          <a:xfrm>
            <a:off x="3953850" y="2777550"/>
            <a:ext cx="6722700" cy="41325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8" name="Google Shape;338;p26"/>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39" name="Google Shape;339;p26"/>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Executive Summary</a:t>
            </a:r>
            <a:endParaRPr lang="en-US"/>
          </a:p>
        </p:txBody>
      </p:sp>
      <p:sp>
        <p:nvSpPr>
          <p:cNvPr id="340" name="Google Shape;340;p26"/>
          <p:cNvSpPr txBox="1"/>
          <p:nvPr/>
        </p:nvSpPr>
        <p:spPr>
          <a:xfrm>
            <a:off x="984850" y="1957400"/>
            <a:ext cx="10682400" cy="732508"/>
          </a:xfrm>
          <a:prstGeom prst="rect">
            <a:avLst/>
          </a:prstGeom>
          <a:noFill/>
          <a:ln>
            <a:noFill/>
          </a:ln>
        </p:spPr>
        <p:txBody>
          <a:bodyPr spcFirstLastPara="1" wrap="square" lIns="0" tIns="0" rIns="0" bIns="0" anchor="t" anchorCtr="0">
            <a:spAutoFit/>
          </a:bodyPr>
          <a:lstStyle/>
          <a:p>
            <a:pPr lvl="0">
              <a:lnSpc>
                <a:spcPct val="115000"/>
              </a:lnSpc>
              <a:spcBef>
                <a:spcPts val="1200"/>
              </a:spcBef>
              <a:spcAft>
                <a:spcPts val="1200"/>
              </a:spcAft>
              <a:buSzPts val="2400"/>
            </a:pPr>
            <a:r>
              <a:rPr lang="en-US"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Why We Recommend </a:t>
            </a:r>
            <a:r>
              <a:rPr sz="2400" b="0" i="0" u="none">
                <a:solidFill>
                  <a:srgbClr val="0066CC"/>
                </a:solidFill>
                <a:latin typeface="Urbanist Light"/>
              </a:rPr>
              <a:t>Marcelo Pacheco Alvaro</a:t>
            </a:r>
            <a:r>
              <a:rPr sz="2400" b="0" i="0" u="none">
                <a:latin typeface="Urbanist Light"/>
              </a:rPr>
              <a:t> as a Top 0.01% AI-Native Engineer</a:t>
            </a:r>
            <a:r>
              <a:rPr lang="en-US" sz="24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341" name="Google Shape;341;p26"/>
          <p:cNvSpPr txBox="1"/>
          <p:nvPr/>
        </p:nvSpPr>
        <p:spPr>
          <a:xfrm>
            <a:off x="4232350" y="3024561"/>
            <a:ext cx="3252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Technical Excellence</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42" name="Google Shape;342;p26"/>
          <p:cNvSpPr txBox="1"/>
          <p:nvPr/>
        </p:nvSpPr>
        <p:spPr>
          <a:xfrm>
            <a:off x="4110600" y="3614511"/>
            <a:ext cx="6409200" cy="2265600"/>
          </a:xfrm>
          <a:prstGeom prst="rect">
            <a:avLst/>
          </a:prstGeom>
          <a:noFill/>
          <a:ln>
            <a:noFill/>
          </a:ln>
        </p:spPr>
        <p:txBody>
          <a:bodyPr spcFirstLastPara="1" wrap="square" lIns="91425" tIns="91425" rIns="91425" bIns="91425" anchor="t" anchorCtr="0">
            <a:spAutoFit/>
          </a:bodyPr>
          <a:lstStyle/>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Built production backend systems used by real users</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Designed scalable infrastructure</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Implemented AI-powered backend pipelines</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Strong ownership and execution ability</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100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Excellent technical communication</a:t>
            </a:r>
            <a:endParaRPr sz="17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27"/>
          <p:cNvSpPr/>
          <p:nvPr/>
        </p:nvSpPr>
        <p:spPr>
          <a:xfrm>
            <a:off x="9062425" y="2316375"/>
            <a:ext cx="3880800" cy="39249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9" name="Google Shape;349;p27"/>
          <p:cNvSpPr/>
          <p:nvPr/>
        </p:nvSpPr>
        <p:spPr>
          <a:xfrm>
            <a:off x="9376525" y="3003675"/>
            <a:ext cx="3252600" cy="2550300"/>
          </a:xfrm>
          <a:prstGeom prst="roundRect">
            <a:avLst>
              <a:gd name="adj" fmla="val 4810"/>
            </a:avLst>
          </a:prstGeom>
          <a:solidFill>
            <a:srgbClr val="F3F3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0" name="Google Shape;350;p27"/>
          <p:cNvSpPr/>
          <p:nvPr/>
        </p:nvSpPr>
        <p:spPr>
          <a:xfrm>
            <a:off x="1687175" y="2316375"/>
            <a:ext cx="6722700" cy="39249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1" name="Google Shape;351;p27"/>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52" name="Google Shape;352;p27"/>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Why We Recommend Hiring in Pairs</a:t>
            </a:r>
            <a:endParaRPr lang="en-US"/>
          </a:p>
        </p:txBody>
      </p:sp>
      <p:sp>
        <p:nvSpPr>
          <p:cNvPr id="353" name="Google Shape;353;p27"/>
          <p:cNvSpPr txBox="1"/>
          <p:nvPr/>
        </p:nvSpPr>
        <p:spPr>
          <a:xfrm>
            <a:off x="1919775" y="2550650"/>
            <a:ext cx="49461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Here’s our recommendation:</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54" name="Google Shape;354;p27"/>
          <p:cNvSpPr txBox="1"/>
          <p:nvPr/>
        </p:nvSpPr>
        <p:spPr>
          <a:xfrm>
            <a:off x="2000825" y="3429839"/>
            <a:ext cx="6548700" cy="2016300"/>
          </a:xfrm>
          <a:prstGeom prst="rect">
            <a:avLst/>
          </a:prstGeom>
          <a:noFill/>
          <a:ln>
            <a:noFill/>
          </a:ln>
        </p:spPr>
        <p:txBody>
          <a:bodyPr spcFirstLastPara="1" wrap="square" lIns="91425" tIns="91425" rIns="91425" bIns="91425" anchor="t" anchorCtr="0">
            <a:spAutoFit/>
          </a:bodyPr>
          <a:lstStyle/>
          <a:p>
            <a:pPr marL="457200" marR="0" lvl="0" indent="-355600" algn="l" rtl="0">
              <a:lnSpc>
                <a:spcPct val="115000"/>
              </a:lnSpc>
              <a:spcBef>
                <a:spcPts val="1200"/>
              </a:spcBef>
              <a:spcAft>
                <a:spcPts val="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Ensures continuity if one engineer is unavailable</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Faster onboarding &amp; higher output</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Shared context reduces risk for clients</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100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Industry standard used by top tech agencies</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55" name="Google Shape;355;p27"/>
          <p:cNvSpPr txBox="1"/>
          <p:nvPr/>
        </p:nvSpPr>
        <p:spPr>
          <a:xfrm>
            <a:off x="9622100" y="3411050"/>
            <a:ext cx="3006900" cy="2090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rgbClr val="000000"/>
              </a:buClr>
              <a:buSzPts val="1800"/>
              <a:buFont typeface="Arial" panose="020B0604020202020204"/>
              <a:buNone/>
            </a:pPr>
            <a:r>
              <a:rPr lang="en-US" sz="1800" b="1" i="0" u="none" strike="noStrike" cap="none">
                <a:solidFill>
                  <a:schemeClr val="dk1"/>
                </a:solidFill>
                <a:latin typeface="Urbanist" panose="020B0A04040200000203"/>
                <a:ea typeface="Urbanist" panose="020B0A04040200000203"/>
                <a:cs typeface="Urbanist" panose="020B0A04040200000203"/>
                <a:sym typeface="Urbanist" panose="020B0A04040200000203"/>
              </a:rPr>
              <a:t>Ready to Move Forward?</a:t>
            </a:r>
            <a:endParaRPr sz="180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a:p>
            <a:pPr marL="0" marR="292100" lvl="0" indent="0" algn="l" rtl="0">
              <a:lnSpc>
                <a:spcPct val="115000"/>
              </a:lnSpc>
              <a:spcBef>
                <a:spcPts val="3000"/>
              </a:spcBef>
              <a:spcAft>
                <a:spcPts val="0"/>
              </a:spcAft>
              <a:buClr>
                <a:schemeClr val="dk1"/>
              </a:buClr>
              <a:buSzPts val="1100"/>
              <a:buFont typeface="Arial" panose="020B0604020202020204"/>
              <a:buNone/>
            </a:pPr>
            <a:r>
              <a:rPr lang="en-US"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Contact FutureProofing.Dev to schedule </a:t>
            </a: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the </a:t>
            </a:r>
            <a:r>
              <a:rPr lang="en-US"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final interview</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1800"/>
              <a:buFont typeface="Arial" panose="020B0604020202020204"/>
              <a:buNone/>
            </a:pP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EEFF5"/>
        </a:solidFill>
        <a:effectLst/>
      </p:bgPr>
    </p:bg>
    <p:spTree>
      <p:nvGrpSpPr>
        <p:cNvPr id="1" name="Shape 360"/>
        <p:cNvGrpSpPr/>
        <p:nvPr/>
      </p:nvGrpSpPr>
      <p:grpSpPr>
        <a:xfrm>
          <a:off x="0" y="0"/>
          <a:ext cx="0" cy="0"/>
          <a:chOff x="0" y="0"/>
          <a:chExt cx="0" cy="0"/>
        </a:xfrm>
      </p:grpSpPr>
      <p:sp>
        <p:nvSpPr>
          <p:cNvPr id="361" name="Google Shape;361;p28"/>
          <p:cNvSpPr txBox="1"/>
          <p:nvPr/>
        </p:nvSpPr>
        <p:spPr>
          <a:xfrm>
            <a:off x="1354250" y="1725600"/>
            <a:ext cx="9479700" cy="215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6400"/>
              <a:buFont typeface="Arial" panose="020B0604020202020204"/>
              <a:buNone/>
            </a:pPr>
            <a:r>
              <a:rPr lang="en-US" sz="6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Start Hiring Elite</a:t>
            </a:r>
            <a:endParaRPr sz="6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6400"/>
              <a:buFont typeface="Arial" panose="020B0604020202020204"/>
              <a:buNone/>
            </a:pPr>
            <a:r>
              <a:rPr lang="en-US" sz="6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AI Talent </a:t>
            </a:r>
            <a:r>
              <a:rPr lang="en-US" sz="6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Today.</a:t>
            </a:r>
            <a:endParaRPr sz="6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62" name="Google Shape;362;p28"/>
          <p:cNvSpPr txBox="1"/>
          <p:nvPr/>
        </p:nvSpPr>
        <p:spPr>
          <a:xfrm>
            <a:off x="1354250" y="6248975"/>
            <a:ext cx="9479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63" name="Google Shape;363;p28"/>
          <p:cNvSpPr txBox="1"/>
          <p:nvPr/>
        </p:nvSpPr>
        <p:spPr>
          <a:xfrm>
            <a:off x="10365350" y="6141275"/>
            <a:ext cx="2600400" cy="769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Contact Us</a:t>
            </a: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Urbanist Light" panose="020B0A04040200000203"/>
                <a:ea typeface="Urbanist Light" panose="020B0A04040200000203"/>
                <a:cs typeface="Urbanist Light" panose="020B0A04040200000203"/>
                <a:sym typeface="Urbanist Light" panose="020B0A04040200000203"/>
              </a:rPr>
              <a:t>info@futureproofing.dev</a:t>
            </a:r>
            <a:endParaRPr sz="1800" b="0" i="0" u="none" strike="noStrike" cap="none">
              <a:solidFill>
                <a:srgbClr val="000000"/>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364" name="Google Shape;364;p28"/>
          <p:cNvSpPr/>
          <p:nvPr/>
        </p:nvSpPr>
        <p:spPr>
          <a:xfrm>
            <a:off x="1469975" y="4255700"/>
            <a:ext cx="2245500" cy="4233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7068F4"/>
                </a:solidFill>
                <a:latin typeface="Urbanist Light" panose="020B0A04040200000203"/>
                <a:ea typeface="Urbanist Light" panose="020B0A04040200000203"/>
                <a:cs typeface="Urbanist Light" panose="020B0A04040200000203"/>
                <a:sym typeface="Urbanist Light" panose="020B0A04040200000203"/>
              </a:rPr>
              <a:t>Start hiring</a:t>
            </a:r>
            <a:endParaRPr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65" name="Google Shape;365;p28"/>
          <p:cNvSpPr/>
          <p:nvPr/>
        </p:nvSpPr>
        <p:spPr>
          <a:xfrm>
            <a:off x="3333500" y="4334300"/>
            <a:ext cx="266100" cy="266100"/>
          </a:xfrm>
          <a:prstGeom prst="ellipse">
            <a:avLst/>
          </a:prstGeom>
          <a:solidFill>
            <a:srgbClr val="EEEFF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66" name="Google Shape;366;p28"/>
          <p:cNvSpPr/>
          <p:nvPr/>
        </p:nvSpPr>
        <p:spPr>
          <a:xfrm>
            <a:off x="3262206" y="4334300"/>
            <a:ext cx="266100" cy="266100"/>
          </a:xfrm>
          <a:prstGeom prst="ellipse">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10933</Words>
  <Application>WPS 演示</Application>
  <PresentationFormat>Personalizado</PresentationFormat>
  <Paragraphs>648</Paragraphs>
  <Slides>24</Slides>
  <Notes>24</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24</vt:i4>
      </vt:variant>
    </vt:vector>
  </HeadingPairs>
  <TitlesOfParts>
    <vt:vector size="35" baseType="lpstr">
      <vt:lpstr>Arial</vt:lpstr>
      <vt:lpstr>SimSun</vt:lpstr>
      <vt:lpstr>Wingdings</vt:lpstr>
      <vt:lpstr>Arial</vt:lpstr>
      <vt:lpstr>Urbanist Light</vt:lpstr>
      <vt:lpstr>Urbanist Medium</vt:lpstr>
      <vt:lpstr>Urbanist</vt:lpstr>
      <vt:lpstr>Calibri</vt:lpstr>
      <vt:lpstr>Microsoft YaHei</vt:lpstr>
      <vt:lpstr>Arial Unicode MS</vt:lpstr>
      <vt:lpstr>Office Theme</vt:lpstr>
      <vt:lpstr>PowerPoint 演示文稿</vt:lpstr>
      <vt:lpstr>We Review Hundreds of Engineers - Only ~1% Make It This Far. [candidate_name] Is One of Them.</vt:lpstr>
      <vt:lpstr>Why [candidate_name] Beats 99.99% of Applicants</vt:lpstr>
      <vt:lpstr>[candidate_name] Is a Back-End AI-Native Engineer With Production-Level Experience Across Modern Systems</vt:lpstr>
      <vt:lpstr>Deep AI Project Experience</vt:lpstr>
      <vt:lpstr>Deep AI Project Experience</vt:lpstr>
      <vt:lpstr>[candidate_name]’s Track Record of High-Impact Engineering Work</vt:lpstr>
      <vt:lpstr>[candidate_name]’s Track Record of High-Impact Engineering Work</vt:lpstr>
      <vt:lpstr>Where [candidate_name] Has Delivered Impact</vt:lpstr>
      <vt:lpstr>Behavioral Assessment Framework</vt:lpstr>
      <vt:lpstr>Behavioral Assessment Framework</vt:lpstr>
      <vt:lpstr>Why [candidate_name] Scores Exceptionally Across Behavioral Dimensions</vt:lpstr>
      <vt:lpstr>Why [candidate_name] Scores Exceptionally Across Behavioral Dimensions</vt:lpstr>
      <vt:lpstr>HackerRank Full-Stack Tech Assessment</vt:lpstr>
      <vt:lpstr>HackerRank Full-Stack Tech Assessment</vt:lpstr>
      <vt:lpstr>HackerRank Full-Stack Tech Assessment</vt:lpstr>
      <vt:lpstr>HackerRank Full-Stack Tech Assessment</vt:lpstr>
      <vt:lpstr>DataCamp Skill Assessments</vt:lpstr>
      <vt:lpstr>DataCamp Skill Assessments</vt:lpstr>
      <vt:lpstr>DataCamp Skill Assessments</vt:lpstr>
      <vt:lpstr>DataCamp Skill Assessments</vt:lpstr>
      <vt:lpstr>Executive Summary</vt:lpstr>
      <vt:lpstr>Why We Recommend Hiring in Pairs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Administrator</cp:lastModifiedBy>
  <cp:revision>7</cp:revision>
  <dcterms:created xsi:type="dcterms:W3CDTF">2026-02-19T13:33:56Z</dcterms:created>
  <dcterms:modified xsi:type="dcterms:W3CDTF">2026-02-19T15:09:08Z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2052-11.1.0.9021</vt:lpwstr>
  </property>
</Properties>
</file>